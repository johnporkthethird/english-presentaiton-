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HR Manager, I believe one simple thing: if our team isn't happy, our customers won't be either. So we have three clear rules. First, same job, same pay. Men and women who do the same job earn exactly the same, and we hire people for their skills, never because of their gender or race. Second, everyone has a voice. Once a month, anyone in the company, from the newest worker to the CEO, can pitch an idea to improve NutriPill. That's how we keep innovation alive. And third, nobody is priced out. Our social responsibility includes our customers too, so NutriPill costs just 9.99 a month, and students get 20% off with their student card. That way, anyone can try it and, as our slogan says, lock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IGH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english-presentaiton-/38e25695-43d6-5158-a0ef-d97df09ff7da/scratchpad/build/assets/logo-dark.png">    </p:cNvPr>
          <p:cNvPicPr>
            <a:picLocks noChangeAspect="1"/>
          </p:cNvPicPr>
          <p:nvPr/>
        </p:nvPicPr>
        <p:blipFill>
          <a:blip r:embed="rId1"/>
          <a:stretch>
            <a:fillRect/>
          </a:stretch>
        </p:blipFill>
        <p:spPr>
          <a:xfrm>
            <a:off x="10378440" y="384048"/>
            <a:ext cx="1316736" cy="365760"/>
          </a:xfrm>
          <a:prstGeom prst="rect">
            <a:avLst/>
          </a:prstGeom>
        </p:spPr>
      </p:pic>
      <p:sp>
        <p:nvSpPr>
          <p:cNvPr id="3" name="Text 0"/>
          <p:cNvSpPr/>
          <p:nvPr>
            <p:ph idx="101" type="body" hasCustomPrompt="1"/>
          </p:nvPr>
        </p:nvSpPr>
        <p:spPr>
          <a:xfrm>
            <a:off x="548640" y="411480"/>
            <a:ext cx="7315200" cy="320040"/>
          </a:xfrm>
          <a:prstGeom prst="rect">
            <a:avLst/>
          </a:prstGeom>
          <a:noFill/>
          <a:ln/>
        </p:spPr>
        <p:txBody>
          <a:bodyPr wrap="square" rtlCol="0"/>
          <a:lstStyle>
            <a:lvl1pPr indent="0" marL="0">
              <a:buNone/>
              <a:defRPr lang="en-US" sz="1300" b="1" spc="400" kern="0" dirty="0">
                <a:solidFill>
                  <a:schemeClr val="accent1"/>
                </a:solidFill>
              </a:defRPr>
            </a:lvl1pPr>
          </a:lstStyle>
          <a:p>
            <a:pPr indent="0" marL="0">
              <a:buNone/>
            </a:pPr>
            <a:endParaRPr lang="en-US" sz="1300" dirty="0"/>
          </a:p>
        </p:txBody>
      </p:sp>
      <p:sp>
        <p:nvSpPr>
          <p:cNvPr id="4" name="Text 0"/>
          <p:cNvSpPr/>
          <p:nvPr>
            <p:ph idx="102" type="title" hasCustomPrompt="1"/>
          </p:nvPr>
        </p:nvSpPr>
        <p:spPr>
          <a:xfrm>
            <a:off x="548640" y="777240"/>
            <a:ext cx="9509760" cy="868680"/>
          </a:xfrm>
          <a:prstGeom prst="rect">
            <a:avLst/>
          </a:prstGeom>
          <a:noFill/>
          <a:ln/>
        </p:spPr>
        <p:txBody>
          <a:bodyPr wrap="square" rtlCol="0"/>
          <a:lstStyle>
            <a:lvl1pPr algn="l" indent="0" marL="0">
              <a:buNone/>
              <a:defRPr lang="en-US" sz="3600" b="1" dirty="0">
                <a:solidFill>
                  <a:schemeClr val="tx1"/>
                </a:solidFill>
                <a:latin typeface="Arial Black" pitchFamily="34" charset="0"/>
                <a:ea typeface="Arial Black" pitchFamily="34" charset="-122"/>
                <a:cs typeface="Arial Black"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english-presentaiton-/38e25695-43d6-5158-a0ef-d97df09ff7da/scratchpad/build/assets/logo-light.png">    </p:cNvPr>
          <p:cNvPicPr>
            <a:picLocks noChangeAspect="1"/>
          </p:cNvPicPr>
          <p:nvPr/>
        </p:nvPicPr>
        <p:blipFill>
          <a:blip r:embed="rId1"/>
          <a:stretch>
            <a:fillRect/>
          </a:stretch>
        </p:blipFill>
        <p:spPr>
          <a:xfrm>
            <a:off x="10378440" y="384048"/>
            <a:ext cx="1316736" cy="365760"/>
          </a:xfrm>
          <a:prstGeom prst="rect">
            <a:avLst/>
          </a:prstGeom>
        </p:spPr>
      </p:pic>
      <p:sp>
        <p:nvSpPr>
          <p:cNvPr id="3" name="Text 0"/>
          <p:cNvSpPr/>
          <p:nvPr>
            <p:ph idx="101" type="body" hasCustomPrompt="1"/>
          </p:nvPr>
        </p:nvSpPr>
        <p:spPr>
          <a:xfrm>
            <a:off x="548640" y="411480"/>
            <a:ext cx="7315200" cy="320040"/>
          </a:xfrm>
          <a:prstGeom prst="rect">
            <a:avLst/>
          </a:prstGeom>
          <a:noFill/>
          <a:ln/>
        </p:spPr>
        <p:txBody>
          <a:bodyPr wrap="square" rtlCol="0"/>
          <a:lstStyle>
            <a:lvl1pPr indent="0" marL="0">
              <a:buNone/>
              <a:defRPr lang="en-US" sz="1300" b="1" spc="400" kern="0" dirty="0">
                <a:solidFill>
                  <a:schemeClr val="accent1"/>
                </a:solidFill>
              </a:defRPr>
            </a:lvl1pPr>
          </a:lstStyle>
          <a:p>
            <a:pPr indent="0" marL="0">
              <a:buNone/>
            </a:pPr>
            <a:endParaRPr lang="en-US" sz="1300" dirty="0"/>
          </a:p>
        </p:txBody>
      </p:sp>
      <p:sp>
        <p:nvSpPr>
          <p:cNvPr id="4" name="Text 0"/>
          <p:cNvSpPr/>
          <p:nvPr>
            <p:ph idx="102" type="title" hasCustomPrompt="1"/>
          </p:nvPr>
        </p:nvSpPr>
        <p:spPr>
          <a:xfrm>
            <a:off x="548640" y="777240"/>
            <a:ext cx="9509760" cy="868680"/>
          </a:xfrm>
          <a:prstGeom prst="rect">
            <a:avLst/>
          </a:prstGeom>
          <a:noFill/>
          <a:ln/>
        </p:spPr>
        <p:txBody>
          <a:bodyPr wrap="square" rtlCol="0"/>
          <a:lstStyle>
            <a:lvl1pPr algn="l" indent="0" marL="0">
              <a:buNone/>
              <a:defRPr lang="en-US" sz="3600" b="1" dirty="0">
                <a:solidFill>
                  <a:schemeClr val="bg1"/>
                </a:solidFill>
                <a:latin typeface="Arial Black" pitchFamily="34" charset="0"/>
                <a:ea typeface="Arial Black" pitchFamily="34" charset="-122"/>
                <a:cs typeface="Arial Black"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4.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548640" y="777240"/>
            <a:ext cx="9509760" cy="868680"/>
          </a:xfrm>
          <a:prstGeom prst="rect">
            <a:avLst/>
          </a:prstGeom>
          <a:noFill/>
          <a:ln/>
        </p:spPr>
        <p:txBody>
          <a:bodyPr wrap="square" lIns="0" tIns="0" rIns="0" bIns="0" rtlCol="0" anchor="ctr"/>
          <a:lstStyle/>
          <a:p>
            <a:pPr algn="l" indent="0" marL="0">
              <a:buNone/>
            </a:pPr>
            <a:r>
              <a:rPr lang="en-US" sz="3600" b="1" dirty="0">
                <a:solidFill>
                  <a:schemeClr val="bg1"/>
                </a:solidFill>
                <a:latin typeface="Arial Black" pitchFamily="34" charset="0"/>
                <a:ea typeface="Arial Black" pitchFamily="34" charset="-122"/>
                <a:cs typeface="Arial Black" pitchFamily="34" charset="-120"/>
              </a:rPr>
              <a:t>Workplace Ethics &amp; Social Responsibility</a:t>
            </a:r>
            <a:endParaRPr lang="en-US" sz="3600" dirty="0"/>
          </a:p>
        </p:txBody>
      </p:sp>
      <p:pic>
        <p:nvPicPr>
          <p:cNvPr id="3" name="a1_hero" descr="NutriPill capsule inside glowing rings">    </p:cNvPr>
          <p:cNvPicPr>
            <a:picLocks noChangeAspect="1"/>
          </p:cNvPicPr>
          <p:nvPr/>
        </p:nvPicPr>
        <p:blipFill>
          <a:blip r:embed="rId1"/>
          <a:stretch>
            <a:fillRect/>
          </a:stretch>
        </p:blipFill>
        <p:spPr>
          <a:xfrm>
            <a:off x="4221785" y="2011680"/>
            <a:ext cx="3749040" cy="3749040"/>
          </a:xfrm>
          <a:prstGeom prst="rect">
            <a:avLst/>
          </a:prstGeom>
        </p:spPr>
      </p:pic>
      <p:sp>
        <p:nvSpPr>
          <p:cNvPr id="4" name="a2_glass"/>
          <p:cNvSpPr/>
          <p:nvPr/>
        </p:nvSpPr>
        <p:spPr>
          <a:xfrm>
            <a:off x="548640" y="2011680"/>
            <a:ext cx="3520440" cy="1783080"/>
          </a:xfrm>
          <a:prstGeom prst="roundRect">
            <a:avLst>
              <a:gd name="adj" fmla="val 10256"/>
            </a:avLst>
          </a:prstGeom>
          <a:solidFill>
            <a:srgbClr val="FFFFFF">
              <a:alpha val="9000"/>
            </a:srgbClr>
          </a:solidFill>
          <a:ln w="12700">
            <a:solidFill>
              <a:srgbClr val="FFFFFF">
                <a:alpha val="22000"/>
              </a:srgbClr>
            </a:solidFill>
            <a:prstDash val="solid"/>
          </a:ln>
        </p:spPr>
      </p:sp>
      <p:sp>
        <p:nvSpPr>
          <p:cNvPr id="5" name="a2_disc"/>
          <p:cNvSpPr/>
          <p:nvPr/>
        </p:nvSpPr>
        <p:spPr>
          <a:xfrm>
            <a:off x="822960" y="2286000"/>
            <a:ext cx="603504" cy="603504"/>
          </a:xfrm>
          <a:prstGeom prst="ellipse">
            <a:avLst/>
          </a:prstGeom>
          <a:solidFill>
            <a:srgbClr val="14C9A1"/>
          </a:solidFill>
          <a:ln/>
          <a:effectLst>
            <a:outerShdw sx="100000" sy="100000" kx="0" ky="0" algn="bl" rotWithShape="0" blurRad="203200" dist="50800" dir="5400000">
              <a:srgbClr val="14C9A1">
                <a:alpha val="60000"/>
              </a:srgbClr>
            </a:outerShdw>
          </a:effectLst>
        </p:spPr>
      </p:sp>
      <p:pic>
        <p:nvPicPr>
          <p:cNvPr id="6" name="a2_icon" descr="Same job, same pay">    </p:cNvPr>
          <p:cNvPicPr>
            <a:picLocks noChangeAspect="1"/>
          </p:cNvPicPr>
          <p:nvPr/>
        </p:nvPicPr>
        <p:blipFill>
          <a:blip r:embed="rId2"/>
          <a:stretch>
            <a:fillRect/>
          </a:stretch>
        </p:blipFill>
        <p:spPr>
          <a:xfrm>
            <a:off x="969264" y="2432304"/>
            <a:ext cx="310896" cy="310896"/>
          </a:xfrm>
          <a:prstGeom prst="rect">
            <a:avLst/>
          </a:prstGeom>
        </p:spPr>
      </p:pic>
      <p:sp>
        <p:nvSpPr>
          <p:cNvPr id="7" name="a2_h"/>
          <p:cNvSpPr txBox="1"/>
          <p:nvPr/>
        </p:nvSpPr>
        <p:spPr>
          <a:xfrm>
            <a:off x="1572768" y="2249424"/>
            <a:ext cx="2331720" cy="676656"/>
          </a:xfrm>
          <a:prstGeom prst="rect">
            <a:avLst/>
          </a:prstGeom>
          <a:noFill/>
          <a:ln/>
        </p:spPr>
        <p:txBody>
          <a:bodyPr wrap="square" lIns="0" tIns="0" rIns="0" bIns="0" rtlCol="0" anchor="ctr"/>
          <a:lstStyle/>
          <a:p>
            <a:pPr indent="0" marL="0">
              <a:buNone/>
            </a:pPr>
            <a:r>
              <a:rPr lang="en-US" sz="1200" b="1" spc="200" kern="0" dirty="0">
                <a:solidFill>
                  <a:srgbClr val="14C9A1"/>
                </a:solidFill>
                <a:latin typeface="Calibri" pitchFamily="34" charset="0"/>
                <a:ea typeface="Calibri" pitchFamily="34" charset="-122"/>
                <a:cs typeface="Calibri" pitchFamily="34" charset="-120"/>
              </a:rPr>
              <a:t>01</a:t>
            </a:r>
            <a:endParaRPr lang="en-US" sz="1200" dirty="0"/>
          </a:p>
          <a:p>
            <a:pPr indent="0" marL="0">
              <a:buNone/>
            </a:pPr>
            <a:r>
              <a:rPr lang="en-US" sz="1700" b="1" dirty="0">
                <a:solidFill>
                  <a:srgbClr val="FFFFFF"/>
                </a:solidFill>
                <a:latin typeface="Calibri" pitchFamily="34" charset="0"/>
                <a:ea typeface="Calibri" pitchFamily="34" charset="-122"/>
                <a:cs typeface="Calibri" pitchFamily="34" charset="-120"/>
              </a:rPr>
              <a:t>Same job, same pay</a:t>
            </a:r>
            <a:endParaRPr lang="en-US" sz="1200" dirty="0"/>
          </a:p>
        </p:txBody>
      </p:sp>
      <p:sp>
        <p:nvSpPr>
          <p:cNvPr id="8" name="a2_d"/>
          <p:cNvSpPr txBox="1"/>
          <p:nvPr/>
        </p:nvSpPr>
        <p:spPr>
          <a:xfrm>
            <a:off x="822960" y="3017520"/>
            <a:ext cx="3017520" cy="68580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Men and women doing the same job earn the same. We hire for skills, never for gender or race.</a:t>
            </a:r>
            <a:endParaRPr lang="en-US" sz="1400" dirty="0"/>
          </a:p>
        </p:txBody>
      </p:sp>
      <p:sp>
        <p:nvSpPr>
          <p:cNvPr id="9" name="a2_line"/>
          <p:cNvSpPr/>
          <p:nvPr/>
        </p:nvSpPr>
        <p:spPr>
          <a:xfrm>
            <a:off x="4069080" y="2903220"/>
            <a:ext cx="740055" cy="0"/>
          </a:xfrm>
          <a:prstGeom prst="line">
            <a:avLst/>
          </a:prstGeom>
          <a:noFill/>
          <a:ln w="19050">
            <a:solidFill>
              <a:srgbClr val="14C9A1"/>
            </a:solidFill>
            <a:prstDash val="dash"/>
          </a:ln>
        </p:spPr>
      </p:sp>
      <p:sp>
        <p:nvSpPr>
          <p:cNvPr id="10" name="a2_node"/>
          <p:cNvSpPr/>
          <p:nvPr/>
        </p:nvSpPr>
        <p:spPr>
          <a:xfrm>
            <a:off x="4726839" y="2820924"/>
            <a:ext cx="164592" cy="164592"/>
          </a:xfrm>
          <a:prstGeom prst="ellipse">
            <a:avLst/>
          </a:prstGeom>
          <a:solidFill>
            <a:srgbClr val="14C9A1"/>
          </a:solidFill>
          <a:ln w="19050">
            <a:solidFill>
              <a:srgbClr val="FFFFFF"/>
            </a:solidFill>
            <a:prstDash val="solid"/>
          </a:ln>
        </p:spPr>
      </p:sp>
      <p:sp>
        <p:nvSpPr>
          <p:cNvPr id="11" name="a3_glass"/>
          <p:cNvSpPr/>
          <p:nvPr/>
        </p:nvSpPr>
        <p:spPr>
          <a:xfrm>
            <a:off x="548640" y="3977640"/>
            <a:ext cx="3520440" cy="1783080"/>
          </a:xfrm>
          <a:prstGeom prst="roundRect">
            <a:avLst>
              <a:gd name="adj" fmla="val 10256"/>
            </a:avLst>
          </a:prstGeom>
          <a:solidFill>
            <a:srgbClr val="FFFFFF">
              <a:alpha val="9000"/>
            </a:srgbClr>
          </a:solidFill>
          <a:ln w="12700">
            <a:solidFill>
              <a:srgbClr val="FFFFFF">
                <a:alpha val="22000"/>
              </a:srgbClr>
            </a:solidFill>
            <a:prstDash val="solid"/>
          </a:ln>
        </p:spPr>
      </p:sp>
      <p:sp>
        <p:nvSpPr>
          <p:cNvPr id="12" name="a3_disc"/>
          <p:cNvSpPr/>
          <p:nvPr/>
        </p:nvSpPr>
        <p:spPr>
          <a:xfrm>
            <a:off x="822960" y="4251960"/>
            <a:ext cx="603504" cy="603504"/>
          </a:xfrm>
          <a:prstGeom prst="ellipse">
            <a:avLst/>
          </a:prstGeom>
          <a:solidFill>
            <a:srgbClr val="2E9E5B"/>
          </a:solidFill>
          <a:ln/>
          <a:effectLst>
            <a:outerShdw sx="100000" sy="100000" kx="0" ky="0" algn="bl" rotWithShape="0" blurRad="203200" dist="50800" dir="5400000">
              <a:srgbClr val="2E9E5B">
                <a:alpha val="60000"/>
              </a:srgbClr>
            </a:outerShdw>
          </a:effectLst>
        </p:spPr>
      </p:sp>
      <p:pic>
        <p:nvPicPr>
          <p:cNvPr id="13" name="a3_icon" descr="Everyone has a voice">    </p:cNvPr>
          <p:cNvPicPr>
            <a:picLocks noChangeAspect="1"/>
          </p:cNvPicPr>
          <p:nvPr/>
        </p:nvPicPr>
        <p:blipFill>
          <a:blip r:embed="rId3"/>
          <a:stretch>
            <a:fillRect/>
          </a:stretch>
        </p:blipFill>
        <p:spPr>
          <a:xfrm>
            <a:off x="969264" y="4398264"/>
            <a:ext cx="310896" cy="310896"/>
          </a:xfrm>
          <a:prstGeom prst="rect">
            <a:avLst/>
          </a:prstGeom>
        </p:spPr>
      </p:pic>
      <p:sp>
        <p:nvSpPr>
          <p:cNvPr id="14" name="a3_h"/>
          <p:cNvSpPr txBox="1"/>
          <p:nvPr/>
        </p:nvSpPr>
        <p:spPr>
          <a:xfrm>
            <a:off x="1572768" y="4215384"/>
            <a:ext cx="2331720" cy="676656"/>
          </a:xfrm>
          <a:prstGeom prst="rect">
            <a:avLst/>
          </a:prstGeom>
          <a:noFill/>
          <a:ln/>
        </p:spPr>
        <p:txBody>
          <a:bodyPr wrap="square" lIns="0" tIns="0" rIns="0" bIns="0" rtlCol="0" anchor="ctr"/>
          <a:lstStyle/>
          <a:p>
            <a:pPr indent="0" marL="0">
              <a:buNone/>
            </a:pPr>
            <a:r>
              <a:rPr lang="en-US" sz="1200" b="1" spc="200" kern="0" dirty="0">
                <a:solidFill>
                  <a:srgbClr val="2E9E5B"/>
                </a:solidFill>
                <a:latin typeface="Calibri" pitchFamily="34" charset="0"/>
                <a:ea typeface="Calibri" pitchFamily="34" charset="-122"/>
                <a:cs typeface="Calibri" pitchFamily="34" charset="-120"/>
              </a:rPr>
              <a:t>02</a:t>
            </a:r>
            <a:endParaRPr lang="en-US" sz="1200" dirty="0"/>
          </a:p>
          <a:p>
            <a:pPr indent="0" marL="0">
              <a:buNone/>
            </a:pPr>
            <a:r>
              <a:rPr lang="en-US" sz="1700" b="1" dirty="0">
                <a:solidFill>
                  <a:srgbClr val="FFFFFF"/>
                </a:solidFill>
                <a:latin typeface="Calibri" pitchFamily="34" charset="0"/>
                <a:ea typeface="Calibri" pitchFamily="34" charset="-122"/>
                <a:cs typeface="Calibri" pitchFamily="34" charset="-120"/>
              </a:rPr>
              <a:t>Everyone has a voice</a:t>
            </a:r>
            <a:endParaRPr lang="en-US" sz="1200" dirty="0"/>
          </a:p>
        </p:txBody>
      </p:sp>
      <p:sp>
        <p:nvSpPr>
          <p:cNvPr id="15" name="a3_d"/>
          <p:cNvSpPr txBox="1"/>
          <p:nvPr/>
        </p:nvSpPr>
        <p:spPr>
          <a:xfrm>
            <a:off x="822960" y="4983480"/>
            <a:ext cx="3017520" cy="68580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Once a month, anyone, from the newest worker to the CEO, can pitch an idea to improve NutriPill.</a:t>
            </a:r>
            <a:endParaRPr lang="en-US" sz="1400" dirty="0"/>
          </a:p>
        </p:txBody>
      </p:sp>
      <p:sp>
        <p:nvSpPr>
          <p:cNvPr id="16" name="a3_line"/>
          <p:cNvSpPr/>
          <p:nvPr/>
        </p:nvSpPr>
        <p:spPr>
          <a:xfrm>
            <a:off x="4069080" y="4869180"/>
            <a:ext cx="740055" cy="0"/>
          </a:xfrm>
          <a:prstGeom prst="line">
            <a:avLst/>
          </a:prstGeom>
          <a:noFill/>
          <a:ln w="19050">
            <a:solidFill>
              <a:srgbClr val="2E9E5B"/>
            </a:solidFill>
            <a:prstDash val="dash"/>
          </a:ln>
        </p:spPr>
      </p:sp>
      <p:sp>
        <p:nvSpPr>
          <p:cNvPr id="17" name="a3_node"/>
          <p:cNvSpPr/>
          <p:nvPr/>
        </p:nvSpPr>
        <p:spPr>
          <a:xfrm>
            <a:off x="4726839" y="4786884"/>
            <a:ext cx="164592" cy="164592"/>
          </a:xfrm>
          <a:prstGeom prst="ellipse">
            <a:avLst/>
          </a:prstGeom>
          <a:solidFill>
            <a:srgbClr val="2E9E5B"/>
          </a:solidFill>
          <a:ln w="19050">
            <a:solidFill>
              <a:srgbClr val="FFFFFF"/>
            </a:solidFill>
            <a:prstDash val="solid"/>
          </a:ln>
        </p:spPr>
      </p:sp>
      <p:sp>
        <p:nvSpPr>
          <p:cNvPr id="18" name="a4_glass"/>
          <p:cNvSpPr/>
          <p:nvPr/>
        </p:nvSpPr>
        <p:spPr>
          <a:xfrm>
            <a:off x="8122615" y="2011680"/>
            <a:ext cx="3520440" cy="1783080"/>
          </a:xfrm>
          <a:prstGeom prst="roundRect">
            <a:avLst>
              <a:gd name="adj" fmla="val 10256"/>
            </a:avLst>
          </a:prstGeom>
          <a:solidFill>
            <a:srgbClr val="FFFFFF">
              <a:alpha val="9000"/>
            </a:srgbClr>
          </a:solidFill>
          <a:ln w="12700">
            <a:solidFill>
              <a:srgbClr val="FFFFFF">
                <a:alpha val="22000"/>
              </a:srgbClr>
            </a:solidFill>
            <a:prstDash val="solid"/>
          </a:ln>
        </p:spPr>
      </p:sp>
      <p:sp>
        <p:nvSpPr>
          <p:cNvPr id="19" name="a4_disc"/>
          <p:cNvSpPr/>
          <p:nvPr/>
        </p:nvSpPr>
        <p:spPr>
          <a:xfrm>
            <a:off x="8396935" y="2286000"/>
            <a:ext cx="603504" cy="603504"/>
          </a:xfrm>
          <a:prstGeom prst="ellipse">
            <a:avLst/>
          </a:prstGeom>
          <a:solidFill>
            <a:srgbClr val="FF6B4A"/>
          </a:solidFill>
          <a:ln/>
          <a:effectLst>
            <a:outerShdw sx="100000" sy="100000" kx="0" ky="0" algn="bl" rotWithShape="0" blurRad="203200" dist="50800" dir="5400000">
              <a:srgbClr val="FF6B4A">
                <a:alpha val="60000"/>
              </a:srgbClr>
            </a:outerShdw>
          </a:effectLst>
        </p:spPr>
      </p:sp>
      <p:pic>
        <p:nvPicPr>
          <p:cNvPr id="20" name="a4_icon" descr="Nobody priced out">    </p:cNvPr>
          <p:cNvPicPr>
            <a:picLocks noChangeAspect="1"/>
          </p:cNvPicPr>
          <p:nvPr/>
        </p:nvPicPr>
        <p:blipFill>
          <a:blip r:embed="rId4"/>
          <a:stretch>
            <a:fillRect/>
          </a:stretch>
        </p:blipFill>
        <p:spPr>
          <a:xfrm>
            <a:off x="8543239" y="2432304"/>
            <a:ext cx="310896" cy="310896"/>
          </a:xfrm>
          <a:prstGeom prst="rect">
            <a:avLst/>
          </a:prstGeom>
        </p:spPr>
      </p:pic>
      <p:sp>
        <p:nvSpPr>
          <p:cNvPr id="21" name="a4_h"/>
          <p:cNvSpPr txBox="1"/>
          <p:nvPr/>
        </p:nvSpPr>
        <p:spPr>
          <a:xfrm>
            <a:off x="9146743" y="2249424"/>
            <a:ext cx="2331720" cy="676656"/>
          </a:xfrm>
          <a:prstGeom prst="rect">
            <a:avLst/>
          </a:prstGeom>
          <a:noFill/>
          <a:ln/>
        </p:spPr>
        <p:txBody>
          <a:bodyPr wrap="square" lIns="0" tIns="0" rIns="0" bIns="0" rtlCol="0" anchor="ctr"/>
          <a:lstStyle/>
          <a:p>
            <a:pPr indent="0" marL="0">
              <a:buNone/>
            </a:pPr>
            <a:r>
              <a:rPr lang="en-US" sz="1200" b="1" spc="200" kern="0" dirty="0">
                <a:solidFill>
                  <a:srgbClr val="FF6B4A"/>
                </a:solidFill>
                <a:latin typeface="Calibri" pitchFamily="34" charset="0"/>
                <a:ea typeface="Calibri" pitchFamily="34" charset="-122"/>
                <a:cs typeface="Calibri" pitchFamily="34" charset="-120"/>
              </a:rPr>
              <a:t>03</a:t>
            </a:r>
            <a:endParaRPr lang="en-US" sz="1200" dirty="0"/>
          </a:p>
          <a:p>
            <a:pPr indent="0" marL="0">
              <a:buNone/>
            </a:pPr>
            <a:r>
              <a:rPr lang="en-US" sz="1700" b="1" dirty="0">
                <a:solidFill>
                  <a:srgbClr val="FFFFFF"/>
                </a:solidFill>
                <a:latin typeface="Calibri" pitchFamily="34" charset="0"/>
                <a:ea typeface="Calibri" pitchFamily="34" charset="-122"/>
                <a:cs typeface="Calibri" pitchFamily="34" charset="-120"/>
              </a:rPr>
              <a:t>Nobody priced out</a:t>
            </a:r>
            <a:endParaRPr lang="en-US" sz="1200" dirty="0"/>
          </a:p>
        </p:txBody>
      </p:sp>
      <p:sp>
        <p:nvSpPr>
          <p:cNvPr id="22" name="a4_d"/>
          <p:cNvSpPr txBox="1"/>
          <p:nvPr/>
        </p:nvSpPr>
        <p:spPr>
          <a:xfrm>
            <a:off x="8396935" y="3017520"/>
            <a:ext cx="3017520" cy="68580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Just €9.99 a month, plus 20% off with a student card, so anyone can try it.</a:t>
            </a:r>
            <a:endParaRPr lang="en-US" sz="1400" dirty="0"/>
          </a:p>
        </p:txBody>
      </p:sp>
      <p:sp>
        <p:nvSpPr>
          <p:cNvPr id="23" name="a4_line"/>
          <p:cNvSpPr/>
          <p:nvPr/>
        </p:nvSpPr>
        <p:spPr>
          <a:xfrm>
            <a:off x="7383475" y="2903220"/>
            <a:ext cx="739140" cy="0"/>
          </a:xfrm>
          <a:prstGeom prst="line">
            <a:avLst/>
          </a:prstGeom>
          <a:noFill/>
          <a:ln w="19050">
            <a:solidFill>
              <a:srgbClr val="FF6B4A"/>
            </a:solidFill>
            <a:prstDash val="dash"/>
          </a:ln>
        </p:spPr>
      </p:sp>
      <p:sp>
        <p:nvSpPr>
          <p:cNvPr id="24" name="a4_node"/>
          <p:cNvSpPr/>
          <p:nvPr/>
        </p:nvSpPr>
        <p:spPr>
          <a:xfrm>
            <a:off x="8040319" y="2820924"/>
            <a:ext cx="164592" cy="164592"/>
          </a:xfrm>
          <a:prstGeom prst="ellipse">
            <a:avLst/>
          </a:prstGeom>
          <a:solidFill>
            <a:srgbClr val="FF6B4A"/>
          </a:solidFill>
          <a:ln w="19050">
            <a:solidFill>
              <a:srgbClr val="FFFFFF"/>
            </a:solidFill>
            <a:prstDash val="solid"/>
          </a:ln>
        </p:spPr>
      </p:sp>
      <p:sp>
        <p:nvSpPr>
          <p:cNvPr id="25" name="a5_card"/>
          <p:cNvSpPr/>
          <p:nvPr/>
        </p:nvSpPr>
        <p:spPr>
          <a:xfrm>
            <a:off x="8122615" y="3977640"/>
            <a:ext cx="3520440" cy="1783080"/>
          </a:xfrm>
          <a:prstGeom prst="roundRect">
            <a:avLst>
              <a:gd name="adj" fmla="val 10256"/>
            </a:avLst>
          </a:prstGeom>
          <a:solidFill>
            <a:srgbClr val="14C9A1"/>
          </a:solidFill>
          <a:ln/>
          <a:effectLst>
            <a:outerShdw sx="100000" sy="100000" kx="0" ky="0" algn="bl" rotWithShape="0" blurRad="304800" dist="50800" dir="5400000">
              <a:srgbClr val="14C9A1">
                <a:alpha val="45000"/>
              </a:srgbClr>
            </a:outerShdw>
          </a:effectLst>
        </p:spPr>
      </p:sp>
      <p:pic>
        <p:nvPicPr>
          <p:cNvPr id="26" name="a5_q" descr="/tmp/claude-0/-home-user-english-presentaiton-/38e25695-43d6-5158-a0ef-d97df09ff7da/scratchpad/build/assets/ic-quote-navy.png">    </p:cNvPr>
          <p:cNvPicPr>
            <a:picLocks noChangeAspect="1"/>
          </p:cNvPicPr>
          <p:nvPr/>
        </p:nvPicPr>
        <p:blipFill>
          <a:blip r:embed="rId5"/>
          <a:stretch>
            <a:fillRect/>
          </a:stretch>
        </p:blipFill>
        <p:spPr>
          <a:xfrm>
            <a:off x="8396935" y="4206240"/>
            <a:ext cx="347472" cy="347472"/>
          </a:xfrm>
          <a:prstGeom prst="rect">
            <a:avLst/>
          </a:prstGeom>
        </p:spPr>
      </p:pic>
      <p:sp>
        <p:nvSpPr>
          <p:cNvPr id="27" name="a5_t"/>
          <p:cNvSpPr txBox="1"/>
          <p:nvPr/>
        </p:nvSpPr>
        <p:spPr>
          <a:xfrm>
            <a:off x="8396935" y="4599432"/>
            <a:ext cx="3017520" cy="685800"/>
          </a:xfrm>
          <a:prstGeom prst="rect">
            <a:avLst/>
          </a:prstGeom>
          <a:noFill/>
          <a:ln/>
        </p:spPr>
        <p:txBody>
          <a:bodyPr wrap="square" lIns="0" tIns="0" rIns="0" bIns="0" rtlCol="0" anchor="t"/>
          <a:lstStyle/>
          <a:p>
            <a:pPr indent="0" marL="0">
              <a:buNone/>
            </a:pPr>
            <a:r>
              <a:rPr lang="en-US" sz="1700" b="1" dirty="0">
                <a:solidFill>
                  <a:srgbClr val="0B1F3A"/>
                </a:solidFill>
                <a:latin typeface="Calibri" pitchFamily="34" charset="0"/>
                <a:ea typeface="Calibri" pitchFamily="34" charset="-122"/>
                <a:cs typeface="Calibri" pitchFamily="34" charset="-120"/>
              </a:rPr>
              <a:t>If our team isn't happy, our customers won't be either.</a:t>
            </a:r>
            <a:endParaRPr lang="en-US" sz="1700" dirty="0"/>
          </a:p>
        </p:txBody>
      </p:sp>
      <p:pic>
        <p:nvPicPr>
          <p:cNvPr id="28" name="a5_mark" descr="NutriPill logo">    </p:cNvPr>
          <p:cNvPicPr>
            <a:picLocks noChangeAspect="1"/>
          </p:cNvPicPr>
          <p:nvPr/>
        </p:nvPicPr>
        <p:blipFill>
          <a:blip r:embed="rId6"/>
          <a:stretch>
            <a:fillRect/>
          </a:stretch>
        </p:blipFill>
        <p:spPr>
          <a:xfrm>
            <a:off x="8342071" y="5257800"/>
            <a:ext cx="411480" cy="411480"/>
          </a:xfrm>
          <a:prstGeom prst="rect">
            <a:avLst/>
          </a:prstGeom>
        </p:spPr>
      </p:pic>
      <p:sp>
        <p:nvSpPr>
          <p:cNvPr id="29" name="a5_sig"/>
          <p:cNvSpPr txBox="1"/>
          <p:nvPr/>
        </p:nvSpPr>
        <p:spPr>
          <a:xfrm>
            <a:off x="8808415" y="5285232"/>
            <a:ext cx="237744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William</a:t>
            </a:r>
            <a:pPr indent="0" marL="0">
              <a:buNone/>
            </a:pPr>
            <a:r>
              <a:rPr lang="en-US" sz="1400" dirty="0">
                <a:solidFill>
                  <a:srgbClr val="0B1F3A"/>
                </a:solidFill>
                <a:latin typeface="Calibri" pitchFamily="34" charset="0"/>
                <a:ea typeface="Calibri" pitchFamily="34" charset="-122"/>
                <a:cs typeface="Calibri" pitchFamily="34" charset="-120"/>
              </a:rPr>
              <a:t>  ·  HR Manager</a:t>
            </a:r>
            <a:endParaRPr lang="en-US" sz="1400" dirty="0"/>
          </a:p>
        </p:txBody>
      </p:sp>
      <p:sp>
        <p:nvSpPr>
          <p:cNvPr id="30" name="a5_line"/>
          <p:cNvSpPr/>
          <p:nvPr/>
        </p:nvSpPr>
        <p:spPr>
          <a:xfrm>
            <a:off x="7383475" y="4869180"/>
            <a:ext cx="739140" cy="0"/>
          </a:xfrm>
          <a:prstGeom prst="line">
            <a:avLst/>
          </a:prstGeom>
          <a:noFill/>
          <a:ln w="19050">
            <a:solidFill>
              <a:srgbClr val="14C9A1"/>
            </a:solidFill>
            <a:prstDash val="dash"/>
          </a:ln>
        </p:spPr>
      </p:sp>
      <p:sp>
        <p:nvSpPr>
          <p:cNvPr id="31" name="a5_node"/>
          <p:cNvSpPr/>
          <p:nvPr/>
        </p:nvSpPr>
        <p:spPr>
          <a:xfrm>
            <a:off x="8040319" y="4786884"/>
            <a:ext cx="164592" cy="164592"/>
          </a:xfrm>
          <a:prstGeom prst="ellipse">
            <a:avLst/>
          </a:prstGeom>
          <a:solidFill>
            <a:srgbClr val="14C9A1"/>
          </a:solidFill>
          <a:ln w="19050">
            <a:solidFill>
              <a:srgbClr val="FFFFFF"/>
            </a:solidFill>
            <a:prstDash val="solid"/>
          </a:ln>
        </p:spPr>
      </p:sp>
      <p:sp>
        <p:nvSpPr>
          <p:cNvPr id="32" name="a6_chip"/>
          <p:cNvSpPr/>
          <p:nvPr/>
        </p:nvSpPr>
        <p:spPr>
          <a:xfrm>
            <a:off x="3124505" y="6053328"/>
            <a:ext cx="5943600" cy="457200"/>
          </a:xfrm>
          <a:prstGeom prst="roundRect">
            <a:avLst>
              <a:gd name="adj" fmla="val 50000"/>
            </a:avLst>
          </a:prstGeom>
          <a:solidFill>
            <a:srgbClr val="0B1F3A"/>
          </a:solidFill>
          <a:ln w="15875">
            <a:solidFill>
              <a:srgbClr val="14C9A1"/>
            </a:solidFill>
            <a:prstDash val="solid"/>
          </a:ln>
        </p:spPr>
      </p:sp>
      <p:pic>
        <p:nvPicPr>
          <p:cNvPr id="33" name="a6_lock" descr="lock">    </p:cNvPr>
          <p:cNvPicPr>
            <a:picLocks noChangeAspect="1"/>
          </p:cNvPicPr>
          <p:nvPr/>
        </p:nvPicPr>
        <p:blipFill>
          <a:blip r:embed="rId7"/>
          <a:stretch>
            <a:fillRect/>
          </a:stretch>
        </p:blipFill>
        <p:spPr>
          <a:xfrm>
            <a:off x="3325673" y="6163056"/>
            <a:ext cx="237744" cy="237744"/>
          </a:xfrm>
          <a:prstGeom prst="rect">
            <a:avLst/>
          </a:prstGeom>
        </p:spPr>
      </p:pic>
      <p:sp>
        <p:nvSpPr>
          <p:cNvPr id="34" name="a6_t"/>
          <p:cNvSpPr txBox="1"/>
          <p:nvPr/>
        </p:nvSpPr>
        <p:spPr>
          <a:xfrm>
            <a:off x="3673145" y="6053328"/>
            <a:ext cx="525780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Everyone can </a:t>
            </a:r>
            <a:pPr indent="0" marL="0">
              <a:buNone/>
            </a:pPr>
            <a:r>
              <a:rPr lang="en-US" sz="1400" b="1" dirty="0">
                <a:solidFill>
                  <a:srgbClr val="14C9A1"/>
                </a:solidFill>
                <a:latin typeface="Calibri" pitchFamily="34" charset="0"/>
                <a:ea typeface="Calibri" pitchFamily="34" charset="-122"/>
                <a:cs typeface="Calibri" pitchFamily="34" charset="-120"/>
              </a:rPr>
              <a:t>LOCK IN</a:t>
            </a:r>
            <a:pPr indent="0" marL="0">
              <a:buNone/>
            </a:pPr>
            <a:r>
              <a:rPr lang="en-US" sz="1400" i="1" dirty="0">
                <a:solidFill>
                  <a:srgbClr val="FFFFFF"/>
                </a:solidFill>
                <a:latin typeface="Calibri" pitchFamily="34" charset="0"/>
                <a:ea typeface="Calibri" pitchFamily="34" charset="-122"/>
                <a:cs typeface="Calibri" pitchFamily="34" charset="-120"/>
              </a:rPr>
              <a:t>  ·  1 pill a day keeps the hunger away!</a:t>
            </a:r>
            <a:endParaRPr lang="en-US" sz="1400" dirty="0"/>
          </a:p>
        </p:txBody>
      </p:sp>
      <p:sp>
        <p:nvSpPr>
          <p:cNvPr id="36" name="Text 0"/>
          <p:cNvSpPr/>
          <p:nvPr>
            <p:ph idx="101" type="body" hasCustomPrompt="1"/>
          </p:nvPr>
        </p:nvSpPr>
        <p:spPr>
          <a:xfrm>
            <a:off x="548640" y="411480"/>
            <a:ext cx="7315200" cy="320040"/>
          </a:xfrm>
          <a:prstGeom prst="rect">
            <a:avLst/>
          </a:prstGeom>
          <a:noFill/>
          <a:ln/>
        </p:spPr>
        <p:txBody>
          <a:bodyPr wrap="square" lIns="0" tIns="0" rIns="0" bIns="0" rtlCol="0" anchor="ctr"/>
          <a:lstStyle/>
          <a:p>
            <a:pPr indent="0" marL="0">
              <a:buNone/>
            </a:pPr>
            <a:endParaRPr lang="en-US" sz="13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1</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173" fill="hold">
                      <p:stCondLst>
                        <p:cond delay="indefinite"/>
                        <p:cond evt="onBegin" delay="0">
                          <p:tn val="2"/>
                        </p:cond>
                      </p:stCondLst>
                      <p:childTnLst>
                        <p:par>
                          <p:cTn id="3" fill="hold">
                            <p:stCondLst>
                              <p:cond delay="0"/>
                            </p:stCondLst>
                            <p:childTnLst>
                              <p:par>
                                <p:cTn id="4" presetID="42"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600"/>
                                        <p:tgtEl>
                                          <p:spTgt spid="2"/>
                                        </p:tgtEl>
                                      </p:cBhvr>
                                    </p:animEffect>
                                    <p:anim calcmode="lin" valueType="num">
                                      <p:cBhvr>
                                        <p:cTn id="7" dur="600" decel="100000" fill="hold"/>
                                        <p:tgtEl>
                                          <p:spTgt spid="2"/>
                                        </p:tgtEl>
                                        <p:attrNameLst>
                                          <p:attrName>ppt_y</p:attrName>
                                        </p:attrNameLst>
                                      </p:cBhvr>
                                      <p:tavLst>
                                        <p:tav tm="0">
                                          <p:val>
                                            <p:strVal val="#ppt_y+0.04"/>
                                          </p:val>
                                        </p:tav>
                                        <p:tav tm="100000">
                                          <p:val>
                                            <p:strVal val="#ppt_y"/>
                                          </p:val>
                                        </p:tav>
                                      </p:tavLst>
                                    </p:anim>
                                  </p:childTnLst>
                                </p:cTn>
                              </p:par>
                            </p:childTnLst>
                          </p:cTn>
                        </p:par>
                        <p:par>
                          <p:cTn id="8" fill="hold">
                            <p:stCondLst>
                              <p:cond delay="0"/>
                            </p:stCondLst>
                            <p:childTnLst>
                              <p:par>
                                <p:cTn id="9" presetID="42"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600"/>
                                        <p:tgtEl>
                                          <p:spTgt spid="36"/>
                                        </p:tgtEl>
                                      </p:cBhvr>
                                    </p:animEffect>
                                    <p:anim calcmode="lin" valueType="num">
                                      <p:cBhvr>
                                        <p:cTn id="12" dur="600" decel="100000" fill="hold"/>
                                        <p:tgtEl>
                                          <p:spTgt spid="36"/>
                                        </p:tgtEl>
                                        <p:attrNameLst>
                                          <p:attrName>ppt_y</p:attrName>
                                        </p:attrNameLst>
                                      </p:cBhvr>
                                      <p:tavLst>
                                        <p:tav tm="0">
                                          <p:val>
                                            <p:strVal val="#ppt_y+0.04"/>
                                          </p:val>
                                        </p:tav>
                                        <p:tav tm="100000">
                                          <p:val>
                                            <p:strVal val="#ppt_y"/>
                                          </p:val>
                                        </p:tav>
                                      </p:tavLst>
                                    </p:anim>
                                  </p:childTnLst>
                                </p:cTn>
                              </p:par>
                            </p:childTnLst>
                          </p:cTn>
                        </p:par>
                        <p:par>
                          <p:cTn id="13" fill="hold">
                            <p:stCondLst>
                              <p:cond delay="0"/>
                            </p:stCondLst>
                            <p:childTnLst>
                              <p:par>
                                <p:cTn id="14" presetID="42"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600"/>
                                        <p:tgtEl>
                                          <p:spTgt spid="3"/>
                                        </p:tgtEl>
                                      </p:cBhvr>
                                    </p:animEffect>
                                    <p:anim calcmode="lin" valueType="num">
                                      <p:cBhvr>
                                        <p:cTn id="17" dur="600" decel="100000" fill="hold"/>
                                        <p:tgtEl>
                                          <p:spTgt spid="3"/>
                                        </p:tgtEl>
                                        <p:attrNameLst>
                                          <p:attrName>ppt_y</p:attrName>
                                        </p:attrNameLst>
                                      </p:cBhvr>
                                      <p:tavLst>
                                        <p:tav tm="0">
                                          <p:val>
                                            <p:strVal val="#ppt_y+0.04"/>
                                          </p:val>
                                        </p:tav>
                                        <p:tav tm="100000">
                                          <p:val>
                                            <p:strVal val="#ppt_y"/>
                                          </p:val>
                                        </p:tav>
                                      </p:tavLst>
                                    </p:anim>
                                  </p:childTnLst>
                                </p:cTn>
                              </p:par>
                            </p:childTnLst>
                          </p:cTn>
                        </p:par>
                        <p:par>
                          <p:cTn id="18" fill="hold">
                            <p:stCondLst>
                              <p:cond delay="0"/>
                            </p:stCondLst>
                            <p:childTnLst>
                              <p:par>
                                <p:cTn id="19" presetID="42" presetClass="entr" presetSubtype="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600"/>
                                        <p:tgtEl>
                                          <p:spTgt spid="4"/>
                                        </p:tgtEl>
                                      </p:cBhvr>
                                    </p:animEffect>
                                    <p:anim calcmode="lin" valueType="num">
                                      <p:cBhvr>
                                        <p:cTn id="22" dur="600" decel="100000" fill="hold"/>
                                        <p:tgtEl>
                                          <p:spTgt spid="4"/>
                                        </p:tgtEl>
                                        <p:attrNameLst>
                                          <p:attrName>ppt_y</p:attrName>
                                        </p:attrNameLst>
                                      </p:cBhvr>
                                      <p:tavLst>
                                        <p:tav tm="0">
                                          <p:val>
                                            <p:strVal val="#ppt_y+0.04"/>
                                          </p:val>
                                        </p:tav>
                                        <p:tav tm="100000">
                                          <p:val>
                                            <p:strVal val="#ppt_y"/>
                                          </p:val>
                                        </p:tav>
                                      </p:tavLst>
                                    </p:anim>
                                  </p:childTnLst>
                                </p:cTn>
                              </p:par>
                            </p:childTnLst>
                          </p:cTn>
                        </p:par>
                        <p:par>
                          <p:cTn id="23" fill="hold">
                            <p:stCondLst>
                              <p:cond delay="0"/>
                            </p:stCondLst>
                            <p:childTnLst>
                              <p:par>
                                <p:cTn id="24" presetID="42" presetClass="entr" presetSubtype="0"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600"/>
                                        <p:tgtEl>
                                          <p:spTgt spid="5"/>
                                        </p:tgtEl>
                                      </p:cBhvr>
                                    </p:animEffect>
                                    <p:anim calcmode="lin" valueType="num">
                                      <p:cBhvr>
                                        <p:cTn id="27" dur="600" decel="100000" fill="hold"/>
                                        <p:tgtEl>
                                          <p:spTgt spid="5"/>
                                        </p:tgtEl>
                                        <p:attrNameLst>
                                          <p:attrName>ppt_y</p:attrName>
                                        </p:attrNameLst>
                                      </p:cBhvr>
                                      <p:tavLst>
                                        <p:tav tm="0">
                                          <p:val>
                                            <p:strVal val="#ppt_y+0.04"/>
                                          </p:val>
                                        </p:tav>
                                        <p:tav tm="100000">
                                          <p:val>
                                            <p:strVal val="#ppt_y"/>
                                          </p:val>
                                        </p:tav>
                                      </p:tavLst>
                                    </p:anim>
                                  </p:childTnLst>
                                </p:cTn>
                              </p:par>
                            </p:childTnLst>
                          </p:cTn>
                        </p:par>
                        <p:par>
                          <p:cTn id="28" fill="hold">
                            <p:stCondLst>
                              <p:cond delay="0"/>
                            </p:stCondLst>
                            <p:childTnLst>
                              <p:par>
                                <p:cTn id="29" presetID="42"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600"/>
                                        <p:tgtEl>
                                          <p:spTgt spid="6"/>
                                        </p:tgtEl>
                                      </p:cBhvr>
                                    </p:animEffect>
                                    <p:anim calcmode="lin" valueType="num">
                                      <p:cBhvr>
                                        <p:cTn id="32" dur="600" decel="100000" fill="hold"/>
                                        <p:tgtEl>
                                          <p:spTgt spid="6"/>
                                        </p:tgtEl>
                                        <p:attrNameLst>
                                          <p:attrName>ppt_y</p:attrName>
                                        </p:attrNameLst>
                                      </p:cBhvr>
                                      <p:tavLst>
                                        <p:tav tm="0">
                                          <p:val>
                                            <p:strVal val="#ppt_y+0.04"/>
                                          </p:val>
                                        </p:tav>
                                        <p:tav tm="100000">
                                          <p:val>
                                            <p:strVal val="#ppt_y"/>
                                          </p:val>
                                        </p:tav>
                                      </p:tavLst>
                                    </p:anim>
                                  </p:childTnLst>
                                </p:cTn>
                              </p:par>
                            </p:childTnLst>
                          </p:cTn>
                        </p:par>
                        <p:par>
                          <p:cTn id="33" fill="hold">
                            <p:stCondLst>
                              <p:cond delay="0"/>
                            </p:stCondLst>
                            <p:childTnLst>
                              <p:par>
                                <p:cTn id="34" presetID="42"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600"/>
                                        <p:tgtEl>
                                          <p:spTgt spid="7"/>
                                        </p:tgtEl>
                                      </p:cBhvr>
                                    </p:animEffect>
                                    <p:anim calcmode="lin" valueType="num">
                                      <p:cBhvr>
                                        <p:cTn id="37" dur="600" decel="100000" fill="hold"/>
                                        <p:tgtEl>
                                          <p:spTgt spid="7"/>
                                        </p:tgtEl>
                                        <p:attrNameLst>
                                          <p:attrName>ppt_y</p:attrName>
                                        </p:attrNameLst>
                                      </p:cBhvr>
                                      <p:tavLst>
                                        <p:tav tm="0">
                                          <p:val>
                                            <p:strVal val="#ppt_y+0.04"/>
                                          </p:val>
                                        </p:tav>
                                        <p:tav tm="100000">
                                          <p:val>
                                            <p:strVal val="#ppt_y"/>
                                          </p:val>
                                        </p:tav>
                                      </p:tavLst>
                                    </p:anim>
                                  </p:childTnLst>
                                </p:cTn>
                              </p:par>
                            </p:childTnLst>
                          </p:cTn>
                        </p:par>
                        <p:par>
                          <p:cTn id="38" fill="hold">
                            <p:stCondLst>
                              <p:cond delay="0"/>
                            </p:stCondLst>
                            <p:childTnLst>
                              <p:par>
                                <p:cTn id="39" presetID="42"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600"/>
                                        <p:tgtEl>
                                          <p:spTgt spid="8"/>
                                        </p:tgtEl>
                                      </p:cBhvr>
                                    </p:animEffect>
                                    <p:anim calcmode="lin" valueType="num">
                                      <p:cBhvr>
                                        <p:cTn id="42" dur="600" decel="100000" fill="hold"/>
                                        <p:tgtEl>
                                          <p:spTgt spid="8"/>
                                        </p:tgtEl>
                                        <p:attrNameLst>
                                          <p:attrName>ppt_y</p:attrName>
                                        </p:attrNameLst>
                                      </p:cBhvr>
                                      <p:tavLst>
                                        <p:tav tm="0">
                                          <p:val>
                                            <p:strVal val="#ppt_y+0.04"/>
                                          </p:val>
                                        </p:tav>
                                        <p:tav tm="100000">
                                          <p:val>
                                            <p:strVal val="#ppt_y"/>
                                          </p:val>
                                        </p:tav>
                                      </p:tavLst>
                                    </p:anim>
                                  </p:childTnLst>
                                </p:cTn>
                              </p:par>
                            </p:childTnLst>
                          </p:cTn>
                        </p:par>
                        <p:par>
                          <p:cTn id="43" fill="hold">
                            <p:stCondLst>
                              <p:cond delay="0"/>
                            </p:stCondLst>
                            <p:childTnLst>
                              <p:par>
                                <p:cTn id="44" presetID="42"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600"/>
                                        <p:tgtEl>
                                          <p:spTgt spid="9"/>
                                        </p:tgtEl>
                                      </p:cBhvr>
                                    </p:animEffect>
                                    <p:anim calcmode="lin" valueType="num">
                                      <p:cBhvr>
                                        <p:cTn id="47" dur="600" decel="100000" fill="hold"/>
                                        <p:tgtEl>
                                          <p:spTgt spid="9"/>
                                        </p:tgtEl>
                                        <p:attrNameLst>
                                          <p:attrName>ppt_y</p:attrName>
                                        </p:attrNameLst>
                                      </p:cBhvr>
                                      <p:tavLst>
                                        <p:tav tm="0">
                                          <p:val>
                                            <p:strVal val="#ppt_y+0.04"/>
                                          </p:val>
                                        </p:tav>
                                        <p:tav tm="100000">
                                          <p:val>
                                            <p:strVal val="#ppt_y"/>
                                          </p:val>
                                        </p:tav>
                                      </p:tavLst>
                                    </p:anim>
                                  </p:childTnLst>
                                </p:cTn>
                              </p:par>
                            </p:childTnLst>
                          </p:cTn>
                        </p:par>
                        <p:par>
                          <p:cTn id="48" fill="hold">
                            <p:stCondLst>
                              <p:cond delay="0"/>
                            </p:stCondLst>
                            <p:childTnLst>
                              <p:par>
                                <p:cTn id="49" presetID="42" presetClass="entr" presetSubtype="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600"/>
                                        <p:tgtEl>
                                          <p:spTgt spid="10"/>
                                        </p:tgtEl>
                                      </p:cBhvr>
                                    </p:animEffect>
                                    <p:anim calcmode="lin" valueType="num">
                                      <p:cBhvr>
                                        <p:cTn id="52" dur="600" decel="100000" fill="hold"/>
                                        <p:tgtEl>
                                          <p:spTgt spid="10"/>
                                        </p:tgtEl>
                                        <p:attrNameLst>
                                          <p:attrName>ppt_y</p:attrName>
                                        </p:attrNameLst>
                                      </p:cBhvr>
                                      <p:tavLst>
                                        <p:tav tm="0">
                                          <p:val>
                                            <p:strVal val="#ppt_y+0.04"/>
                                          </p:val>
                                        </p:tav>
                                        <p:tav tm="100000">
                                          <p:val>
                                            <p:strVal val="#ppt_y"/>
                                          </p:val>
                                        </p:tav>
                                      </p:tavLst>
                                    </p:anim>
                                  </p:childTnLst>
                                </p:cTn>
                              </p:par>
                            </p:childTnLst>
                          </p:cTn>
                        </p:par>
                        <p:par>
                          <p:cTn id="53" fill="hold">
                            <p:stCondLst>
                              <p:cond delay="0"/>
                            </p:stCondLst>
                            <p:childTnLst>
                              <p:par>
                                <p:cTn id="54" presetID="42" presetClass="entr" presetSubtype="0"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600"/>
                                        <p:tgtEl>
                                          <p:spTgt spid="11"/>
                                        </p:tgtEl>
                                      </p:cBhvr>
                                    </p:animEffect>
                                    <p:anim calcmode="lin" valueType="num">
                                      <p:cBhvr>
                                        <p:cTn id="57" dur="600" decel="100000" fill="hold"/>
                                        <p:tgtEl>
                                          <p:spTgt spid="11"/>
                                        </p:tgtEl>
                                        <p:attrNameLst>
                                          <p:attrName>ppt_y</p:attrName>
                                        </p:attrNameLst>
                                      </p:cBhvr>
                                      <p:tavLst>
                                        <p:tav tm="0">
                                          <p:val>
                                            <p:strVal val="#ppt_y+0.04"/>
                                          </p:val>
                                        </p:tav>
                                        <p:tav tm="100000">
                                          <p:val>
                                            <p:strVal val="#ppt_y"/>
                                          </p:val>
                                        </p:tav>
                                      </p:tavLst>
                                    </p:anim>
                                  </p:childTnLst>
                                </p:cTn>
                              </p:par>
                            </p:childTnLst>
                          </p:cTn>
                        </p:par>
                        <p:par>
                          <p:cTn id="58" fill="hold">
                            <p:stCondLst>
                              <p:cond delay="0"/>
                            </p:stCondLst>
                            <p:childTnLst>
                              <p:par>
                                <p:cTn id="59" presetID="42"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600"/>
                                        <p:tgtEl>
                                          <p:spTgt spid="12"/>
                                        </p:tgtEl>
                                      </p:cBhvr>
                                    </p:animEffect>
                                    <p:anim calcmode="lin" valueType="num">
                                      <p:cBhvr>
                                        <p:cTn id="62" dur="600" decel="100000" fill="hold"/>
                                        <p:tgtEl>
                                          <p:spTgt spid="12"/>
                                        </p:tgtEl>
                                        <p:attrNameLst>
                                          <p:attrName>ppt_y</p:attrName>
                                        </p:attrNameLst>
                                      </p:cBhvr>
                                      <p:tavLst>
                                        <p:tav tm="0">
                                          <p:val>
                                            <p:strVal val="#ppt_y+0.04"/>
                                          </p:val>
                                        </p:tav>
                                        <p:tav tm="100000">
                                          <p:val>
                                            <p:strVal val="#ppt_y"/>
                                          </p:val>
                                        </p:tav>
                                      </p:tavLst>
                                    </p:anim>
                                  </p:childTnLst>
                                </p:cTn>
                              </p:par>
                            </p:childTnLst>
                          </p:cTn>
                        </p:par>
                        <p:par>
                          <p:cTn id="63" fill="hold">
                            <p:stCondLst>
                              <p:cond delay="0"/>
                            </p:stCondLst>
                            <p:childTnLst>
                              <p:par>
                                <p:cTn id="64" presetID="42" presetClass="entr" presetSubtype="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600"/>
                                        <p:tgtEl>
                                          <p:spTgt spid="13"/>
                                        </p:tgtEl>
                                      </p:cBhvr>
                                    </p:animEffect>
                                    <p:anim calcmode="lin" valueType="num">
                                      <p:cBhvr>
                                        <p:cTn id="67" dur="600" decel="100000" fill="hold"/>
                                        <p:tgtEl>
                                          <p:spTgt spid="13"/>
                                        </p:tgtEl>
                                        <p:attrNameLst>
                                          <p:attrName>ppt_y</p:attrName>
                                        </p:attrNameLst>
                                      </p:cBhvr>
                                      <p:tavLst>
                                        <p:tav tm="0">
                                          <p:val>
                                            <p:strVal val="#ppt_y+0.04"/>
                                          </p:val>
                                        </p:tav>
                                        <p:tav tm="100000">
                                          <p:val>
                                            <p:strVal val="#ppt_y"/>
                                          </p:val>
                                        </p:tav>
                                      </p:tavLst>
                                    </p:anim>
                                  </p:childTnLst>
                                </p:cTn>
                              </p:par>
                            </p:childTnLst>
                          </p:cTn>
                        </p:par>
                        <p:par>
                          <p:cTn id="68" fill="hold">
                            <p:stCondLst>
                              <p:cond delay="0"/>
                            </p:stCondLst>
                            <p:childTnLst>
                              <p:par>
                                <p:cTn id="69" presetID="42"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600"/>
                                        <p:tgtEl>
                                          <p:spTgt spid="14"/>
                                        </p:tgtEl>
                                      </p:cBhvr>
                                    </p:animEffect>
                                    <p:anim calcmode="lin" valueType="num">
                                      <p:cBhvr>
                                        <p:cTn id="72" dur="600" decel="100000" fill="hold"/>
                                        <p:tgtEl>
                                          <p:spTgt spid="14"/>
                                        </p:tgtEl>
                                        <p:attrNameLst>
                                          <p:attrName>ppt_y</p:attrName>
                                        </p:attrNameLst>
                                      </p:cBhvr>
                                      <p:tavLst>
                                        <p:tav tm="0">
                                          <p:val>
                                            <p:strVal val="#ppt_y+0.04"/>
                                          </p:val>
                                        </p:tav>
                                        <p:tav tm="100000">
                                          <p:val>
                                            <p:strVal val="#ppt_y"/>
                                          </p:val>
                                        </p:tav>
                                      </p:tavLst>
                                    </p:anim>
                                  </p:childTnLst>
                                </p:cTn>
                              </p:par>
                            </p:childTnLst>
                          </p:cTn>
                        </p:par>
                        <p:par>
                          <p:cTn id="73" fill="hold">
                            <p:stCondLst>
                              <p:cond delay="0"/>
                            </p:stCondLst>
                            <p:childTnLst>
                              <p:par>
                                <p:cTn id="74" presetID="42" presetClass="entr" presetSubtype="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600"/>
                                        <p:tgtEl>
                                          <p:spTgt spid="15"/>
                                        </p:tgtEl>
                                      </p:cBhvr>
                                    </p:animEffect>
                                    <p:anim calcmode="lin" valueType="num">
                                      <p:cBhvr>
                                        <p:cTn id="77" dur="600" decel="100000" fill="hold"/>
                                        <p:tgtEl>
                                          <p:spTgt spid="15"/>
                                        </p:tgtEl>
                                        <p:attrNameLst>
                                          <p:attrName>ppt_y</p:attrName>
                                        </p:attrNameLst>
                                      </p:cBhvr>
                                      <p:tavLst>
                                        <p:tav tm="0">
                                          <p:val>
                                            <p:strVal val="#ppt_y+0.04"/>
                                          </p:val>
                                        </p:tav>
                                        <p:tav tm="100000">
                                          <p:val>
                                            <p:strVal val="#ppt_y"/>
                                          </p:val>
                                        </p:tav>
                                      </p:tavLst>
                                    </p:anim>
                                  </p:childTnLst>
                                </p:cTn>
                              </p:par>
                            </p:childTnLst>
                          </p:cTn>
                        </p:par>
                        <p:par>
                          <p:cTn id="78" fill="hold">
                            <p:stCondLst>
                              <p:cond delay="0"/>
                            </p:stCondLst>
                            <p:childTnLst>
                              <p:par>
                                <p:cTn id="79" presetID="42" presetClass="entr" presetSubtype="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600"/>
                                        <p:tgtEl>
                                          <p:spTgt spid="16"/>
                                        </p:tgtEl>
                                      </p:cBhvr>
                                    </p:animEffect>
                                    <p:anim calcmode="lin" valueType="num">
                                      <p:cBhvr>
                                        <p:cTn id="82" dur="600" decel="100000" fill="hold"/>
                                        <p:tgtEl>
                                          <p:spTgt spid="16"/>
                                        </p:tgtEl>
                                        <p:attrNameLst>
                                          <p:attrName>ppt_y</p:attrName>
                                        </p:attrNameLst>
                                      </p:cBhvr>
                                      <p:tavLst>
                                        <p:tav tm="0">
                                          <p:val>
                                            <p:strVal val="#ppt_y+0.04"/>
                                          </p:val>
                                        </p:tav>
                                        <p:tav tm="100000">
                                          <p:val>
                                            <p:strVal val="#ppt_y"/>
                                          </p:val>
                                        </p:tav>
                                      </p:tavLst>
                                    </p:anim>
                                  </p:childTnLst>
                                </p:cTn>
                              </p:par>
                            </p:childTnLst>
                          </p:cTn>
                        </p:par>
                        <p:par>
                          <p:cTn id="83" fill="hold">
                            <p:stCondLst>
                              <p:cond delay="0"/>
                            </p:stCondLst>
                            <p:childTnLst>
                              <p:par>
                                <p:cTn id="84" presetID="42" presetClass="entr" presetSubtype="0" fill="hold" grpId="0" nodeType="with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600"/>
                                        <p:tgtEl>
                                          <p:spTgt spid="17"/>
                                        </p:tgtEl>
                                      </p:cBhvr>
                                    </p:animEffect>
                                    <p:anim calcmode="lin" valueType="num">
                                      <p:cBhvr>
                                        <p:cTn id="87" dur="600" decel="100000" fill="hold"/>
                                        <p:tgtEl>
                                          <p:spTgt spid="17"/>
                                        </p:tgtEl>
                                        <p:attrNameLst>
                                          <p:attrName>ppt_y</p:attrName>
                                        </p:attrNameLst>
                                      </p:cBhvr>
                                      <p:tavLst>
                                        <p:tav tm="0">
                                          <p:val>
                                            <p:strVal val="#ppt_y+0.04"/>
                                          </p:val>
                                        </p:tav>
                                        <p:tav tm="100000">
                                          <p:val>
                                            <p:strVal val="#ppt_y"/>
                                          </p:val>
                                        </p:tav>
                                      </p:tavLst>
                                    </p:anim>
                                  </p:childTnLst>
                                </p:cTn>
                              </p:par>
                            </p:childTnLst>
                          </p:cTn>
                        </p:par>
                        <p:par>
                          <p:cTn id="88" fill="hold">
                            <p:stCondLst>
                              <p:cond delay="0"/>
                            </p:stCondLst>
                            <p:childTnLst>
                              <p:par>
                                <p:cTn id="89" presetID="42" presetClass="entr" presetSubtype="0" fill="hold" grpId="0" nodeType="after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600"/>
                                        <p:tgtEl>
                                          <p:spTgt spid="18"/>
                                        </p:tgtEl>
                                      </p:cBhvr>
                                    </p:animEffect>
                                    <p:anim calcmode="lin" valueType="num">
                                      <p:cBhvr>
                                        <p:cTn id="92" dur="600" decel="100000" fill="hold"/>
                                        <p:tgtEl>
                                          <p:spTgt spid="18"/>
                                        </p:tgtEl>
                                        <p:attrNameLst>
                                          <p:attrName>ppt_y</p:attrName>
                                        </p:attrNameLst>
                                      </p:cBhvr>
                                      <p:tavLst>
                                        <p:tav tm="0">
                                          <p:val>
                                            <p:strVal val="#ppt_y+0.04"/>
                                          </p:val>
                                        </p:tav>
                                        <p:tav tm="100000">
                                          <p:val>
                                            <p:strVal val="#ppt_y"/>
                                          </p:val>
                                        </p:tav>
                                      </p:tavLst>
                                    </p:anim>
                                  </p:childTnLst>
                                </p:cTn>
                              </p:par>
                            </p:childTnLst>
                          </p:cTn>
                        </p:par>
                        <p:par>
                          <p:cTn id="93" fill="hold">
                            <p:stCondLst>
                              <p:cond delay="0"/>
                            </p:stCondLst>
                            <p:childTnLst>
                              <p:par>
                                <p:cTn id="94" presetID="42" presetClass="entr" presetSubtype="0" fill="hold" grpId="0" nodeType="with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600"/>
                                        <p:tgtEl>
                                          <p:spTgt spid="19"/>
                                        </p:tgtEl>
                                      </p:cBhvr>
                                    </p:animEffect>
                                    <p:anim calcmode="lin" valueType="num">
                                      <p:cBhvr>
                                        <p:cTn id="97" dur="600" decel="100000" fill="hold"/>
                                        <p:tgtEl>
                                          <p:spTgt spid="19"/>
                                        </p:tgtEl>
                                        <p:attrNameLst>
                                          <p:attrName>ppt_y</p:attrName>
                                        </p:attrNameLst>
                                      </p:cBhvr>
                                      <p:tavLst>
                                        <p:tav tm="0">
                                          <p:val>
                                            <p:strVal val="#ppt_y+0.04"/>
                                          </p:val>
                                        </p:tav>
                                        <p:tav tm="100000">
                                          <p:val>
                                            <p:strVal val="#ppt_y"/>
                                          </p:val>
                                        </p:tav>
                                      </p:tavLst>
                                    </p:anim>
                                  </p:childTnLst>
                                </p:cTn>
                              </p:par>
                            </p:childTnLst>
                          </p:cTn>
                        </p:par>
                        <p:par>
                          <p:cTn id="98" fill="hold">
                            <p:stCondLst>
                              <p:cond delay="0"/>
                            </p:stCondLst>
                            <p:childTnLst>
                              <p:par>
                                <p:cTn id="99" presetID="42" presetClass="entr" presetSubtype="0" fill="hold" grpId="0"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fade">
                                      <p:cBhvr>
                                        <p:cTn id="101" dur="600"/>
                                        <p:tgtEl>
                                          <p:spTgt spid="20"/>
                                        </p:tgtEl>
                                      </p:cBhvr>
                                    </p:animEffect>
                                    <p:anim calcmode="lin" valueType="num">
                                      <p:cBhvr>
                                        <p:cTn id="102" dur="600" decel="100000" fill="hold"/>
                                        <p:tgtEl>
                                          <p:spTgt spid="20"/>
                                        </p:tgtEl>
                                        <p:attrNameLst>
                                          <p:attrName>ppt_y</p:attrName>
                                        </p:attrNameLst>
                                      </p:cBhvr>
                                      <p:tavLst>
                                        <p:tav tm="0">
                                          <p:val>
                                            <p:strVal val="#ppt_y+0.04"/>
                                          </p:val>
                                        </p:tav>
                                        <p:tav tm="100000">
                                          <p:val>
                                            <p:strVal val="#ppt_y"/>
                                          </p:val>
                                        </p:tav>
                                      </p:tavLst>
                                    </p:anim>
                                  </p:childTnLst>
                                </p:cTn>
                              </p:par>
                            </p:childTnLst>
                          </p:cTn>
                        </p:par>
                        <p:par>
                          <p:cTn id="103" fill="hold">
                            <p:stCondLst>
                              <p:cond delay="0"/>
                            </p:stCondLst>
                            <p:childTnLst>
                              <p:par>
                                <p:cTn id="104" presetID="42" presetClass="entr" presetSubtype="0" fill="hold" grpId="0" nodeType="with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600"/>
                                        <p:tgtEl>
                                          <p:spTgt spid="21"/>
                                        </p:tgtEl>
                                      </p:cBhvr>
                                    </p:animEffect>
                                    <p:anim calcmode="lin" valueType="num">
                                      <p:cBhvr>
                                        <p:cTn id="107" dur="600" decel="100000" fill="hold"/>
                                        <p:tgtEl>
                                          <p:spTgt spid="21"/>
                                        </p:tgtEl>
                                        <p:attrNameLst>
                                          <p:attrName>ppt_y</p:attrName>
                                        </p:attrNameLst>
                                      </p:cBhvr>
                                      <p:tavLst>
                                        <p:tav tm="0">
                                          <p:val>
                                            <p:strVal val="#ppt_y+0.04"/>
                                          </p:val>
                                        </p:tav>
                                        <p:tav tm="100000">
                                          <p:val>
                                            <p:strVal val="#ppt_y"/>
                                          </p:val>
                                        </p:tav>
                                      </p:tavLst>
                                    </p:anim>
                                  </p:childTnLst>
                                </p:cTn>
                              </p:par>
                            </p:childTnLst>
                          </p:cTn>
                        </p:par>
                        <p:par>
                          <p:cTn id="108" fill="hold">
                            <p:stCondLst>
                              <p:cond delay="0"/>
                            </p:stCondLst>
                            <p:childTnLst>
                              <p:par>
                                <p:cTn id="109" presetID="42" presetClass="entr" presetSubtype="0" fill="hold" grpId="0" nodeType="with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600"/>
                                        <p:tgtEl>
                                          <p:spTgt spid="22"/>
                                        </p:tgtEl>
                                      </p:cBhvr>
                                    </p:animEffect>
                                    <p:anim calcmode="lin" valueType="num">
                                      <p:cBhvr>
                                        <p:cTn id="112" dur="600" decel="100000" fill="hold"/>
                                        <p:tgtEl>
                                          <p:spTgt spid="22"/>
                                        </p:tgtEl>
                                        <p:attrNameLst>
                                          <p:attrName>ppt_y</p:attrName>
                                        </p:attrNameLst>
                                      </p:cBhvr>
                                      <p:tavLst>
                                        <p:tav tm="0">
                                          <p:val>
                                            <p:strVal val="#ppt_y+0.04"/>
                                          </p:val>
                                        </p:tav>
                                        <p:tav tm="100000">
                                          <p:val>
                                            <p:strVal val="#ppt_y"/>
                                          </p:val>
                                        </p:tav>
                                      </p:tavLst>
                                    </p:anim>
                                  </p:childTnLst>
                                </p:cTn>
                              </p:par>
                            </p:childTnLst>
                          </p:cTn>
                        </p:par>
                        <p:par>
                          <p:cTn id="113" fill="hold">
                            <p:stCondLst>
                              <p:cond delay="0"/>
                            </p:stCondLst>
                            <p:childTnLst>
                              <p:par>
                                <p:cTn id="114" presetID="42" presetClass="entr" presetSubtype="0" fill="hold" grpId="0" nodeType="withEffect">
                                  <p:stCondLst>
                                    <p:cond delay="0"/>
                                  </p:stCondLst>
                                  <p:childTnLst>
                                    <p:set>
                                      <p:cBhvr>
                                        <p:cTn id="115" dur="1" fill="hold">
                                          <p:stCondLst>
                                            <p:cond delay="0"/>
                                          </p:stCondLst>
                                        </p:cTn>
                                        <p:tgtEl>
                                          <p:spTgt spid="23"/>
                                        </p:tgtEl>
                                        <p:attrNameLst>
                                          <p:attrName>style.visibility</p:attrName>
                                        </p:attrNameLst>
                                      </p:cBhvr>
                                      <p:to>
                                        <p:strVal val="visible"/>
                                      </p:to>
                                    </p:set>
                                    <p:animEffect transition="in" filter="fade">
                                      <p:cBhvr>
                                        <p:cTn id="116" dur="600"/>
                                        <p:tgtEl>
                                          <p:spTgt spid="23"/>
                                        </p:tgtEl>
                                      </p:cBhvr>
                                    </p:animEffect>
                                    <p:anim calcmode="lin" valueType="num">
                                      <p:cBhvr>
                                        <p:cTn id="117" dur="600" decel="100000" fill="hold"/>
                                        <p:tgtEl>
                                          <p:spTgt spid="23"/>
                                        </p:tgtEl>
                                        <p:attrNameLst>
                                          <p:attrName>ppt_y</p:attrName>
                                        </p:attrNameLst>
                                      </p:cBhvr>
                                      <p:tavLst>
                                        <p:tav tm="0">
                                          <p:val>
                                            <p:strVal val="#ppt_y+0.04"/>
                                          </p:val>
                                        </p:tav>
                                        <p:tav tm="100000">
                                          <p:val>
                                            <p:strVal val="#ppt_y"/>
                                          </p:val>
                                        </p:tav>
                                      </p:tavLst>
                                    </p:anim>
                                  </p:childTnLst>
                                </p:cTn>
                              </p:par>
                            </p:childTnLst>
                          </p:cTn>
                        </p:par>
                        <p:par>
                          <p:cTn id="118" fill="hold">
                            <p:stCondLst>
                              <p:cond delay="0"/>
                            </p:stCondLst>
                            <p:childTnLst>
                              <p:par>
                                <p:cTn id="119" presetID="42" presetClass="entr" presetSubtype="0" fill="hold" grpId="0" nodeType="with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600"/>
                                        <p:tgtEl>
                                          <p:spTgt spid="24"/>
                                        </p:tgtEl>
                                      </p:cBhvr>
                                    </p:animEffect>
                                    <p:anim calcmode="lin" valueType="num">
                                      <p:cBhvr>
                                        <p:cTn id="122" dur="600" decel="100000" fill="hold"/>
                                        <p:tgtEl>
                                          <p:spTgt spid="24"/>
                                        </p:tgtEl>
                                        <p:attrNameLst>
                                          <p:attrName>ppt_y</p:attrName>
                                        </p:attrNameLst>
                                      </p:cBhvr>
                                      <p:tavLst>
                                        <p:tav tm="0">
                                          <p:val>
                                            <p:strVal val="#ppt_y+0.04"/>
                                          </p:val>
                                        </p:tav>
                                        <p:tav tm="100000">
                                          <p:val>
                                            <p:strVal val="#ppt_y"/>
                                          </p:val>
                                        </p:tav>
                                      </p:tavLst>
                                    </p:anim>
                                  </p:childTnLst>
                                </p:cTn>
                              </p:par>
                            </p:childTnLst>
                          </p:cTn>
                        </p:par>
                        <p:par>
                          <p:cTn id="123" fill="hold">
                            <p:stCondLst>
                              <p:cond delay="0"/>
                            </p:stCondLst>
                            <p:childTnLst>
                              <p:par>
                                <p:cTn id="124" presetID="42" presetClass="entr" presetSubtype="0" fill="hold" grpId="0" nodeType="afterEffect">
                                  <p:stCondLst>
                                    <p:cond delay="0"/>
                                  </p:stCondLst>
                                  <p:childTnLst>
                                    <p:set>
                                      <p:cBhvr>
                                        <p:cTn id="125" dur="1" fill="hold">
                                          <p:stCondLst>
                                            <p:cond delay="0"/>
                                          </p:stCondLst>
                                        </p:cTn>
                                        <p:tgtEl>
                                          <p:spTgt spid="25"/>
                                        </p:tgtEl>
                                        <p:attrNameLst>
                                          <p:attrName>style.visibility</p:attrName>
                                        </p:attrNameLst>
                                      </p:cBhvr>
                                      <p:to>
                                        <p:strVal val="visible"/>
                                      </p:to>
                                    </p:set>
                                    <p:animEffect transition="in" filter="fade">
                                      <p:cBhvr>
                                        <p:cTn id="126" dur="600"/>
                                        <p:tgtEl>
                                          <p:spTgt spid="25"/>
                                        </p:tgtEl>
                                      </p:cBhvr>
                                    </p:animEffect>
                                    <p:anim calcmode="lin" valueType="num">
                                      <p:cBhvr>
                                        <p:cTn id="127" dur="600" decel="100000" fill="hold"/>
                                        <p:tgtEl>
                                          <p:spTgt spid="25"/>
                                        </p:tgtEl>
                                        <p:attrNameLst>
                                          <p:attrName>ppt_y</p:attrName>
                                        </p:attrNameLst>
                                      </p:cBhvr>
                                      <p:tavLst>
                                        <p:tav tm="0">
                                          <p:val>
                                            <p:strVal val="#ppt_y+0.04"/>
                                          </p:val>
                                        </p:tav>
                                        <p:tav tm="100000">
                                          <p:val>
                                            <p:strVal val="#ppt_y"/>
                                          </p:val>
                                        </p:tav>
                                      </p:tavLst>
                                    </p:anim>
                                  </p:childTnLst>
                                </p:cTn>
                              </p:par>
                            </p:childTnLst>
                          </p:cTn>
                        </p:par>
                        <p:par>
                          <p:cTn id="128" fill="hold">
                            <p:stCondLst>
                              <p:cond delay="0"/>
                            </p:stCondLst>
                            <p:childTnLst>
                              <p:par>
                                <p:cTn id="129" presetID="42" presetClass="entr" presetSubtype="0" fill="hold" grpId="0" nodeType="withEffect">
                                  <p:stCondLst>
                                    <p:cond delay="0"/>
                                  </p:stCondLst>
                                  <p:childTnLst>
                                    <p:set>
                                      <p:cBhvr>
                                        <p:cTn id="130" dur="1" fill="hold">
                                          <p:stCondLst>
                                            <p:cond delay="0"/>
                                          </p:stCondLst>
                                        </p:cTn>
                                        <p:tgtEl>
                                          <p:spTgt spid="26"/>
                                        </p:tgtEl>
                                        <p:attrNameLst>
                                          <p:attrName>style.visibility</p:attrName>
                                        </p:attrNameLst>
                                      </p:cBhvr>
                                      <p:to>
                                        <p:strVal val="visible"/>
                                      </p:to>
                                    </p:set>
                                    <p:animEffect transition="in" filter="fade">
                                      <p:cBhvr>
                                        <p:cTn id="131" dur="600"/>
                                        <p:tgtEl>
                                          <p:spTgt spid="26"/>
                                        </p:tgtEl>
                                      </p:cBhvr>
                                    </p:animEffect>
                                    <p:anim calcmode="lin" valueType="num">
                                      <p:cBhvr>
                                        <p:cTn id="132" dur="600" decel="100000" fill="hold"/>
                                        <p:tgtEl>
                                          <p:spTgt spid="26"/>
                                        </p:tgtEl>
                                        <p:attrNameLst>
                                          <p:attrName>ppt_y</p:attrName>
                                        </p:attrNameLst>
                                      </p:cBhvr>
                                      <p:tavLst>
                                        <p:tav tm="0">
                                          <p:val>
                                            <p:strVal val="#ppt_y+0.04"/>
                                          </p:val>
                                        </p:tav>
                                        <p:tav tm="100000">
                                          <p:val>
                                            <p:strVal val="#ppt_y"/>
                                          </p:val>
                                        </p:tav>
                                      </p:tavLst>
                                    </p:anim>
                                  </p:childTnLst>
                                </p:cTn>
                              </p:par>
                            </p:childTnLst>
                          </p:cTn>
                        </p:par>
                        <p:par>
                          <p:cTn id="133" fill="hold">
                            <p:stCondLst>
                              <p:cond delay="0"/>
                            </p:stCondLst>
                            <p:childTnLst>
                              <p:par>
                                <p:cTn id="134" presetID="42" presetClass="entr" presetSubtype="0" fill="hold" grpId="0" nodeType="withEffect">
                                  <p:stCondLst>
                                    <p:cond delay="0"/>
                                  </p:stCondLst>
                                  <p:childTnLst>
                                    <p:set>
                                      <p:cBhvr>
                                        <p:cTn id="135" dur="1" fill="hold">
                                          <p:stCondLst>
                                            <p:cond delay="0"/>
                                          </p:stCondLst>
                                        </p:cTn>
                                        <p:tgtEl>
                                          <p:spTgt spid="27"/>
                                        </p:tgtEl>
                                        <p:attrNameLst>
                                          <p:attrName>style.visibility</p:attrName>
                                        </p:attrNameLst>
                                      </p:cBhvr>
                                      <p:to>
                                        <p:strVal val="visible"/>
                                      </p:to>
                                    </p:set>
                                    <p:animEffect transition="in" filter="fade">
                                      <p:cBhvr>
                                        <p:cTn id="136" dur="600"/>
                                        <p:tgtEl>
                                          <p:spTgt spid="27"/>
                                        </p:tgtEl>
                                      </p:cBhvr>
                                    </p:animEffect>
                                    <p:anim calcmode="lin" valueType="num">
                                      <p:cBhvr>
                                        <p:cTn id="137" dur="600" decel="100000" fill="hold"/>
                                        <p:tgtEl>
                                          <p:spTgt spid="27"/>
                                        </p:tgtEl>
                                        <p:attrNameLst>
                                          <p:attrName>ppt_y</p:attrName>
                                        </p:attrNameLst>
                                      </p:cBhvr>
                                      <p:tavLst>
                                        <p:tav tm="0">
                                          <p:val>
                                            <p:strVal val="#ppt_y+0.04"/>
                                          </p:val>
                                        </p:tav>
                                        <p:tav tm="100000">
                                          <p:val>
                                            <p:strVal val="#ppt_y"/>
                                          </p:val>
                                        </p:tav>
                                      </p:tavLst>
                                    </p:anim>
                                  </p:childTnLst>
                                </p:cTn>
                              </p:par>
                            </p:childTnLst>
                          </p:cTn>
                        </p:par>
                        <p:par>
                          <p:cTn id="138" fill="hold">
                            <p:stCondLst>
                              <p:cond delay="0"/>
                            </p:stCondLst>
                            <p:childTnLst>
                              <p:par>
                                <p:cTn id="139" presetID="42" presetClass="entr" presetSubtype="0" fill="hold" grpId="0" nodeType="withEffect">
                                  <p:stCondLst>
                                    <p:cond delay="0"/>
                                  </p:stCondLst>
                                  <p:childTnLst>
                                    <p:set>
                                      <p:cBhvr>
                                        <p:cTn id="140" dur="1" fill="hold">
                                          <p:stCondLst>
                                            <p:cond delay="0"/>
                                          </p:stCondLst>
                                        </p:cTn>
                                        <p:tgtEl>
                                          <p:spTgt spid="28"/>
                                        </p:tgtEl>
                                        <p:attrNameLst>
                                          <p:attrName>style.visibility</p:attrName>
                                        </p:attrNameLst>
                                      </p:cBhvr>
                                      <p:to>
                                        <p:strVal val="visible"/>
                                      </p:to>
                                    </p:set>
                                    <p:animEffect transition="in" filter="fade">
                                      <p:cBhvr>
                                        <p:cTn id="141" dur="600"/>
                                        <p:tgtEl>
                                          <p:spTgt spid="28"/>
                                        </p:tgtEl>
                                      </p:cBhvr>
                                    </p:animEffect>
                                    <p:anim calcmode="lin" valueType="num">
                                      <p:cBhvr>
                                        <p:cTn id="142" dur="600" decel="100000" fill="hold"/>
                                        <p:tgtEl>
                                          <p:spTgt spid="28"/>
                                        </p:tgtEl>
                                        <p:attrNameLst>
                                          <p:attrName>ppt_y</p:attrName>
                                        </p:attrNameLst>
                                      </p:cBhvr>
                                      <p:tavLst>
                                        <p:tav tm="0">
                                          <p:val>
                                            <p:strVal val="#ppt_y+0.04"/>
                                          </p:val>
                                        </p:tav>
                                        <p:tav tm="100000">
                                          <p:val>
                                            <p:strVal val="#ppt_y"/>
                                          </p:val>
                                        </p:tav>
                                      </p:tavLst>
                                    </p:anim>
                                  </p:childTnLst>
                                </p:cTn>
                              </p:par>
                            </p:childTnLst>
                          </p:cTn>
                        </p:par>
                        <p:par>
                          <p:cTn id="143" fill="hold">
                            <p:stCondLst>
                              <p:cond delay="0"/>
                            </p:stCondLst>
                            <p:childTnLst>
                              <p:par>
                                <p:cTn id="144" presetID="42" presetClass="entr" presetSubtype="0" fill="hold" grpId="0" nodeType="withEffect">
                                  <p:stCondLst>
                                    <p:cond delay="0"/>
                                  </p:stCondLst>
                                  <p:childTnLst>
                                    <p:set>
                                      <p:cBhvr>
                                        <p:cTn id="145" dur="1" fill="hold">
                                          <p:stCondLst>
                                            <p:cond delay="0"/>
                                          </p:stCondLst>
                                        </p:cTn>
                                        <p:tgtEl>
                                          <p:spTgt spid="29"/>
                                        </p:tgtEl>
                                        <p:attrNameLst>
                                          <p:attrName>style.visibility</p:attrName>
                                        </p:attrNameLst>
                                      </p:cBhvr>
                                      <p:to>
                                        <p:strVal val="visible"/>
                                      </p:to>
                                    </p:set>
                                    <p:animEffect transition="in" filter="fade">
                                      <p:cBhvr>
                                        <p:cTn id="146" dur="600"/>
                                        <p:tgtEl>
                                          <p:spTgt spid="29"/>
                                        </p:tgtEl>
                                      </p:cBhvr>
                                    </p:animEffect>
                                    <p:anim calcmode="lin" valueType="num">
                                      <p:cBhvr>
                                        <p:cTn id="147" dur="600" decel="100000" fill="hold"/>
                                        <p:tgtEl>
                                          <p:spTgt spid="29"/>
                                        </p:tgtEl>
                                        <p:attrNameLst>
                                          <p:attrName>ppt_y</p:attrName>
                                        </p:attrNameLst>
                                      </p:cBhvr>
                                      <p:tavLst>
                                        <p:tav tm="0">
                                          <p:val>
                                            <p:strVal val="#ppt_y+0.04"/>
                                          </p:val>
                                        </p:tav>
                                        <p:tav tm="100000">
                                          <p:val>
                                            <p:strVal val="#ppt_y"/>
                                          </p:val>
                                        </p:tav>
                                      </p:tavLst>
                                    </p:anim>
                                  </p:childTnLst>
                                </p:cTn>
                              </p:par>
                            </p:childTnLst>
                          </p:cTn>
                        </p:par>
                        <p:par>
                          <p:cTn id="148" fill="hold">
                            <p:stCondLst>
                              <p:cond delay="0"/>
                            </p:stCondLst>
                            <p:childTnLst>
                              <p:par>
                                <p:cTn id="149" presetID="42" presetClass="entr" presetSubtype="0" fill="hold" grpId="0" nodeType="withEffect">
                                  <p:stCondLst>
                                    <p:cond delay="0"/>
                                  </p:stCondLst>
                                  <p:childTnLst>
                                    <p:set>
                                      <p:cBhvr>
                                        <p:cTn id="150" dur="1" fill="hold">
                                          <p:stCondLst>
                                            <p:cond delay="0"/>
                                          </p:stCondLst>
                                        </p:cTn>
                                        <p:tgtEl>
                                          <p:spTgt spid="30"/>
                                        </p:tgtEl>
                                        <p:attrNameLst>
                                          <p:attrName>style.visibility</p:attrName>
                                        </p:attrNameLst>
                                      </p:cBhvr>
                                      <p:to>
                                        <p:strVal val="visible"/>
                                      </p:to>
                                    </p:set>
                                    <p:animEffect transition="in" filter="fade">
                                      <p:cBhvr>
                                        <p:cTn id="151" dur="600"/>
                                        <p:tgtEl>
                                          <p:spTgt spid="30"/>
                                        </p:tgtEl>
                                      </p:cBhvr>
                                    </p:animEffect>
                                    <p:anim calcmode="lin" valueType="num">
                                      <p:cBhvr>
                                        <p:cTn id="152" dur="600" decel="100000" fill="hold"/>
                                        <p:tgtEl>
                                          <p:spTgt spid="30"/>
                                        </p:tgtEl>
                                        <p:attrNameLst>
                                          <p:attrName>ppt_y</p:attrName>
                                        </p:attrNameLst>
                                      </p:cBhvr>
                                      <p:tavLst>
                                        <p:tav tm="0">
                                          <p:val>
                                            <p:strVal val="#ppt_y+0.04"/>
                                          </p:val>
                                        </p:tav>
                                        <p:tav tm="100000">
                                          <p:val>
                                            <p:strVal val="#ppt_y"/>
                                          </p:val>
                                        </p:tav>
                                      </p:tavLst>
                                    </p:anim>
                                  </p:childTnLst>
                                </p:cTn>
                              </p:par>
                            </p:childTnLst>
                          </p:cTn>
                        </p:par>
                        <p:par>
                          <p:cTn id="153" fill="hold">
                            <p:stCondLst>
                              <p:cond delay="0"/>
                            </p:stCondLst>
                            <p:childTnLst>
                              <p:par>
                                <p:cTn id="154" presetID="42" presetClass="entr" presetSubtype="0" fill="hold" grpId="0" nodeType="withEffect">
                                  <p:stCondLst>
                                    <p:cond delay="0"/>
                                  </p:stCondLst>
                                  <p:childTnLst>
                                    <p:set>
                                      <p:cBhvr>
                                        <p:cTn id="155" dur="1" fill="hold">
                                          <p:stCondLst>
                                            <p:cond delay="0"/>
                                          </p:stCondLst>
                                        </p:cTn>
                                        <p:tgtEl>
                                          <p:spTgt spid="31"/>
                                        </p:tgtEl>
                                        <p:attrNameLst>
                                          <p:attrName>style.visibility</p:attrName>
                                        </p:attrNameLst>
                                      </p:cBhvr>
                                      <p:to>
                                        <p:strVal val="visible"/>
                                      </p:to>
                                    </p:set>
                                    <p:animEffect transition="in" filter="fade">
                                      <p:cBhvr>
                                        <p:cTn id="156" dur="600"/>
                                        <p:tgtEl>
                                          <p:spTgt spid="31"/>
                                        </p:tgtEl>
                                      </p:cBhvr>
                                    </p:animEffect>
                                    <p:anim calcmode="lin" valueType="num">
                                      <p:cBhvr>
                                        <p:cTn id="157" dur="600" decel="100000" fill="hold"/>
                                        <p:tgtEl>
                                          <p:spTgt spid="31"/>
                                        </p:tgtEl>
                                        <p:attrNameLst>
                                          <p:attrName>ppt_y</p:attrName>
                                        </p:attrNameLst>
                                      </p:cBhvr>
                                      <p:tavLst>
                                        <p:tav tm="0">
                                          <p:val>
                                            <p:strVal val="#ppt_y+0.04"/>
                                          </p:val>
                                        </p:tav>
                                        <p:tav tm="100000">
                                          <p:val>
                                            <p:strVal val="#ppt_y"/>
                                          </p:val>
                                        </p:tav>
                                      </p:tavLst>
                                    </p:anim>
                                  </p:childTnLst>
                                </p:cTn>
                              </p:par>
                            </p:childTnLst>
                          </p:cTn>
                        </p:par>
                        <p:par>
                          <p:cTn id="158" fill="hold">
                            <p:stCondLst>
                              <p:cond delay="0"/>
                            </p:stCondLst>
                            <p:childTnLst>
                              <p:par>
                                <p:cTn id="159" presetID="42" presetClass="entr" presetSubtype="0" fill="hold" grpId="0" nodeType="afterEffect">
                                  <p:stCondLst>
                                    <p:cond delay="0"/>
                                  </p:stCondLst>
                                  <p:childTnLst>
                                    <p:set>
                                      <p:cBhvr>
                                        <p:cTn id="160" dur="1" fill="hold">
                                          <p:stCondLst>
                                            <p:cond delay="0"/>
                                          </p:stCondLst>
                                        </p:cTn>
                                        <p:tgtEl>
                                          <p:spTgt spid="32"/>
                                        </p:tgtEl>
                                        <p:attrNameLst>
                                          <p:attrName>style.visibility</p:attrName>
                                        </p:attrNameLst>
                                      </p:cBhvr>
                                      <p:to>
                                        <p:strVal val="visible"/>
                                      </p:to>
                                    </p:set>
                                    <p:animEffect transition="in" filter="fade">
                                      <p:cBhvr>
                                        <p:cTn id="161" dur="600"/>
                                        <p:tgtEl>
                                          <p:spTgt spid="32"/>
                                        </p:tgtEl>
                                      </p:cBhvr>
                                    </p:animEffect>
                                    <p:anim calcmode="lin" valueType="num">
                                      <p:cBhvr>
                                        <p:cTn id="162" dur="600" decel="100000" fill="hold"/>
                                        <p:tgtEl>
                                          <p:spTgt spid="32"/>
                                        </p:tgtEl>
                                        <p:attrNameLst>
                                          <p:attrName>ppt_y</p:attrName>
                                        </p:attrNameLst>
                                      </p:cBhvr>
                                      <p:tavLst>
                                        <p:tav tm="0">
                                          <p:val>
                                            <p:strVal val="#ppt_y+0.04"/>
                                          </p:val>
                                        </p:tav>
                                        <p:tav tm="100000">
                                          <p:val>
                                            <p:strVal val="#ppt_y"/>
                                          </p:val>
                                        </p:tav>
                                      </p:tavLst>
                                    </p:anim>
                                  </p:childTnLst>
                                </p:cTn>
                              </p:par>
                            </p:childTnLst>
                          </p:cTn>
                        </p:par>
                        <p:par>
                          <p:cTn id="163" fill="hold">
                            <p:stCondLst>
                              <p:cond delay="0"/>
                            </p:stCondLst>
                            <p:childTnLst>
                              <p:par>
                                <p:cTn id="164" presetID="42" presetClass="entr" presetSubtype="0" fill="hold" grpId="0" nodeType="withEffect">
                                  <p:stCondLst>
                                    <p:cond delay="0"/>
                                  </p:stCondLst>
                                  <p:childTnLst>
                                    <p:set>
                                      <p:cBhvr>
                                        <p:cTn id="165" dur="1" fill="hold">
                                          <p:stCondLst>
                                            <p:cond delay="0"/>
                                          </p:stCondLst>
                                        </p:cTn>
                                        <p:tgtEl>
                                          <p:spTgt spid="33"/>
                                        </p:tgtEl>
                                        <p:attrNameLst>
                                          <p:attrName>style.visibility</p:attrName>
                                        </p:attrNameLst>
                                      </p:cBhvr>
                                      <p:to>
                                        <p:strVal val="visible"/>
                                      </p:to>
                                    </p:set>
                                    <p:animEffect transition="in" filter="fade">
                                      <p:cBhvr>
                                        <p:cTn id="166" dur="600"/>
                                        <p:tgtEl>
                                          <p:spTgt spid="33"/>
                                        </p:tgtEl>
                                      </p:cBhvr>
                                    </p:animEffect>
                                    <p:anim calcmode="lin" valueType="num">
                                      <p:cBhvr>
                                        <p:cTn id="167" dur="600" decel="100000" fill="hold"/>
                                        <p:tgtEl>
                                          <p:spTgt spid="33"/>
                                        </p:tgtEl>
                                        <p:attrNameLst>
                                          <p:attrName>ppt_y</p:attrName>
                                        </p:attrNameLst>
                                      </p:cBhvr>
                                      <p:tavLst>
                                        <p:tav tm="0">
                                          <p:val>
                                            <p:strVal val="#ppt_y+0.04"/>
                                          </p:val>
                                        </p:tav>
                                        <p:tav tm="100000">
                                          <p:val>
                                            <p:strVal val="#ppt_y"/>
                                          </p:val>
                                        </p:tav>
                                      </p:tavLst>
                                    </p:anim>
                                  </p:childTnLst>
                                </p:cTn>
                              </p:par>
                            </p:childTnLst>
                          </p:cTn>
                        </p:par>
                        <p:par>
                          <p:cTn id="168" fill="hold">
                            <p:stCondLst>
                              <p:cond delay="0"/>
                            </p:stCondLst>
                            <p:childTnLst>
                              <p:par>
                                <p:cTn id="169" presetID="42" presetClass="entr" presetSubtype="0" fill="hold" grpId="0" nodeType="withEffect">
                                  <p:stCondLst>
                                    <p:cond delay="0"/>
                                  </p:stCondLst>
                                  <p:childTnLst>
                                    <p:set>
                                      <p:cBhvr>
                                        <p:cTn id="170" dur="1" fill="hold">
                                          <p:stCondLst>
                                            <p:cond delay="0"/>
                                          </p:stCondLst>
                                        </p:cTn>
                                        <p:tgtEl>
                                          <p:spTgt spid="34"/>
                                        </p:tgtEl>
                                        <p:attrNameLst>
                                          <p:attrName>style.visibility</p:attrName>
                                        </p:attrNameLst>
                                      </p:cBhvr>
                                      <p:to>
                                        <p:strVal val="visible"/>
                                      </p:to>
                                    </p:set>
                                    <p:animEffect transition="in" filter="fade">
                                      <p:cBhvr>
                                        <p:cTn id="171" dur="600"/>
                                        <p:tgtEl>
                                          <p:spTgt spid="34"/>
                                        </p:tgtEl>
                                      </p:cBhvr>
                                    </p:animEffect>
                                    <p:anim calcmode="lin" valueType="num">
                                      <p:cBhvr>
                                        <p:cTn id="172" dur="600" decel="100000" fill="hold"/>
                                        <p:tgtEl>
                                          <p:spTgt spid="34"/>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6" grpId="0" animBg="1"/>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9" grpId="0" animBg="1"/>
      <p:bldP spid="30" grpId="0" animBg="1"/>
      <p:bldP spid="31" grpId="0" animBg="1"/>
      <p:bldP spid="32" grpId="0" animBg="1"/>
      <p:bldP spid="34" grpId="0" animBg="1"/>
    </p:bldLst>
  </p:timing>
</p:sld>
</file>

<file path=ppt/theme/theme1.xml><?xml version="1.0" encoding="utf-8"?>
<a:theme xmlns:a="http://schemas.openxmlformats.org/drawingml/2006/main" name="NutriPill">
  <a:themeElements>
    <a:clrScheme name="NutriPill">
      <a:dk1>
        <a:srgbClr val="0B1F3A"/>
      </a:dk1>
      <a:lt1>
        <a:srgbClr val="FFFFFF"/>
      </a:lt1>
      <a:dk2>
        <a:srgbClr val="123A6B"/>
      </a:dk2>
      <a:lt2>
        <a:srgbClr val="EEF6F9"/>
      </a:lt2>
      <a:accent1>
        <a:srgbClr val="14C9A1"/>
      </a:accent1>
      <a:accent2>
        <a:srgbClr val="FF6B4A"/>
      </a:accent2>
      <a:accent3>
        <a:srgbClr val="2A6BD1"/>
      </a:accent3>
      <a:accent4>
        <a:srgbClr val="0FA888"/>
      </a:accent4>
      <a:accent5>
        <a:srgbClr val="8FA3B8"/>
      </a:accent5>
      <a:accent6>
        <a:srgbClr val="F4B740"/>
      </a:accent6>
      <a:hlink>
        <a:srgbClr val="2A6BD1"/>
      </a:hlink>
      <a:folHlink>
        <a:srgbClr val="123A6B"/>
      </a:folHlink>
    </a:clrScheme>
    <a:fontScheme name="NutriPill">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NutriPill Workplace Ethics</dc:title>
  <dc:subject>PptxGenJS Presentation</dc:subject>
  <dc:creator>Dani, Max, William, Miguel</dc:creator>
  <cp:lastModifiedBy>Dani, Max, William, Miguel</cp:lastModifiedBy>
  <cp:revision>1</cp:revision>
  <dcterms:created xsi:type="dcterms:W3CDTF">2026-10-26T23:31:51Z</dcterms:created>
  <dcterms:modified xsi:type="dcterms:W3CDTF">2026-10-26T23:31:51Z</dcterms:modified>
</cp:coreProperties>
</file>