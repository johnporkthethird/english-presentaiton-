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HR Manager, I'm responsible for how people work together at NutriPill, because for us, how we treat people matters as much as what we sell. Our workplace ethics are based on three ideas. First, respect for everyone: every employee is treated with respect, whatever their gender or race, with no exceptions. Second, living our values: we expect our team to follow our core values, which are innovation, caring for the planet and accessibility. And third, our social responsibility doesn't stop with our employees, it includes our customers too. That's why NutriPill is affordable for all income groups, so that everyone can try it and, as our slogan says, lock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VER-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LIGHT-image-2.png"/><Relationship Id="rId3"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DARK-image-2.pn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english-presentaiton-/38e25695-43d6-5158-a0ef-d97df09ff7da/scratchpad/build/assets/logo-dark.png">    </p:cNvPr>
          <p:cNvPicPr>
            <a:picLocks noChangeAspect="1"/>
          </p:cNvPicPr>
          <p:nvPr/>
        </p:nvPicPr>
        <p:blipFill>
          <a:blip r:embed="rId1"/>
          <a:stretch>
            <a:fillRect/>
          </a:stretch>
        </p:blipFill>
        <p:spPr>
          <a:xfrm>
            <a:off x="10378440" y="384048"/>
            <a:ext cx="1316736" cy="365760"/>
          </a:xfrm>
          <a:prstGeom prst="rect">
            <a:avLst/>
          </a:prstGeom>
        </p:spPr>
      </p:pic>
      <p:sp>
        <p:nvSpPr>
          <p:cNvPr id="3" name="Text 0"/>
          <p:cNvSpPr/>
          <p:nvPr>
            <p:ph idx="101" type="body" hasCustomPrompt="1"/>
          </p:nvPr>
        </p:nvSpPr>
        <p:spPr>
          <a:xfrm>
            <a:off x="548640" y="411480"/>
            <a:ext cx="7315200" cy="320040"/>
          </a:xfrm>
          <a:prstGeom prst="rect">
            <a:avLst/>
          </a:prstGeom>
          <a:noFill/>
          <a:ln/>
        </p:spPr>
        <p:txBody>
          <a:bodyPr wrap="square" rtlCol="0"/>
          <a:lstStyle>
            <a:lvl1pPr indent="0" marL="0">
              <a:buNone/>
              <a:defRPr lang="en-US" sz="1300" b="1" spc="400" kern="0" dirty="0">
                <a:solidFill>
                  <a:schemeClr val="accent1"/>
                </a:solidFill>
              </a:defRPr>
            </a:lvl1pPr>
          </a:lstStyle>
          <a:p>
            <a:pPr indent="0" marL="0">
              <a:buNone/>
            </a:pPr>
            <a:endParaRPr lang="en-US" sz="1300" dirty="0"/>
          </a:p>
        </p:txBody>
      </p:sp>
      <p:sp>
        <p:nvSpPr>
          <p:cNvPr id="4" name="Text 0"/>
          <p:cNvSpPr/>
          <p:nvPr>
            <p:ph idx="102" type="title" hasCustomPrompt="1"/>
          </p:nvPr>
        </p:nvSpPr>
        <p:spPr>
          <a:xfrm>
            <a:off x="548640" y="777240"/>
            <a:ext cx="9509760" cy="868680"/>
          </a:xfrm>
          <a:prstGeom prst="rect">
            <a:avLst/>
          </a:prstGeom>
          <a:noFill/>
          <a:ln/>
        </p:spPr>
        <p:txBody>
          <a:bodyPr wrap="square" rtlCol="0"/>
          <a:lstStyle>
            <a:lvl1pPr algn="l" indent="0" marL="0">
              <a:buNone/>
              <a:defRPr lang="en-US" sz="3600" b="1" dirty="0">
                <a:solidFill>
                  <a:schemeClr val="tx1"/>
                </a:solidFill>
                <a:latin typeface="Arial Black" pitchFamily="34" charset="0"/>
                <a:ea typeface="Arial Black" pitchFamily="34" charset="-122"/>
                <a:cs typeface="Arial Black" pitchFamily="34" charset="-120"/>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english-presentaiton-/38e25695-43d6-5158-a0ef-d97df09ff7da/scratchpad/build/assets/logo-light.png">    </p:cNvPr>
          <p:cNvPicPr>
            <a:picLocks noChangeAspect="1"/>
          </p:cNvPicPr>
          <p:nvPr/>
        </p:nvPicPr>
        <p:blipFill>
          <a:blip r:embed="rId1"/>
          <a:stretch>
            <a:fillRect/>
          </a:stretch>
        </p:blipFill>
        <p:spPr>
          <a:xfrm>
            <a:off x="10378440" y="384048"/>
            <a:ext cx="1316736" cy="365760"/>
          </a:xfrm>
          <a:prstGeom prst="rect">
            <a:avLst/>
          </a:prstGeom>
        </p:spPr>
      </p:pic>
      <p:sp>
        <p:nvSpPr>
          <p:cNvPr id="3" name="Text 0"/>
          <p:cNvSpPr/>
          <p:nvPr>
            <p:ph idx="101" type="body" hasCustomPrompt="1"/>
          </p:nvPr>
        </p:nvSpPr>
        <p:spPr>
          <a:xfrm>
            <a:off x="548640" y="411480"/>
            <a:ext cx="7315200" cy="320040"/>
          </a:xfrm>
          <a:prstGeom prst="rect">
            <a:avLst/>
          </a:prstGeom>
          <a:noFill/>
          <a:ln/>
        </p:spPr>
        <p:txBody>
          <a:bodyPr wrap="square" rtlCol="0"/>
          <a:lstStyle>
            <a:lvl1pPr indent="0" marL="0">
              <a:buNone/>
              <a:defRPr lang="en-US" sz="1300" b="1" spc="400" kern="0" dirty="0">
                <a:solidFill>
                  <a:schemeClr val="accent1"/>
                </a:solidFill>
              </a:defRPr>
            </a:lvl1pPr>
          </a:lstStyle>
          <a:p>
            <a:pPr indent="0" marL="0">
              <a:buNone/>
            </a:pPr>
            <a:endParaRPr lang="en-US" sz="1300" dirty="0"/>
          </a:p>
        </p:txBody>
      </p:sp>
      <p:sp>
        <p:nvSpPr>
          <p:cNvPr id="4" name="Text 0"/>
          <p:cNvSpPr/>
          <p:nvPr>
            <p:ph idx="102" type="title" hasCustomPrompt="1"/>
          </p:nvPr>
        </p:nvSpPr>
        <p:spPr>
          <a:xfrm>
            <a:off x="548640" y="777240"/>
            <a:ext cx="9509760" cy="868680"/>
          </a:xfrm>
          <a:prstGeom prst="rect">
            <a:avLst/>
          </a:prstGeom>
          <a:noFill/>
          <a:ln/>
        </p:spPr>
        <p:txBody>
          <a:bodyPr wrap="square" rtlCol="0"/>
          <a:lstStyle>
            <a:lvl1pPr algn="l" indent="0" marL="0">
              <a:buNone/>
              <a:defRPr lang="en-US" sz="3600" b="1" dirty="0">
                <a:solidFill>
                  <a:schemeClr val="bg1"/>
                </a:solidFill>
                <a:latin typeface="Arial Black" pitchFamily="34" charset="0"/>
                <a:ea typeface="Arial Black" pitchFamily="34" charset="-122"/>
                <a:cs typeface="Arial Black" pitchFamily="34" charset="-120"/>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8"/>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8"/>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slideLayout" Target="../slideLayouts/slideLayout4.xml"/><Relationship Id="rId8"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2" type="title" hasCustomPrompt="1"/>
          </p:nvPr>
        </p:nvSpPr>
        <p:spPr>
          <a:xfrm>
            <a:off x="548640" y="777240"/>
            <a:ext cx="9509760" cy="868680"/>
          </a:xfrm>
          <a:prstGeom prst="rect">
            <a:avLst/>
          </a:prstGeom>
          <a:noFill/>
          <a:ln/>
        </p:spPr>
        <p:txBody>
          <a:bodyPr wrap="square" lIns="0" tIns="0" rIns="0" bIns="0" rtlCol="0" anchor="ctr"/>
          <a:lstStyle/>
          <a:p>
            <a:pPr algn="l" indent="0" marL="0">
              <a:buNone/>
            </a:pPr>
            <a:r>
              <a:rPr lang="en-US" sz="3600" b="1" dirty="0">
                <a:solidFill>
                  <a:schemeClr val="bg1"/>
                </a:solidFill>
                <a:latin typeface="Arial Black" pitchFamily="34" charset="0"/>
                <a:ea typeface="Arial Black" pitchFamily="34" charset="-122"/>
                <a:cs typeface="Arial Black" pitchFamily="34" charset="-120"/>
              </a:rPr>
              <a:t>Workplace Ethics &amp; Social Responsibility</a:t>
            </a:r>
            <a:endParaRPr lang="en-US" sz="3600" dirty="0"/>
          </a:p>
        </p:txBody>
      </p:sp>
      <p:pic>
        <p:nvPicPr>
          <p:cNvPr id="3" name="a1_deco" descr="/tmp/claude-0/-home-user-english-presentaiton-/38e25695-43d6-5158-a0ef-d97df09ff7da/scratchpad/build/assets/hero.png">    </p:cNvPr>
          <p:cNvPicPr>
            <a:picLocks noChangeAspect="1"/>
          </p:cNvPicPr>
          <p:nvPr/>
        </p:nvPicPr>
        <p:blipFill>
          <a:blip r:embed="rId1">
            <a:alphaModFix amt="80000"/>
          </a:blip>
          <a:stretch>
            <a:fillRect/>
          </a:stretch>
        </p:blipFill>
        <p:spPr>
          <a:xfrm>
            <a:off x="-914400" y="4617720"/>
            <a:ext cx="3566160" cy="3566160"/>
          </a:xfrm>
          <a:prstGeom prst="rect">
            <a:avLst/>
          </a:prstGeom>
        </p:spPr>
      </p:pic>
      <p:sp>
        <p:nvSpPr>
          <p:cNvPr id="4" name="a2_k"/>
          <p:cNvSpPr txBox="1"/>
          <p:nvPr/>
        </p:nvSpPr>
        <p:spPr>
          <a:xfrm>
            <a:off x="548640" y="1874520"/>
            <a:ext cx="4572000" cy="320040"/>
          </a:xfrm>
          <a:prstGeom prst="rect">
            <a:avLst/>
          </a:prstGeom>
          <a:noFill/>
          <a:ln/>
        </p:spPr>
        <p:txBody>
          <a:bodyPr wrap="square" lIns="0" tIns="0" rIns="0" bIns="0" rtlCol="0" anchor="t"/>
          <a:lstStyle/>
          <a:p>
            <a:pPr indent="0" marL="0">
              <a:buNone/>
            </a:pPr>
            <a:r>
              <a:rPr lang="en-US" sz="1300" b="1" spc="400" kern="0" dirty="0">
                <a:solidFill>
                  <a:srgbClr val="14C9A1"/>
                </a:solidFill>
                <a:latin typeface="Calibri" pitchFamily="34" charset="0"/>
                <a:ea typeface="Calibri" pitchFamily="34" charset="-122"/>
                <a:cs typeface="Calibri" pitchFamily="34" charset="-120"/>
              </a:rPr>
              <a:t>HOW WE WORK</a:t>
            </a:r>
            <a:endParaRPr lang="en-US" sz="1300" dirty="0"/>
          </a:p>
        </p:txBody>
      </p:sp>
      <p:sp>
        <p:nvSpPr>
          <p:cNvPr id="5" name="a3_quote"/>
          <p:cNvSpPr txBox="1"/>
          <p:nvPr/>
        </p:nvSpPr>
        <p:spPr>
          <a:xfrm>
            <a:off x="548640" y="2240280"/>
            <a:ext cx="4663440" cy="1737360"/>
          </a:xfrm>
          <a:prstGeom prst="rect">
            <a:avLst/>
          </a:prstGeom>
          <a:noFill/>
          <a:ln/>
        </p:spPr>
        <p:txBody>
          <a:bodyPr wrap="square" lIns="0" tIns="0" rIns="0" bIns="0" rtlCol="0" anchor="t"/>
          <a:lstStyle/>
          <a:p>
            <a:pPr indent="0" marL="0">
              <a:buNone/>
            </a:pPr>
            <a:r>
              <a:rPr lang="en-US" sz="3000" b="1" dirty="0">
                <a:solidFill>
                  <a:srgbClr val="FFFFFF"/>
                </a:solidFill>
                <a:latin typeface="Calibri" pitchFamily="34" charset="0"/>
                <a:ea typeface="Calibri" pitchFamily="34" charset="-122"/>
                <a:cs typeface="Calibri" pitchFamily="34" charset="-120"/>
              </a:rPr>
              <a:t>At NutriPill, how we treat people </a:t>
            </a:r>
            <a:pPr indent="0" marL="0">
              <a:buNone/>
            </a:pPr>
            <a:r>
              <a:rPr lang="en-US" sz="3000" b="1" dirty="0">
                <a:solidFill>
                  <a:srgbClr val="14C9A1"/>
                </a:solidFill>
                <a:latin typeface="Calibri" pitchFamily="34" charset="0"/>
                <a:ea typeface="Calibri" pitchFamily="34" charset="-122"/>
                <a:cs typeface="Calibri" pitchFamily="34" charset="-120"/>
              </a:rPr>
              <a:t>matters as much as</a:t>
            </a:r>
            <a:pPr indent="0" marL="0">
              <a:buNone/>
            </a:pPr>
            <a:r>
              <a:rPr lang="en-US" sz="3000" b="1" dirty="0">
                <a:solidFill>
                  <a:srgbClr val="FFFFFF"/>
                </a:solidFill>
                <a:latin typeface="Calibri" pitchFamily="34" charset="0"/>
                <a:ea typeface="Calibri" pitchFamily="34" charset="-122"/>
                <a:cs typeface="Calibri" pitchFamily="34" charset="-120"/>
              </a:rPr>
              <a:t> what we sell.</a:t>
            </a:r>
            <a:endParaRPr lang="en-US" sz="3000" dirty="0"/>
          </a:p>
        </p:txBody>
      </p:sp>
      <p:pic>
        <p:nvPicPr>
          <p:cNvPr id="6" name="a4_mark" descr="NutriPill logo">    </p:cNvPr>
          <p:cNvPicPr>
            <a:picLocks noChangeAspect="1"/>
          </p:cNvPicPr>
          <p:nvPr/>
        </p:nvPicPr>
        <p:blipFill>
          <a:blip r:embed="rId2"/>
          <a:stretch>
            <a:fillRect/>
          </a:stretch>
        </p:blipFill>
        <p:spPr>
          <a:xfrm>
            <a:off x="502920" y="4160520"/>
            <a:ext cx="640080" cy="640080"/>
          </a:xfrm>
          <a:prstGeom prst="rect">
            <a:avLst/>
          </a:prstGeom>
        </p:spPr>
      </p:pic>
      <p:sp>
        <p:nvSpPr>
          <p:cNvPr id="7" name="a4_sig"/>
          <p:cNvSpPr txBox="1"/>
          <p:nvPr/>
        </p:nvSpPr>
        <p:spPr>
          <a:xfrm>
            <a:off x="1280160" y="4160520"/>
            <a:ext cx="3200400" cy="64008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William</a:t>
            </a:r>
            <a:endParaRPr lang="en-US" sz="1500" dirty="0"/>
          </a:p>
          <a:p>
            <a:pPr indent="0" marL="0">
              <a:buNone/>
            </a:pPr>
            <a:r>
              <a:rPr lang="en-US" sz="1500" dirty="0">
                <a:solidFill>
                  <a:srgbClr val="B8C7D9"/>
                </a:solidFill>
                <a:latin typeface="Calibri" pitchFamily="34" charset="0"/>
                <a:ea typeface="Calibri" pitchFamily="34" charset="-122"/>
                <a:cs typeface="Calibri" pitchFamily="34" charset="-120"/>
              </a:rPr>
              <a:t>HR Manager, NutriPill</a:t>
            </a:r>
            <a:endParaRPr lang="en-US" sz="1500" dirty="0"/>
          </a:p>
        </p:txBody>
      </p:sp>
      <p:sp>
        <p:nvSpPr>
          <p:cNvPr id="8" name="a5_body"/>
          <p:cNvSpPr/>
          <p:nvPr/>
        </p:nvSpPr>
        <p:spPr>
          <a:xfrm>
            <a:off x="5623560" y="1874520"/>
            <a:ext cx="5897880" cy="1097280"/>
          </a:xfrm>
          <a:prstGeom prst="roundRect">
            <a:avLst>
              <a:gd name="adj" fmla="val 50000"/>
            </a:avLst>
          </a:prstGeom>
          <a:solidFill>
            <a:srgbClr val="FFFFFF"/>
          </a:solidFill>
          <a:ln/>
          <a:effectLst>
            <a:outerShdw sx="100000" sy="100000" kx="0" ky="0" algn="bl" rotWithShape="0" blurRad="228600" dist="76200" dir="5400000">
              <a:srgbClr val="000000">
                <a:alpha val="30000"/>
              </a:srgbClr>
            </a:outerShdw>
          </a:effectLst>
        </p:spPr>
      </p:sp>
      <p:sp>
        <p:nvSpPr>
          <p:cNvPr id="9" name="a5_half"/>
          <p:cNvSpPr/>
          <p:nvPr/>
        </p:nvSpPr>
        <p:spPr>
          <a:xfrm>
            <a:off x="5623560" y="1874520"/>
            <a:ext cx="1554480" cy="1097280"/>
          </a:xfrm>
          <a:prstGeom prst="roundRect">
            <a:avLst>
              <a:gd name="adj" fmla="val 50000"/>
            </a:avLst>
          </a:prstGeom>
          <a:solidFill>
            <a:srgbClr val="14C9A1"/>
          </a:solidFill>
          <a:ln/>
        </p:spPr>
      </p:sp>
      <p:sp>
        <p:nvSpPr>
          <p:cNvPr id="10" name="a5_halfsq"/>
          <p:cNvSpPr/>
          <p:nvPr/>
        </p:nvSpPr>
        <p:spPr>
          <a:xfrm>
            <a:off x="6629400" y="1874520"/>
            <a:ext cx="548640" cy="1097280"/>
          </a:xfrm>
          <a:prstGeom prst="rect">
            <a:avLst/>
          </a:prstGeom>
          <a:solidFill>
            <a:srgbClr val="14C9A1"/>
          </a:solidFill>
          <a:ln/>
        </p:spPr>
      </p:sp>
      <p:sp>
        <p:nvSpPr>
          <p:cNvPr id="11" name="a5_seam"/>
          <p:cNvSpPr/>
          <p:nvPr/>
        </p:nvSpPr>
        <p:spPr>
          <a:xfrm>
            <a:off x="7178040" y="1874520"/>
            <a:ext cx="0" cy="1097280"/>
          </a:xfrm>
          <a:prstGeom prst="line">
            <a:avLst/>
          </a:prstGeom>
          <a:noFill/>
          <a:ln w="12700">
            <a:solidFill>
              <a:srgbClr val="0B1F3A">
                <a:alpha val="15000"/>
              </a:srgbClr>
            </a:solidFill>
            <a:prstDash val="solid"/>
          </a:ln>
        </p:spPr>
      </p:sp>
      <p:pic>
        <p:nvPicPr>
          <p:cNvPr id="12" name="a5_icon" descr="Respect for everyone">    </p:cNvPr>
          <p:cNvPicPr>
            <a:picLocks noChangeAspect="1"/>
          </p:cNvPicPr>
          <p:nvPr/>
        </p:nvPicPr>
        <p:blipFill>
          <a:blip r:embed="rId3"/>
          <a:stretch>
            <a:fillRect/>
          </a:stretch>
        </p:blipFill>
        <p:spPr>
          <a:xfrm>
            <a:off x="6190488" y="2203704"/>
            <a:ext cx="438912" cy="438912"/>
          </a:xfrm>
          <a:prstGeom prst="rect">
            <a:avLst/>
          </a:prstGeom>
        </p:spPr>
      </p:pic>
      <p:sp>
        <p:nvSpPr>
          <p:cNvPr id="13" name="a5_h"/>
          <p:cNvSpPr txBox="1"/>
          <p:nvPr/>
        </p:nvSpPr>
        <p:spPr>
          <a:xfrm>
            <a:off x="7406640" y="2002536"/>
            <a:ext cx="3886200" cy="365760"/>
          </a:xfrm>
          <a:prstGeom prst="rect">
            <a:avLst/>
          </a:prstGeom>
          <a:noFill/>
          <a:ln/>
        </p:spPr>
        <p:txBody>
          <a:bodyPr wrap="square" lIns="0" tIns="0" rIns="0" bIns="0" rtlCol="0" anchor="t"/>
          <a:lstStyle/>
          <a:p>
            <a:pPr indent="0" marL="0">
              <a:buNone/>
            </a:pPr>
            <a:r>
              <a:rPr lang="en-US" sz="1900" b="1" dirty="0">
                <a:solidFill>
                  <a:srgbClr val="0B1F3A"/>
                </a:solidFill>
                <a:latin typeface="Calibri" pitchFamily="34" charset="0"/>
                <a:ea typeface="Calibri" pitchFamily="34" charset="-122"/>
                <a:cs typeface="Calibri" pitchFamily="34" charset="-120"/>
              </a:rPr>
              <a:t>Respect for everyone</a:t>
            </a:r>
            <a:endParaRPr lang="en-US" sz="1900" dirty="0"/>
          </a:p>
        </p:txBody>
      </p:sp>
      <p:sp>
        <p:nvSpPr>
          <p:cNvPr id="14" name="a5_d"/>
          <p:cNvSpPr txBox="1"/>
          <p:nvPr/>
        </p:nvSpPr>
        <p:spPr>
          <a:xfrm>
            <a:off x="7406640" y="2368296"/>
            <a:ext cx="3886200" cy="502920"/>
          </a:xfrm>
          <a:prstGeom prst="rect">
            <a:avLst/>
          </a:prstGeom>
          <a:noFill/>
          <a:ln/>
        </p:spPr>
        <p:txBody>
          <a:bodyPr wrap="square" lIns="0" tIns="0" rIns="0" bIns="0" rtlCol="0" anchor="t"/>
          <a:lstStyle/>
          <a:p>
            <a:pPr indent="0" marL="0">
              <a:buNone/>
            </a:pPr>
            <a:r>
              <a:rPr lang="en-US" sz="1400" dirty="0">
                <a:solidFill>
                  <a:srgbClr val="5B6B80"/>
                </a:solidFill>
                <a:latin typeface="Calibri" pitchFamily="34" charset="0"/>
                <a:ea typeface="Calibri" pitchFamily="34" charset="-122"/>
                <a:cs typeface="Calibri" pitchFamily="34" charset="-120"/>
              </a:rPr>
              <a:t>Everyone is treated with respect, whatever their gender or race. No exceptions.</a:t>
            </a:r>
            <a:endParaRPr lang="en-US" sz="1400" dirty="0"/>
          </a:p>
        </p:txBody>
      </p:sp>
      <p:sp>
        <p:nvSpPr>
          <p:cNvPr id="15" name="a6_body"/>
          <p:cNvSpPr/>
          <p:nvPr/>
        </p:nvSpPr>
        <p:spPr>
          <a:xfrm>
            <a:off x="5623560" y="3200400"/>
            <a:ext cx="5897880" cy="1097280"/>
          </a:xfrm>
          <a:prstGeom prst="roundRect">
            <a:avLst>
              <a:gd name="adj" fmla="val 50000"/>
            </a:avLst>
          </a:prstGeom>
          <a:solidFill>
            <a:srgbClr val="FFFFFF"/>
          </a:solidFill>
          <a:ln/>
          <a:effectLst>
            <a:outerShdw sx="100000" sy="100000" kx="0" ky="0" algn="bl" rotWithShape="0" blurRad="228600" dist="76200" dir="5400000">
              <a:srgbClr val="000000">
                <a:alpha val="30000"/>
              </a:srgbClr>
            </a:outerShdw>
          </a:effectLst>
        </p:spPr>
      </p:sp>
      <p:sp>
        <p:nvSpPr>
          <p:cNvPr id="16" name="a6_half"/>
          <p:cNvSpPr/>
          <p:nvPr/>
        </p:nvSpPr>
        <p:spPr>
          <a:xfrm>
            <a:off x="5623560" y="3200400"/>
            <a:ext cx="1554480" cy="1097280"/>
          </a:xfrm>
          <a:prstGeom prst="roundRect">
            <a:avLst>
              <a:gd name="adj" fmla="val 50000"/>
            </a:avLst>
          </a:prstGeom>
          <a:solidFill>
            <a:srgbClr val="2E9E5B"/>
          </a:solidFill>
          <a:ln/>
        </p:spPr>
      </p:sp>
      <p:sp>
        <p:nvSpPr>
          <p:cNvPr id="17" name="a6_halfsq"/>
          <p:cNvSpPr/>
          <p:nvPr/>
        </p:nvSpPr>
        <p:spPr>
          <a:xfrm>
            <a:off x="6629400" y="3200400"/>
            <a:ext cx="548640" cy="1097280"/>
          </a:xfrm>
          <a:prstGeom prst="rect">
            <a:avLst/>
          </a:prstGeom>
          <a:solidFill>
            <a:srgbClr val="2E9E5B"/>
          </a:solidFill>
          <a:ln/>
        </p:spPr>
      </p:sp>
      <p:sp>
        <p:nvSpPr>
          <p:cNvPr id="18" name="a6_seam"/>
          <p:cNvSpPr/>
          <p:nvPr/>
        </p:nvSpPr>
        <p:spPr>
          <a:xfrm>
            <a:off x="7178040" y="3200400"/>
            <a:ext cx="0" cy="1097280"/>
          </a:xfrm>
          <a:prstGeom prst="line">
            <a:avLst/>
          </a:prstGeom>
          <a:noFill/>
          <a:ln w="12700">
            <a:solidFill>
              <a:srgbClr val="0B1F3A">
                <a:alpha val="15000"/>
              </a:srgbClr>
            </a:solidFill>
            <a:prstDash val="solid"/>
          </a:ln>
        </p:spPr>
      </p:sp>
      <p:pic>
        <p:nvPicPr>
          <p:cNvPr id="19" name="a6_icon" descr="Living our values">    </p:cNvPr>
          <p:cNvPicPr>
            <a:picLocks noChangeAspect="1"/>
          </p:cNvPicPr>
          <p:nvPr/>
        </p:nvPicPr>
        <p:blipFill>
          <a:blip r:embed="rId4"/>
          <a:stretch>
            <a:fillRect/>
          </a:stretch>
        </p:blipFill>
        <p:spPr>
          <a:xfrm>
            <a:off x="6190488" y="3529584"/>
            <a:ext cx="438912" cy="438912"/>
          </a:xfrm>
          <a:prstGeom prst="rect">
            <a:avLst/>
          </a:prstGeom>
        </p:spPr>
      </p:pic>
      <p:sp>
        <p:nvSpPr>
          <p:cNvPr id="20" name="a6_h"/>
          <p:cNvSpPr txBox="1"/>
          <p:nvPr/>
        </p:nvSpPr>
        <p:spPr>
          <a:xfrm>
            <a:off x="7406640" y="3328416"/>
            <a:ext cx="3886200" cy="365760"/>
          </a:xfrm>
          <a:prstGeom prst="rect">
            <a:avLst/>
          </a:prstGeom>
          <a:noFill/>
          <a:ln/>
        </p:spPr>
        <p:txBody>
          <a:bodyPr wrap="square" lIns="0" tIns="0" rIns="0" bIns="0" rtlCol="0" anchor="t"/>
          <a:lstStyle/>
          <a:p>
            <a:pPr indent="0" marL="0">
              <a:buNone/>
            </a:pPr>
            <a:r>
              <a:rPr lang="en-US" sz="1900" b="1" dirty="0">
                <a:solidFill>
                  <a:srgbClr val="0B1F3A"/>
                </a:solidFill>
                <a:latin typeface="Calibri" pitchFamily="34" charset="0"/>
                <a:ea typeface="Calibri" pitchFamily="34" charset="-122"/>
                <a:cs typeface="Calibri" pitchFamily="34" charset="-120"/>
              </a:rPr>
              <a:t>Living our values</a:t>
            </a:r>
            <a:endParaRPr lang="en-US" sz="1900" dirty="0"/>
          </a:p>
        </p:txBody>
      </p:sp>
      <p:sp>
        <p:nvSpPr>
          <p:cNvPr id="21" name="a6_d"/>
          <p:cNvSpPr txBox="1"/>
          <p:nvPr/>
        </p:nvSpPr>
        <p:spPr>
          <a:xfrm>
            <a:off x="7406640" y="3694176"/>
            <a:ext cx="3886200" cy="502920"/>
          </a:xfrm>
          <a:prstGeom prst="rect">
            <a:avLst/>
          </a:prstGeom>
          <a:noFill/>
          <a:ln/>
        </p:spPr>
        <p:txBody>
          <a:bodyPr wrap="square" lIns="0" tIns="0" rIns="0" bIns="0" rtlCol="0" anchor="t"/>
          <a:lstStyle/>
          <a:p>
            <a:pPr indent="0" marL="0">
              <a:buNone/>
            </a:pPr>
            <a:r>
              <a:rPr lang="en-US" sz="1400" dirty="0">
                <a:solidFill>
                  <a:srgbClr val="5B6B80"/>
                </a:solidFill>
                <a:latin typeface="Calibri" pitchFamily="34" charset="0"/>
                <a:ea typeface="Calibri" pitchFamily="34" charset="-122"/>
                <a:cs typeface="Calibri" pitchFamily="34" charset="-120"/>
              </a:rPr>
              <a:t>Our team follows our core values: innovation, caring for the planet and accessibility.</a:t>
            </a:r>
            <a:endParaRPr lang="en-US" sz="1400" dirty="0"/>
          </a:p>
        </p:txBody>
      </p:sp>
      <p:sp>
        <p:nvSpPr>
          <p:cNvPr id="22" name="a7_body"/>
          <p:cNvSpPr/>
          <p:nvPr/>
        </p:nvSpPr>
        <p:spPr>
          <a:xfrm>
            <a:off x="5623560" y="4526280"/>
            <a:ext cx="5897880" cy="1097280"/>
          </a:xfrm>
          <a:prstGeom prst="roundRect">
            <a:avLst>
              <a:gd name="adj" fmla="val 50000"/>
            </a:avLst>
          </a:prstGeom>
          <a:solidFill>
            <a:srgbClr val="FFFFFF"/>
          </a:solidFill>
          <a:ln/>
          <a:effectLst>
            <a:outerShdw sx="100000" sy="100000" kx="0" ky="0" algn="bl" rotWithShape="0" blurRad="228600" dist="76200" dir="5400000">
              <a:srgbClr val="000000">
                <a:alpha val="30000"/>
              </a:srgbClr>
            </a:outerShdw>
          </a:effectLst>
        </p:spPr>
      </p:sp>
      <p:sp>
        <p:nvSpPr>
          <p:cNvPr id="23" name="a7_half"/>
          <p:cNvSpPr/>
          <p:nvPr/>
        </p:nvSpPr>
        <p:spPr>
          <a:xfrm>
            <a:off x="5623560" y="4526280"/>
            <a:ext cx="1554480" cy="1097280"/>
          </a:xfrm>
          <a:prstGeom prst="roundRect">
            <a:avLst>
              <a:gd name="adj" fmla="val 50000"/>
            </a:avLst>
          </a:prstGeom>
          <a:solidFill>
            <a:srgbClr val="FF6B4A"/>
          </a:solidFill>
          <a:ln/>
        </p:spPr>
      </p:sp>
      <p:sp>
        <p:nvSpPr>
          <p:cNvPr id="24" name="a7_halfsq"/>
          <p:cNvSpPr/>
          <p:nvPr/>
        </p:nvSpPr>
        <p:spPr>
          <a:xfrm>
            <a:off x="6629400" y="4526280"/>
            <a:ext cx="548640" cy="1097280"/>
          </a:xfrm>
          <a:prstGeom prst="rect">
            <a:avLst/>
          </a:prstGeom>
          <a:solidFill>
            <a:srgbClr val="FF6B4A"/>
          </a:solidFill>
          <a:ln/>
        </p:spPr>
      </p:sp>
      <p:sp>
        <p:nvSpPr>
          <p:cNvPr id="25" name="a7_seam"/>
          <p:cNvSpPr/>
          <p:nvPr/>
        </p:nvSpPr>
        <p:spPr>
          <a:xfrm>
            <a:off x="7178040" y="4526280"/>
            <a:ext cx="0" cy="1097280"/>
          </a:xfrm>
          <a:prstGeom prst="line">
            <a:avLst/>
          </a:prstGeom>
          <a:noFill/>
          <a:ln w="12700">
            <a:solidFill>
              <a:srgbClr val="0B1F3A">
                <a:alpha val="15000"/>
              </a:srgbClr>
            </a:solidFill>
            <a:prstDash val="solid"/>
          </a:ln>
        </p:spPr>
      </p:sp>
      <p:pic>
        <p:nvPicPr>
          <p:cNvPr id="26" name="a7_icon" descr="Prices for every pocket">    </p:cNvPr>
          <p:cNvPicPr>
            <a:picLocks noChangeAspect="1"/>
          </p:cNvPicPr>
          <p:nvPr/>
        </p:nvPicPr>
        <p:blipFill>
          <a:blip r:embed="rId5"/>
          <a:stretch>
            <a:fillRect/>
          </a:stretch>
        </p:blipFill>
        <p:spPr>
          <a:xfrm>
            <a:off x="6190488" y="4855464"/>
            <a:ext cx="438912" cy="438912"/>
          </a:xfrm>
          <a:prstGeom prst="rect">
            <a:avLst/>
          </a:prstGeom>
        </p:spPr>
      </p:pic>
      <p:sp>
        <p:nvSpPr>
          <p:cNvPr id="27" name="a7_h"/>
          <p:cNvSpPr txBox="1"/>
          <p:nvPr/>
        </p:nvSpPr>
        <p:spPr>
          <a:xfrm>
            <a:off x="7406640" y="4654296"/>
            <a:ext cx="3886200" cy="365760"/>
          </a:xfrm>
          <a:prstGeom prst="rect">
            <a:avLst/>
          </a:prstGeom>
          <a:noFill/>
          <a:ln/>
        </p:spPr>
        <p:txBody>
          <a:bodyPr wrap="square" lIns="0" tIns="0" rIns="0" bIns="0" rtlCol="0" anchor="t"/>
          <a:lstStyle/>
          <a:p>
            <a:pPr indent="0" marL="0">
              <a:buNone/>
            </a:pPr>
            <a:r>
              <a:rPr lang="en-US" sz="1900" b="1" dirty="0">
                <a:solidFill>
                  <a:srgbClr val="0B1F3A"/>
                </a:solidFill>
                <a:latin typeface="Calibri" pitchFamily="34" charset="0"/>
                <a:ea typeface="Calibri" pitchFamily="34" charset="-122"/>
                <a:cs typeface="Calibri" pitchFamily="34" charset="-120"/>
              </a:rPr>
              <a:t>Prices for every pocket</a:t>
            </a:r>
            <a:endParaRPr lang="en-US" sz="1900" dirty="0"/>
          </a:p>
        </p:txBody>
      </p:sp>
      <p:sp>
        <p:nvSpPr>
          <p:cNvPr id="28" name="a7_d"/>
          <p:cNvSpPr txBox="1"/>
          <p:nvPr/>
        </p:nvSpPr>
        <p:spPr>
          <a:xfrm>
            <a:off x="7406640" y="5020056"/>
            <a:ext cx="3886200" cy="502920"/>
          </a:xfrm>
          <a:prstGeom prst="rect">
            <a:avLst/>
          </a:prstGeom>
          <a:noFill/>
          <a:ln/>
        </p:spPr>
        <p:txBody>
          <a:bodyPr wrap="square" lIns="0" tIns="0" rIns="0" bIns="0" rtlCol="0" anchor="t"/>
          <a:lstStyle/>
          <a:p>
            <a:pPr indent="0" marL="0">
              <a:buNone/>
            </a:pPr>
            <a:r>
              <a:rPr lang="en-US" sz="1400" dirty="0">
                <a:solidFill>
                  <a:srgbClr val="5B6B80"/>
                </a:solidFill>
                <a:latin typeface="Calibri" pitchFamily="34" charset="0"/>
                <a:ea typeface="Calibri" pitchFamily="34" charset="-122"/>
                <a:cs typeface="Calibri" pitchFamily="34" charset="-120"/>
              </a:rPr>
              <a:t>NutriPill is affordable for all income groups, so everyone can try it.</a:t>
            </a:r>
            <a:endParaRPr lang="en-US" sz="1400" dirty="0"/>
          </a:p>
        </p:txBody>
      </p:sp>
      <p:sp>
        <p:nvSpPr>
          <p:cNvPr id="29" name="a8_chip"/>
          <p:cNvSpPr/>
          <p:nvPr/>
        </p:nvSpPr>
        <p:spPr>
          <a:xfrm>
            <a:off x="5623560" y="5897880"/>
            <a:ext cx="5897880" cy="502920"/>
          </a:xfrm>
          <a:prstGeom prst="roundRect">
            <a:avLst>
              <a:gd name="adj" fmla="val 49091"/>
            </a:avLst>
          </a:prstGeom>
          <a:solidFill>
            <a:srgbClr val="14C9A1">
              <a:alpha val="15000"/>
            </a:srgbClr>
          </a:solidFill>
          <a:ln w="15875">
            <a:solidFill>
              <a:srgbClr val="14C9A1"/>
            </a:solidFill>
            <a:prstDash val="solid"/>
          </a:ln>
        </p:spPr>
      </p:sp>
      <p:pic>
        <p:nvPicPr>
          <p:cNvPr id="30" name="a8_lock" descr="lock">    </p:cNvPr>
          <p:cNvPicPr>
            <a:picLocks noChangeAspect="1"/>
          </p:cNvPicPr>
          <p:nvPr/>
        </p:nvPicPr>
        <p:blipFill>
          <a:blip r:embed="rId6"/>
          <a:stretch>
            <a:fillRect/>
          </a:stretch>
        </p:blipFill>
        <p:spPr>
          <a:xfrm>
            <a:off x="5852160" y="6016752"/>
            <a:ext cx="265176" cy="265176"/>
          </a:xfrm>
          <a:prstGeom prst="rect">
            <a:avLst/>
          </a:prstGeom>
        </p:spPr>
      </p:pic>
      <p:sp>
        <p:nvSpPr>
          <p:cNvPr id="31" name="a8_t"/>
          <p:cNvSpPr txBox="1"/>
          <p:nvPr/>
        </p:nvSpPr>
        <p:spPr>
          <a:xfrm>
            <a:off x="6263640" y="5897880"/>
            <a:ext cx="5120640" cy="50292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Everyone can </a:t>
            </a:r>
            <a:pPr indent="0" marL="0">
              <a:buNone/>
            </a:pPr>
            <a:r>
              <a:rPr lang="en-US" sz="1500" b="1" dirty="0">
                <a:solidFill>
                  <a:srgbClr val="14C9A1"/>
                </a:solidFill>
                <a:latin typeface="Calibri" pitchFamily="34" charset="0"/>
                <a:ea typeface="Calibri" pitchFamily="34" charset="-122"/>
                <a:cs typeface="Calibri" pitchFamily="34" charset="-120"/>
              </a:rPr>
              <a:t>LOCK IN</a:t>
            </a:r>
            <a:pPr indent="0" marL="0">
              <a:buNone/>
            </a:pPr>
            <a:r>
              <a:rPr lang="en-US" sz="1500" i="1" dirty="0">
                <a:solidFill>
                  <a:srgbClr val="FFFFFF"/>
                </a:solidFill>
                <a:latin typeface="Calibri" pitchFamily="34" charset="0"/>
                <a:ea typeface="Calibri" pitchFamily="34" charset="-122"/>
                <a:cs typeface="Calibri" pitchFamily="34" charset="-120"/>
              </a:rPr>
              <a:t>: 1 pill a day keeps the hunger away!</a:t>
            </a:r>
            <a:endParaRPr lang="en-US" sz="1500" dirty="0"/>
          </a:p>
        </p:txBody>
      </p:sp>
      <p:sp>
        <p:nvSpPr>
          <p:cNvPr id="33" name="Text 0"/>
          <p:cNvSpPr/>
          <p:nvPr>
            <p:ph idx="101" type="body" hasCustomPrompt="1"/>
          </p:nvPr>
        </p:nvSpPr>
        <p:spPr>
          <a:xfrm>
            <a:off x="548640" y="411480"/>
            <a:ext cx="7315200" cy="320040"/>
          </a:xfrm>
          <a:prstGeom prst="rect">
            <a:avLst/>
          </a:prstGeom>
          <a:noFill/>
          <a:ln/>
        </p:spPr>
        <p:txBody>
          <a:bodyPr wrap="square" lIns="0" tIns="0" rIns="0" bIns="0" rtlCol="0" anchor="ctr"/>
          <a:lstStyle/>
          <a:p>
            <a:pPr indent="0" marL="0">
              <a:buNone/>
            </a:pPr>
            <a:endParaRPr lang="en-US" sz="13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8"/>
                </a:solidFill>
              </a:defRPr>
            </a:lvl1pPr>
          </a:lstStyle>
          <a:p>
            <a:pPr algn="r"/>
            <a:fld id="{F7021451-1387-4CA6-816F-3879F97B5CBC}" type="slidenum">
              <a:rPr b="0" lang="en-US"/>
              <a:t>1</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158" fill="hold">
                      <p:stCondLst>
                        <p:cond delay="indefinite"/>
                        <p:cond evt="onBegin" delay="0">
                          <p:tn val="2"/>
                        </p:cond>
                      </p:stCondLst>
                      <p:childTnLst>
                        <p:par>
                          <p:cTn id="3" fill="hold">
                            <p:stCondLst>
                              <p:cond delay="0"/>
                            </p:stCondLst>
                            <p:childTnLst>
                              <p:par>
                                <p:cTn id="4" presetID="42" presetClass="entr" presetSubtype="0" fill="hold" grpId="0" nodeType="afterEffect">
                                  <p:stCondLst>
                                    <p:cond delay="0"/>
                                  </p:stCondLst>
                                  <p:childTnLst>
                                    <p:set>
                                      <p:cBhvr>
                                        <p:cTn id="5" dur="1" fill="hold">
                                          <p:stCondLst>
                                            <p:cond delay="0"/>
                                          </p:stCondLst>
                                        </p:cTn>
                                        <p:tgtEl>
                                          <p:spTgt spid="2"/>
                                        </p:tgtEl>
                                        <p:attrNameLst>
                                          <p:attrName>style.visibility</p:attrName>
                                        </p:attrNameLst>
                                      </p:cBhvr>
                                      <p:to>
                                        <p:strVal val="visible"/>
                                      </p:to>
                                    </p:set>
                                    <p:animEffect transition="in" filter="fade">
                                      <p:cBhvr>
                                        <p:cTn id="6" dur="600"/>
                                        <p:tgtEl>
                                          <p:spTgt spid="2"/>
                                        </p:tgtEl>
                                      </p:cBhvr>
                                    </p:animEffect>
                                    <p:anim calcmode="lin" valueType="num">
                                      <p:cBhvr>
                                        <p:cTn id="7" dur="600" decel="100000" fill="hold"/>
                                        <p:tgtEl>
                                          <p:spTgt spid="2"/>
                                        </p:tgtEl>
                                        <p:attrNameLst>
                                          <p:attrName>ppt_y</p:attrName>
                                        </p:attrNameLst>
                                      </p:cBhvr>
                                      <p:tavLst>
                                        <p:tav tm="0">
                                          <p:val>
                                            <p:strVal val="#ppt_y+0.04"/>
                                          </p:val>
                                        </p:tav>
                                        <p:tav tm="100000">
                                          <p:val>
                                            <p:strVal val="#ppt_y"/>
                                          </p:val>
                                        </p:tav>
                                      </p:tavLst>
                                    </p:anim>
                                  </p:childTnLst>
                                </p:cTn>
                              </p:par>
                            </p:childTnLst>
                          </p:cTn>
                        </p:par>
                        <p:par>
                          <p:cTn id="8" fill="hold">
                            <p:stCondLst>
                              <p:cond delay="0"/>
                            </p:stCondLst>
                            <p:childTnLst>
                              <p:par>
                                <p:cTn id="9" presetID="42" presetClass="entr" presetSubtype="0" fill="hold" grpId="0" nodeType="withEffect">
                                  <p:stCondLst>
                                    <p:cond delay="0"/>
                                  </p:stCondLst>
                                  <p:childTnLst>
                                    <p:set>
                                      <p:cBhvr>
                                        <p:cTn id="10" dur="1" fill="hold">
                                          <p:stCondLst>
                                            <p:cond delay="0"/>
                                          </p:stCondLst>
                                        </p:cTn>
                                        <p:tgtEl>
                                          <p:spTgt spid="33"/>
                                        </p:tgtEl>
                                        <p:attrNameLst>
                                          <p:attrName>style.visibility</p:attrName>
                                        </p:attrNameLst>
                                      </p:cBhvr>
                                      <p:to>
                                        <p:strVal val="visible"/>
                                      </p:to>
                                    </p:set>
                                    <p:animEffect transition="in" filter="fade">
                                      <p:cBhvr>
                                        <p:cTn id="11" dur="600"/>
                                        <p:tgtEl>
                                          <p:spTgt spid="33"/>
                                        </p:tgtEl>
                                      </p:cBhvr>
                                    </p:animEffect>
                                    <p:anim calcmode="lin" valueType="num">
                                      <p:cBhvr>
                                        <p:cTn id="12" dur="600" decel="100000" fill="hold"/>
                                        <p:tgtEl>
                                          <p:spTgt spid="33"/>
                                        </p:tgtEl>
                                        <p:attrNameLst>
                                          <p:attrName>ppt_y</p:attrName>
                                        </p:attrNameLst>
                                      </p:cBhvr>
                                      <p:tavLst>
                                        <p:tav tm="0">
                                          <p:val>
                                            <p:strVal val="#ppt_y+0.04"/>
                                          </p:val>
                                        </p:tav>
                                        <p:tav tm="100000">
                                          <p:val>
                                            <p:strVal val="#ppt_y"/>
                                          </p:val>
                                        </p:tav>
                                      </p:tavLst>
                                    </p:anim>
                                  </p:childTnLst>
                                </p:cTn>
                              </p:par>
                            </p:childTnLst>
                          </p:cTn>
                        </p:par>
                        <p:par>
                          <p:cTn id="13" fill="hold">
                            <p:stCondLst>
                              <p:cond delay="0"/>
                            </p:stCondLst>
                            <p:childTnLst>
                              <p:par>
                                <p:cTn id="14" presetID="42" presetClass="entr" presetSubtype="0" fill="hold" grpId="0" nodeType="afterEffect">
                                  <p:stCondLst>
                                    <p:cond delay="0"/>
                                  </p:stCondLst>
                                  <p:childTnLst>
                                    <p:set>
                                      <p:cBhvr>
                                        <p:cTn id="15" dur="1" fill="hold">
                                          <p:stCondLst>
                                            <p:cond delay="0"/>
                                          </p:stCondLst>
                                        </p:cTn>
                                        <p:tgtEl>
                                          <p:spTgt spid="3"/>
                                        </p:tgtEl>
                                        <p:attrNameLst>
                                          <p:attrName>style.visibility</p:attrName>
                                        </p:attrNameLst>
                                      </p:cBhvr>
                                      <p:to>
                                        <p:strVal val="visible"/>
                                      </p:to>
                                    </p:set>
                                    <p:animEffect transition="in" filter="fade">
                                      <p:cBhvr>
                                        <p:cTn id="16" dur="600"/>
                                        <p:tgtEl>
                                          <p:spTgt spid="3"/>
                                        </p:tgtEl>
                                      </p:cBhvr>
                                    </p:animEffect>
                                    <p:anim calcmode="lin" valueType="num">
                                      <p:cBhvr>
                                        <p:cTn id="17" dur="600" decel="100000" fill="hold"/>
                                        <p:tgtEl>
                                          <p:spTgt spid="3"/>
                                        </p:tgtEl>
                                        <p:attrNameLst>
                                          <p:attrName>ppt_y</p:attrName>
                                        </p:attrNameLst>
                                      </p:cBhvr>
                                      <p:tavLst>
                                        <p:tav tm="0">
                                          <p:val>
                                            <p:strVal val="#ppt_y+0.04"/>
                                          </p:val>
                                        </p:tav>
                                        <p:tav tm="100000">
                                          <p:val>
                                            <p:strVal val="#ppt_y"/>
                                          </p:val>
                                        </p:tav>
                                      </p:tavLst>
                                    </p:anim>
                                  </p:childTnLst>
                                </p:cTn>
                              </p:par>
                            </p:childTnLst>
                          </p:cTn>
                        </p:par>
                        <p:par>
                          <p:cTn id="18" fill="hold">
                            <p:stCondLst>
                              <p:cond delay="0"/>
                            </p:stCondLst>
                            <p:childTnLst>
                              <p:par>
                                <p:cTn id="19" presetID="42" presetClass="entr" presetSubtype="0" fill="hold" grpId="0" nodeType="after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fade">
                                      <p:cBhvr>
                                        <p:cTn id="21" dur="600"/>
                                        <p:tgtEl>
                                          <p:spTgt spid="4"/>
                                        </p:tgtEl>
                                      </p:cBhvr>
                                    </p:animEffect>
                                    <p:anim calcmode="lin" valueType="num">
                                      <p:cBhvr>
                                        <p:cTn id="22" dur="600" decel="100000" fill="hold"/>
                                        <p:tgtEl>
                                          <p:spTgt spid="4"/>
                                        </p:tgtEl>
                                        <p:attrNameLst>
                                          <p:attrName>ppt_y</p:attrName>
                                        </p:attrNameLst>
                                      </p:cBhvr>
                                      <p:tavLst>
                                        <p:tav tm="0">
                                          <p:val>
                                            <p:strVal val="#ppt_y+0.04"/>
                                          </p:val>
                                        </p:tav>
                                        <p:tav tm="100000">
                                          <p:val>
                                            <p:strVal val="#ppt_y"/>
                                          </p:val>
                                        </p:tav>
                                      </p:tavLst>
                                    </p:anim>
                                  </p:childTnLst>
                                </p:cTn>
                              </p:par>
                            </p:childTnLst>
                          </p:cTn>
                        </p:par>
                        <p:par>
                          <p:cTn id="23" fill="hold">
                            <p:stCondLst>
                              <p:cond delay="0"/>
                            </p:stCondLst>
                            <p:childTnLst>
                              <p:par>
                                <p:cTn id="24" presetID="42" presetClass="entr" presetSubtype="0" fill="hold" grpId="0" nodeType="afterEffect">
                                  <p:stCondLst>
                                    <p:cond delay="0"/>
                                  </p:stCondLst>
                                  <p:childTnLst>
                                    <p:set>
                                      <p:cBhvr>
                                        <p:cTn id="25" dur="1" fill="hold">
                                          <p:stCondLst>
                                            <p:cond delay="0"/>
                                          </p:stCondLst>
                                        </p:cTn>
                                        <p:tgtEl>
                                          <p:spTgt spid="5"/>
                                        </p:tgtEl>
                                        <p:attrNameLst>
                                          <p:attrName>style.visibility</p:attrName>
                                        </p:attrNameLst>
                                      </p:cBhvr>
                                      <p:to>
                                        <p:strVal val="visible"/>
                                      </p:to>
                                    </p:set>
                                    <p:animEffect transition="in" filter="fade">
                                      <p:cBhvr>
                                        <p:cTn id="26" dur="600"/>
                                        <p:tgtEl>
                                          <p:spTgt spid="5"/>
                                        </p:tgtEl>
                                      </p:cBhvr>
                                    </p:animEffect>
                                    <p:anim calcmode="lin" valueType="num">
                                      <p:cBhvr>
                                        <p:cTn id="27" dur="600" decel="100000" fill="hold"/>
                                        <p:tgtEl>
                                          <p:spTgt spid="5"/>
                                        </p:tgtEl>
                                        <p:attrNameLst>
                                          <p:attrName>ppt_y</p:attrName>
                                        </p:attrNameLst>
                                      </p:cBhvr>
                                      <p:tavLst>
                                        <p:tav tm="0">
                                          <p:val>
                                            <p:strVal val="#ppt_y+0.04"/>
                                          </p:val>
                                        </p:tav>
                                        <p:tav tm="100000">
                                          <p:val>
                                            <p:strVal val="#ppt_y"/>
                                          </p:val>
                                        </p:tav>
                                      </p:tavLst>
                                    </p:anim>
                                  </p:childTnLst>
                                </p:cTn>
                              </p:par>
                            </p:childTnLst>
                          </p:cTn>
                        </p:par>
                        <p:par>
                          <p:cTn id="28" fill="hold">
                            <p:stCondLst>
                              <p:cond delay="0"/>
                            </p:stCondLst>
                            <p:childTnLst>
                              <p:par>
                                <p:cTn id="29" presetID="42" presetClass="entr" presetSubtype="0" fill="hold" grpId="0" nodeType="afterEffect">
                                  <p:stCondLst>
                                    <p:cond delay="0"/>
                                  </p:stCondLst>
                                  <p:childTnLst>
                                    <p:set>
                                      <p:cBhvr>
                                        <p:cTn id="30" dur="1" fill="hold">
                                          <p:stCondLst>
                                            <p:cond delay="0"/>
                                          </p:stCondLst>
                                        </p:cTn>
                                        <p:tgtEl>
                                          <p:spTgt spid="6"/>
                                        </p:tgtEl>
                                        <p:attrNameLst>
                                          <p:attrName>style.visibility</p:attrName>
                                        </p:attrNameLst>
                                      </p:cBhvr>
                                      <p:to>
                                        <p:strVal val="visible"/>
                                      </p:to>
                                    </p:set>
                                    <p:animEffect transition="in" filter="fade">
                                      <p:cBhvr>
                                        <p:cTn id="31" dur="600"/>
                                        <p:tgtEl>
                                          <p:spTgt spid="6"/>
                                        </p:tgtEl>
                                      </p:cBhvr>
                                    </p:animEffect>
                                    <p:anim calcmode="lin" valueType="num">
                                      <p:cBhvr>
                                        <p:cTn id="32" dur="600" decel="100000" fill="hold"/>
                                        <p:tgtEl>
                                          <p:spTgt spid="6"/>
                                        </p:tgtEl>
                                        <p:attrNameLst>
                                          <p:attrName>ppt_y</p:attrName>
                                        </p:attrNameLst>
                                      </p:cBhvr>
                                      <p:tavLst>
                                        <p:tav tm="0">
                                          <p:val>
                                            <p:strVal val="#ppt_y+0.04"/>
                                          </p:val>
                                        </p:tav>
                                        <p:tav tm="100000">
                                          <p:val>
                                            <p:strVal val="#ppt_y"/>
                                          </p:val>
                                        </p:tav>
                                      </p:tavLst>
                                    </p:anim>
                                  </p:childTnLst>
                                </p:cTn>
                              </p:par>
                            </p:childTnLst>
                          </p:cTn>
                        </p:par>
                        <p:par>
                          <p:cTn id="33" fill="hold">
                            <p:stCondLst>
                              <p:cond delay="0"/>
                            </p:stCondLst>
                            <p:childTnLst>
                              <p:par>
                                <p:cTn id="34" presetID="42" presetClass="entr" presetSubtype="0" fill="hold" grpId="0" nodeType="withEffect">
                                  <p:stCondLst>
                                    <p:cond delay="0"/>
                                  </p:stCondLst>
                                  <p:childTnLst>
                                    <p:set>
                                      <p:cBhvr>
                                        <p:cTn id="35" dur="1" fill="hold">
                                          <p:stCondLst>
                                            <p:cond delay="0"/>
                                          </p:stCondLst>
                                        </p:cTn>
                                        <p:tgtEl>
                                          <p:spTgt spid="7"/>
                                        </p:tgtEl>
                                        <p:attrNameLst>
                                          <p:attrName>style.visibility</p:attrName>
                                        </p:attrNameLst>
                                      </p:cBhvr>
                                      <p:to>
                                        <p:strVal val="visible"/>
                                      </p:to>
                                    </p:set>
                                    <p:animEffect transition="in" filter="fade">
                                      <p:cBhvr>
                                        <p:cTn id="36" dur="600"/>
                                        <p:tgtEl>
                                          <p:spTgt spid="7"/>
                                        </p:tgtEl>
                                      </p:cBhvr>
                                    </p:animEffect>
                                    <p:anim calcmode="lin" valueType="num">
                                      <p:cBhvr>
                                        <p:cTn id="37" dur="600" decel="100000" fill="hold"/>
                                        <p:tgtEl>
                                          <p:spTgt spid="7"/>
                                        </p:tgtEl>
                                        <p:attrNameLst>
                                          <p:attrName>ppt_y</p:attrName>
                                        </p:attrNameLst>
                                      </p:cBhvr>
                                      <p:tavLst>
                                        <p:tav tm="0">
                                          <p:val>
                                            <p:strVal val="#ppt_y+0.04"/>
                                          </p:val>
                                        </p:tav>
                                        <p:tav tm="100000">
                                          <p:val>
                                            <p:strVal val="#ppt_y"/>
                                          </p:val>
                                        </p:tav>
                                      </p:tavLst>
                                    </p:anim>
                                  </p:childTnLst>
                                </p:cTn>
                              </p:par>
                            </p:childTnLst>
                          </p:cTn>
                        </p:par>
                        <p:par>
                          <p:cTn id="38" fill="hold">
                            <p:stCondLst>
                              <p:cond delay="0"/>
                            </p:stCondLst>
                            <p:childTnLst>
                              <p:par>
                                <p:cTn id="39" presetID="42" presetClass="entr" presetSubtype="0" fill="hold" grpId="0" nodeType="afterEffect">
                                  <p:stCondLst>
                                    <p:cond delay="0"/>
                                  </p:stCondLst>
                                  <p:childTnLst>
                                    <p:set>
                                      <p:cBhvr>
                                        <p:cTn id="40" dur="1" fill="hold">
                                          <p:stCondLst>
                                            <p:cond delay="0"/>
                                          </p:stCondLst>
                                        </p:cTn>
                                        <p:tgtEl>
                                          <p:spTgt spid="8"/>
                                        </p:tgtEl>
                                        <p:attrNameLst>
                                          <p:attrName>style.visibility</p:attrName>
                                        </p:attrNameLst>
                                      </p:cBhvr>
                                      <p:to>
                                        <p:strVal val="visible"/>
                                      </p:to>
                                    </p:set>
                                    <p:animEffect transition="in" filter="fade">
                                      <p:cBhvr>
                                        <p:cTn id="41" dur="600"/>
                                        <p:tgtEl>
                                          <p:spTgt spid="8"/>
                                        </p:tgtEl>
                                      </p:cBhvr>
                                    </p:animEffect>
                                    <p:anim calcmode="lin" valueType="num">
                                      <p:cBhvr>
                                        <p:cTn id="42" dur="600" decel="100000" fill="hold"/>
                                        <p:tgtEl>
                                          <p:spTgt spid="8"/>
                                        </p:tgtEl>
                                        <p:attrNameLst>
                                          <p:attrName>ppt_y</p:attrName>
                                        </p:attrNameLst>
                                      </p:cBhvr>
                                      <p:tavLst>
                                        <p:tav tm="0">
                                          <p:val>
                                            <p:strVal val="#ppt_y+0.04"/>
                                          </p:val>
                                        </p:tav>
                                        <p:tav tm="100000">
                                          <p:val>
                                            <p:strVal val="#ppt_y"/>
                                          </p:val>
                                        </p:tav>
                                      </p:tavLst>
                                    </p:anim>
                                  </p:childTnLst>
                                </p:cTn>
                              </p:par>
                            </p:childTnLst>
                          </p:cTn>
                        </p:par>
                        <p:par>
                          <p:cTn id="43" fill="hold">
                            <p:stCondLst>
                              <p:cond delay="0"/>
                            </p:stCondLst>
                            <p:childTnLst>
                              <p:par>
                                <p:cTn id="44" presetID="42" presetClass="entr" presetSubtype="0" fill="hold" grpId="0" nodeType="withEffect">
                                  <p:stCondLst>
                                    <p:cond delay="0"/>
                                  </p:stCondLst>
                                  <p:childTnLst>
                                    <p:set>
                                      <p:cBhvr>
                                        <p:cTn id="45" dur="1" fill="hold">
                                          <p:stCondLst>
                                            <p:cond delay="0"/>
                                          </p:stCondLst>
                                        </p:cTn>
                                        <p:tgtEl>
                                          <p:spTgt spid="9"/>
                                        </p:tgtEl>
                                        <p:attrNameLst>
                                          <p:attrName>style.visibility</p:attrName>
                                        </p:attrNameLst>
                                      </p:cBhvr>
                                      <p:to>
                                        <p:strVal val="visible"/>
                                      </p:to>
                                    </p:set>
                                    <p:animEffect transition="in" filter="fade">
                                      <p:cBhvr>
                                        <p:cTn id="46" dur="600"/>
                                        <p:tgtEl>
                                          <p:spTgt spid="9"/>
                                        </p:tgtEl>
                                      </p:cBhvr>
                                    </p:animEffect>
                                    <p:anim calcmode="lin" valueType="num">
                                      <p:cBhvr>
                                        <p:cTn id="47" dur="600" decel="100000" fill="hold"/>
                                        <p:tgtEl>
                                          <p:spTgt spid="9"/>
                                        </p:tgtEl>
                                        <p:attrNameLst>
                                          <p:attrName>ppt_y</p:attrName>
                                        </p:attrNameLst>
                                      </p:cBhvr>
                                      <p:tavLst>
                                        <p:tav tm="0">
                                          <p:val>
                                            <p:strVal val="#ppt_y+0.04"/>
                                          </p:val>
                                        </p:tav>
                                        <p:tav tm="100000">
                                          <p:val>
                                            <p:strVal val="#ppt_y"/>
                                          </p:val>
                                        </p:tav>
                                      </p:tavLst>
                                    </p:anim>
                                  </p:childTnLst>
                                </p:cTn>
                              </p:par>
                            </p:childTnLst>
                          </p:cTn>
                        </p:par>
                        <p:par>
                          <p:cTn id="48" fill="hold">
                            <p:stCondLst>
                              <p:cond delay="0"/>
                            </p:stCondLst>
                            <p:childTnLst>
                              <p:par>
                                <p:cTn id="49" presetID="42" presetClass="entr" presetSubtype="0" fill="hold" grpId="0" nodeType="withEffect">
                                  <p:stCondLst>
                                    <p:cond delay="0"/>
                                  </p:stCondLst>
                                  <p:childTnLst>
                                    <p:set>
                                      <p:cBhvr>
                                        <p:cTn id="50" dur="1" fill="hold">
                                          <p:stCondLst>
                                            <p:cond delay="0"/>
                                          </p:stCondLst>
                                        </p:cTn>
                                        <p:tgtEl>
                                          <p:spTgt spid="10"/>
                                        </p:tgtEl>
                                        <p:attrNameLst>
                                          <p:attrName>style.visibility</p:attrName>
                                        </p:attrNameLst>
                                      </p:cBhvr>
                                      <p:to>
                                        <p:strVal val="visible"/>
                                      </p:to>
                                    </p:set>
                                    <p:animEffect transition="in" filter="fade">
                                      <p:cBhvr>
                                        <p:cTn id="51" dur="600"/>
                                        <p:tgtEl>
                                          <p:spTgt spid="10"/>
                                        </p:tgtEl>
                                      </p:cBhvr>
                                    </p:animEffect>
                                    <p:anim calcmode="lin" valueType="num">
                                      <p:cBhvr>
                                        <p:cTn id="52" dur="600" decel="100000" fill="hold"/>
                                        <p:tgtEl>
                                          <p:spTgt spid="10"/>
                                        </p:tgtEl>
                                        <p:attrNameLst>
                                          <p:attrName>ppt_y</p:attrName>
                                        </p:attrNameLst>
                                      </p:cBhvr>
                                      <p:tavLst>
                                        <p:tav tm="0">
                                          <p:val>
                                            <p:strVal val="#ppt_y+0.04"/>
                                          </p:val>
                                        </p:tav>
                                        <p:tav tm="100000">
                                          <p:val>
                                            <p:strVal val="#ppt_y"/>
                                          </p:val>
                                        </p:tav>
                                      </p:tavLst>
                                    </p:anim>
                                  </p:childTnLst>
                                </p:cTn>
                              </p:par>
                            </p:childTnLst>
                          </p:cTn>
                        </p:par>
                        <p:par>
                          <p:cTn id="53" fill="hold">
                            <p:stCondLst>
                              <p:cond delay="0"/>
                            </p:stCondLst>
                            <p:childTnLst>
                              <p:par>
                                <p:cTn id="54" presetID="42" presetClass="entr" presetSubtype="0" fill="hold" grpId="0" nodeType="withEffect">
                                  <p:stCondLst>
                                    <p:cond delay="0"/>
                                  </p:stCondLst>
                                  <p:childTnLst>
                                    <p:set>
                                      <p:cBhvr>
                                        <p:cTn id="55" dur="1" fill="hold">
                                          <p:stCondLst>
                                            <p:cond delay="0"/>
                                          </p:stCondLst>
                                        </p:cTn>
                                        <p:tgtEl>
                                          <p:spTgt spid="11"/>
                                        </p:tgtEl>
                                        <p:attrNameLst>
                                          <p:attrName>style.visibility</p:attrName>
                                        </p:attrNameLst>
                                      </p:cBhvr>
                                      <p:to>
                                        <p:strVal val="visible"/>
                                      </p:to>
                                    </p:set>
                                    <p:animEffect transition="in" filter="fade">
                                      <p:cBhvr>
                                        <p:cTn id="56" dur="600"/>
                                        <p:tgtEl>
                                          <p:spTgt spid="11"/>
                                        </p:tgtEl>
                                      </p:cBhvr>
                                    </p:animEffect>
                                    <p:anim calcmode="lin" valueType="num">
                                      <p:cBhvr>
                                        <p:cTn id="57" dur="600" decel="100000" fill="hold"/>
                                        <p:tgtEl>
                                          <p:spTgt spid="11"/>
                                        </p:tgtEl>
                                        <p:attrNameLst>
                                          <p:attrName>ppt_y</p:attrName>
                                        </p:attrNameLst>
                                      </p:cBhvr>
                                      <p:tavLst>
                                        <p:tav tm="0">
                                          <p:val>
                                            <p:strVal val="#ppt_y+0.04"/>
                                          </p:val>
                                        </p:tav>
                                        <p:tav tm="100000">
                                          <p:val>
                                            <p:strVal val="#ppt_y"/>
                                          </p:val>
                                        </p:tav>
                                      </p:tavLst>
                                    </p:anim>
                                  </p:childTnLst>
                                </p:cTn>
                              </p:par>
                            </p:childTnLst>
                          </p:cTn>
                        </p:par>
                        <p:par>
                          <p:cTn id="58" fill="hold">
                            <p:stCondLst>
                              <p:cond delay="0"/>
                            </p:stCondLst>
                            <p:childTnLst>
                              <p:par>
                                <p:cTn id="59" presetID="42" presetClass="entr" presetSubtype="0" fill="hold" grpId="0" nodeType="withEffect">
                                  <p:stCondLst>
                                    <p:cond delay="0"/>
                                  </p:stCondLst>
                                  <p:childTnLst>
                                    <p:set>
                                      <p:cBhvr>
                                        <p:cTn id="60" dur="1" fill="hold">
                                          <p:stCondLst>
                                            <p:cond delay="0"/>
                                          </p:stCondLst>
                                        </p:cTn>
                                        <p:tgtEl>
                                          <p:spTgt spid="12"/>
                                        </p:tgtEl>
                                        <p:attrNameLst>
                                          <p:attrName>style.visibility</p:attrName>
                                        </p:attrNameLst>
                                      </p:cBhvr>
                                      <p:to>
                                        <p:strVal val="visible"/>
                                      </p:to>
                                    </p:set>
                                    <p:animEffect transition="in" filter="fade">
                                      <p:cBhvr>
                                        <p:cTn id="61" dur="600"/>
                                        <p:tgtEl>
                                          <p:spTgt spid="12"/>
                                        </p:tgtEl>
                                      </p:cBhvr>
                                    </p:animEffect>
                                    <p:anim calcmode="lin" valueType="num">
                                      <p:cBhvr>
                                        <p:cTn id="62" dur="600" decel="100000" fill="hold"/>
                                        <p:tgtEl>
                                          <p:spTgt spid="12"/>
                                        </p:tgtEl>
                                        <p:attrNameLst>
                                          <p:attrName>ppt_y</p:attrName>
                                        </p:attrNameLst>
                                      </p:cBhvr>
                                      <p:tavLst>
                                        <p:tav tm="0">
                                          <p:val>
                                            <p:strVal val="#ppt_y+0.04"/>
                                          </p:val>
                                        </p:tav>
                                        <p:tav tm="100000">
                                          <p:val>
                                            <p:strVal val="#ppt_y"/>
                                          </p:val>
                                        </p:tav>
                                      </p:tavLst>
                                    </p:anim>
                                  </p:childTnLst>
                                </p:cTn>
                              </p:par>
                            </p:childTnLst>
                          </p:cTn>
                        </p:par>
                        <p:par>
                          <p:cTn id="63" fill="hold">
                            <p:stCondLst>
                              <p:cond delay="0"/>
                            </p:stCondLst>
                            <p:childTnLst>
                              <p:par>
                                <p:cTn id="64" presetID="42" presetClass="entr" presetSubtype="0" fill="hold" grpId="0" nodeType="withEffect">
                                  <p:stCondLst>
                                    <p:cond delay="0"/>
                                  </p:stCondLst>
                                  <p:childTnLst>
                                    <p:set>
                                      <p:cBhvr>
                                        <p:cTn id="65" dur="1" fill="hold">
                                          <p:stCondLst>
                                            <p:cond delay="0"/>
                                          </p:stCondLst>
                                        </p:cTn>
                                        <p:tgtEl>
                                          <p:spTgt spid="13"/>
                                        </p:tgtEl>
                                        <p:attrNameLst>
                                          <p:attrName>style.visibility</p:attrName>
                                        </p:attrNameLst>
                                      </p:cBhvr>
                                      <p:to>
                                        <p:strVal val="visible"/>
                                      </p:to>
                                    </p:set>
                                    <p:animEffect transition="in" filter="fade">
                                      <p:cBhvr>
                                        <p:cTn id="66" dur="600"/>
                                        <p:tgtEl>
                                          <p:spTgt spid="13"/>
                                        </p:tgtEl>
                                      </p:cBhvr>
                                    </p:animEffect>
                                    <p:anim calcmode="lin" valueType="num">
                                      <p:cBhvr>
                                        <p:cTn id="67" dur="600" decel="100000" fill="hold"/>
                                        <p:tgtEl>
                                          <p:spTgt spid="13"/>
                                        </p:tgtEl>
                                        <p:attrNameLst>
                                          <p:attrName>ppt_y</p:attrName>
                                        </p:attrNameLst>
                                      </p:cBhvr>
                                      <p:tavLst>
                                        <p:tav tm="0">
                                          <p:val>
                                            <p:strVal val="#ppt_y+0.04"/>
                                          </p:val>
                                        </p:tav>
                                        <p:tav tm="100000">
                                          <p:val>
                                            <p:strVal val="#ppt_y"/>
                                          </p:val>
                                        </p:tav>
                                      </p:tavLst>
                                    </p:anim>
                                  </p:childTnLst>
                                </p:cTn>
                              </p:par>
                            </p:childTnLst>
                          </p:cTn>
                        </p:par>
                        <p:par>
                          <p:cTn id="68" fill="hold">
                            <p:stCondLst>
                              <p:cond delay="0"/>
                            </p:stCondLst>
                            <p:childTnLst>
                              <p:par>
                                <p:cTn id="69" presetID="42" presetClass="entr" presetSubtype="0" fill="hold" grpId="0" nodeType="withEffect">
                                  <p:stCondLst>
                                    <p:cond delay="0"/>
                                  </p:stCondLst>
                                  <p:childTnLst>
                                    <p:set>
                                      <p:cBhvr>
                                        <p:cTn id="70" dur="1" fill="hold">
                                          <p:stCondLst>
                                            <p:cond delay="0"/>
                                          </p:stCondLst>
                                        </p:cTn>
                                        <p:tgtEl>
                                          <p:spTgt spid="14"/>
                                        </p:tgtEl>
                                        <p:attrNameLst>
                                          <p:attrName>style.visibility</p:attrName>
                                        </p:attrNameLst>
                                      </p:cBhvr>
                                      <p:to>
                                        <p:strVal val="visible"/>
                                      </p:to>
                                    </p:set>
                                    <p:animEffect transition="in" filter="fade">
                                      <p:cBhvr>
                                        <p:cTn id="71" dur="600"/>
                                        <p:tgtEl>
                                          <p:spTgt spid="14"/>
                                        </p:tgtEl>
                                      </p:cBhvr>
                                    </p:animEffect>
                                    <p:anim calcmode="lin" valueType="num">
                                      <p:cBhvr>
                                        <p:cTn id="72" dur="600" decel="100000" fill="hold"/>
                                        <p:tgtEl>
                                          <p:spTgt spid="14"/>
                                        </p:tgtEl>
                                        <p:attrNameLst>
                                          <p:attrName>ppt_y</p:attrName>
                                        </p:attrNameLst>
                                      </p:cBhvr>
                                      <p:tavLst>
                                        <p:tav tm="0">
                                          <p:val>
                                            <p:strVal val="#ppt_y+0.04"/>
                                          </p:val>
                                        </p:tav>
                                        <p:tav tm="100000">
                                          <p:val>
                                            <p:strVal val="#ppt_y"/>
                                          </p:val>
                                        </p:tav>
                                      </p:tavLst>
                                    </p:anim>
                                  </p:childTnLst>
                                </p:cTn>
                              </p:par>
                            </p:childTnLst>
                          </p:cTn>
                        </p:par>
                        <p:par>
                          <p:cTn id="73" fill="hold">
                            <p:stCondLst>
                              <p:cond delay="0"/>
                            </p:stCondLst>
                            <p:childTnLst>
                              <p:par>
                                <p:cTn id="74" presetID="42" presetClass="entr" presetSubtype="0" fill="hold" grpId="0" nodeType="afterEffect">
                                  <p:stCondLst>
                                    <p:cond delay="0"/>
                                  </p:stCondLst>
                                  <p:childTnLst>
                                    <p:set>
                                      <p:cBhvr>
                                        <p:cTn id="75" dur="1" fill="hold">
                                          <p:stCondLst>
                                            <p:cond delay="0"/>
                                          </p:stCondLst>
                                        </p:cTn>
                                        <p:tgtEl>
                                          <p:spTgt spid="15"/>
                                        </p:tgtEl>
                                        <p:attrNameLst>
                                          <p:attrName>style.visibility</p:attrName>
                                        </p:attrNameLst>
                                      </p:cBhvr>
                                      <p:to>
                                        <p:strVal val="visible"/>
                                      </p:to>
                                    </p:set>
                                    <p:animEffect transition="in" filter="fade">
                                      <p:cBhvr>
                                        <p:cTn id="76" dur="600"/>
                                        <p:tgtEl>
                                          <p:spTgt spid="15"/>
                                        </p:tgtEl>
                                      </p:cBhvr>
                                    </p:animEffect>
                                    <p:anim calcmode="lin" valueType="num">
                                      <p:cBhvr>
                                        <p:cTn id="77" dur="600" decel="100000" fill="hold"/>
                                        <p:tgtEl>
                                          <p:spTgt spid="15"/>
                                        </p:tgtEl>
                                        <p:attrNameLst>
                                          <p:attrName>ppt_y</p:attrName>
                                        </p:attrNameLst>
                                      </p:cBhvr>
                                      <p:tavLst>
                                        <p:tav tm="0">
                                          <p:val>
                                            <p:strVal val="#ppt_y+0.04"/>
                                          </p:val>
                                        </p:tav>
                                        <p:tav tm="100000">
                                          <p:val>
                                            <p:strVal val="#ppt_y"/>
                                          </p:val>
                                        </p:tav>
                                      </p:tavLst>
                                    </p:anim>
                                  </p:childTnLst>
                                </p:cTn>
                              </p:par>
                            </p:childTnLst>
                          </p:cTn>
                        </p:par>
                        <p:par>
                          <p:cTn id="78" fill="hold">
                            <p:stCondLst>
                              <p:cond delay="0"/>
                            </p:stCondLst>
                            <p:childTnLst>
                              <p:par>
                                <p:cTn id="79" presetID="42" presetClass="entr" presetSubtype="0" fill="hold" grpId="0" nodeType="withEffect">
                                  <p:stCondLst>
                                    <p:cond delay="0"/>
                                  </p:stCondLst>
                                  <p:childTnLst>
                                    <p:set>
                                      <p:cBhvr>
                                        <p:cTn id="80" dur="1" fill="hold">
                                          <p:stCondLst>
                                            <p:cond delay="0"/>
                                          </p:stCondLst>
                                        </p:cTn>
                                        <p:tgtEl>
                                          <p:spTgt spid="16"/>
                                        </p:tgtEl>
                                        <p:attrNameLst>
                                          <p:attrName>style.visibility</p:attrName>
                                        </p:attrNameLst>
                                      </p:cBhvr>
                                      <p:to>
                                        <p:strVal val="visible"/>
                                      </p:to>
                                    </p:set>
                                    <p:animEffect transition="in" filter="fade">
                                      <p:cBhvr>
                                        <p:cTn id="81" dur="600"/>
                                        <p:tgtEl>
                                          <p:spTgt spid="16"/>
                                        </p:tgtEl>
                                      </p:cBhvr>
                                    </p:animEffect>
                                    <p:anim calcmode="lin" valueType="num">
                                      <p:cBhvr>
                                        <p:cTn id="82" dur="600" decel="100000" fill="hold"/>
                                        <p:tgtEl>
                                          <p:spTgt spid="16"/>
                                        </p:tgtEl>
                                        <p:attrNameLst>
                                          <p:attrName>ppt_y</p:attrName>
                                        </p:attrNameLst>
                                      </p:cBhvr>
                                      <p:tavLst>
                                        <p:tav tm="0">
                                          <p:val>
                                            <p:strVal val="#ppt_y+0.04"/>
                                          </p:val>
                                        </p:tav>
                                        <p:tav tm="100000">
                                          <p:val>
                                            <p:strVal val="#ppt_y"/>
                                          </p:val>
                                        </p:tav>
                                      </p:tavLst>
                                    </p:anim>
                                  </p:childTnLst>
                                </p:cTn>
                              </p:par>
                            </p:childTnLst>
                          </p:cTn>
                        </p:par>
                        <p:par>
                          <p:cTn id="83" fill="hold">
                            <p:stCondLst>
                              <p:cond delay="0"/>
                            </p:stCondLst>
                            <p:childTnLst>
                              <p:par>
                                <p:cTn id="84" presetID="42" presetClass="entr" presetSubtype="0" fill="hold" grpId="0" nodeType="withEffect">
                                  <p:stCondLst>
                                    <p:cond delay="0"/>
                                  </p:stCondLst>
                                  <p:childTnLst>
                                    <p:set>
                                      <p:cBhvr>
                                        <p:cTn id="85" dur="1" fill="hold">
                                          <p:stCondLst>
                                            <p:cond delay="0"/>
                                          </p:stCondLst>
                                        </p:cTn>
                                        <p:tgtEl>
                                          <p:spTgt spid="17"/>
                                        </p:tgtEl>
                                        <p:attrNameLst>
                                          <p:attrName>style.visibility</p:attrName>
                                        </p:attrNameLst>
                                      </p:cBhvr>
                                      <p:to>
                                        <p:strVal val="visible"/>
                                      </p:to>
                                    </p:set>
                                    <p:animEffect transition="in" filter="fade">
                                      <p:cBhvr>
                                        <p:cTn id="86" dur="600"/>
                                        <p:tgtEl>
                                          <p:spTgt spid="17"/>
                                        </p:tgtEl>
                                      </p:cBhvr>
                                    </p:animEffect>
                                    <p:anim calcmode="lin" valueType="num">
                                      <p:cBhvr>
                                        <p:cTn id="87" dur="600" decel="100000" fill="hold"/>
                                        <p:tgtEl>
                                          <p:spTgt spid="17"/>
                                        </p:tgtEl>
                                        <p:attrNameLst>
                                          <p:attrName>ppt_y</p:attrName>
                                        </p:attrNameLst>
                                      </p:cBhvr>
                                      <p:tavLst>
                                        <p:tav tm="0">
                                          <p:val>
                                            <p:strVal val="#ppt_y+0.04"/>
                                          </p:val>
                                        </p:tav>
                                        <p:tav tm="100000">
                                          <p:val>
                                            <p:strVal val="#ppt_y"/>
                                          </p:val>
                                        </p:tav>
                                      </p:tavLst>
                                    </p:anim>
                                  </p:childTnLst>
                                </p:cTn>
                              </p:par>
                            </p:childTnLst>
                          </p:cTn>
                        </p:par>
                        <p:par>
                          <p:cTn id="88" fill="hold">
                            <p:stCondLst>
                              <p:cond delay="0"/>
                            </p:stCondLst>
                            <p:childTnLst>
                              <p:par>
                                <p:cTn id="89" presetID="42" presetClass="entr" presetSubtype="0" fill="hold" grpId="0" nodeType="withEffect">
                                  <p:stCondLst>
                                    <p:cond delay="0"/>
                                  </p:stCondLst>
                                  <p:childTnLst>
                                    <p:set>
                                      <p:cBhvr>
                                        <p:cTn id="90" dur="1" fill="hold">
                                          <p:stCondLst>
                                            <p:cond delay="0"/>
                                          </p:stCondLst>
                                        </p:cTn>
                                        <p:tgtEl>
                                          <p:spTgt spid="18"/>
                                        </p:tgtEl>
                                        <p:attrNameLst>
                                          <p:attrName>style.visibility</p:attrName>
                                        </p:attrNameLst>
                                      </p:cBhvr>
                                      <p:to>
                                        <p:strVal val="visible"/>
                                      </p:to>
                                    </p:set>
                                    <p:animEffect transition="in" filter="fade">
                                      <p:cBhvr>
                                        <p:cTn id="91" dur="600"/>
                                        <p:tgtEl>
                                          <p:spTgt spid="18"/>
                                        </p:tgtEl>
                                      </p:cBhvr>
                                    </p:animEffect>
                                    <p:anim calcmode="lin" valueType="num">
                                      <p:cBhvr>
                                        <p:cTn id="92" dur="600" decel="100000" fill="hold"/>
                                        <p:tgtEl>
                                          <p:spTgt spid="18"/>
                                        </p:tgtEl>
                                        <p:attrNameLst>
                                          <p:attrName>ppt_y</p:attrName>
                                        </p:attrNameLst>
                                      </p:cBhvr>
                                      <p:tavLst>
                                        <p:tav tm="0">
                                          <p:val>
                                            <p:strVal val="#ppt_y+0.04"/>
                                          </p:val>
                                        </p:tav>
                                        <p:tav tm="100000">
                                          <p:val>
                                            <p:strVal val="#ppt_y"/>
                                          </p:val>
                                        </p:tav>
                                      </p:tavLst>
                                    </p:anim>
                                  </p:childTnLst>
                                </p:cTn>
                              </p:par>
                            </p:childTnLst>
                          </p:cTn>
                        </p:par>
                        <p:par>
                          <p:cTn id="93" fill="hold">
                            <p:stCondLst>
                              <p:cond delay="0"/>
                            </p:stCondLst>
                            <p:childTnLst>
                              <p:par>
                                <p:cTn id="94" presetID="42" presetClass="entr" presetSubtype="0" fill="hold" grpId="0" nodeType="withEffect">
                                  <p:stCondLst>
                                    <p:cond delay="0"/>
                                  </p:stCondLst>
                                  <p:childTnLst>
                                    <p:set>
                                      <p:cBhvr>
                                        <p:cTn id="95" dur="1" fill="hold">
                                          <p:stCondLst>
                                            <p:cond delay="0"/>
                                          </p:stCondLst>
                                        </p:cTn>
                                        <p:tgtEl>
                                          <p:spTgt spid="19"/>
                                        </p:tgtEl>
                                        <p:attrNameLst>
                                          <p:attrName>style.visibility</p:attrName>
                                        </p:attrNameLst>
                                      </p:cBhvr>
                                      <p:to>
                                        <p:strVal val="visible"/>
                                      </p:to>
                                    </p:set>
                                    <p:animEffect transition="in" filter="fade">
                                      <p:cBhvr>
                                        <p:cTn id="96" dur="600"/>
                                        <p:tgtEl>
                                          <p:spTgt spid="19"/>
                                        </p:tgtEl>
                                      </p:cBhvr>
                                    </p:animEffect>
                                    <p:anim calcmode="lin" valueType="num">
                                      <p:cBhvr>
                                        <p:cTn id="97" dur="600" decel="100000" fill="hold"/>
                                        <p:tgtEl>
                                          <p:spTgt spid="19"/>
                                        </p:tgtEl>
                                        <p:attrNameLst>
                                          <p:attrName>ppt_y</p:attrName>
                                        </p:attrNameLst>
                                      </p:cBhvr>
                                      <p:tavLst>
                                        <p:tav tm="0">
                                          <p:val>
                                            <p:strVal val="#ppt_y+0.04"/>
                                          </p:val>
                                        </p:tav>
                                        <p:tav tm="100000">
                                          <p:val>
                                            <p:strVal val="#ppt_y"/>
                                          </p:val>
                                        </p:tav>
                                      </p:tavLst>
                                    </p:anim>
                                  </p:childTnLst>
                                </p:cTn>
                              </p:par>
                            </p:childTnLst>
                          </p:cTn>
                        </p:par>
                        <p:par>
                          <p:cTn id="98" fill="hold">
                            <p:stCondLst>
                              <p:cond delay="0"/>
                            </p:stCondLst>
                            <p:childTnLst>
                              <p:par>
                                <p:cTn id="99" presetID="42" presetClass="entr" presetSubtype="0" fill="hold" grpId="0" nodeType="withEffect">
                                  <p:stCondLst>
                                    <p:cond delay="0"/>
                                  </p:stCondLst>
                                  <p:childTnLst>
                                    <p:set>
                                      <p:cBhvr>
                                        <p:cTn id="100" dur="1" fill="hold">
                                          <p:stCondLst>
                                            <p:cond delay="0"/>
                                          </p:stCondLst>
                                        </p:cTn>
                                        <p:tgtEl>
                                          <p:spTgt spid="20"/>
                                        </p:tgtEl>
                                        <p:attrNameLst>
                                          <p:attrName>style.visibility</p:attrName>
                                        </p:attrNameLst>
                                      </p:cBhvr>
                                      <p:to>
                                        <p:strVal val="visible"/>
                                      </p:to>
                                    </p:set>
                                    <p:animEffect transition="in" filter="fade">
                                      <p:cBhvr>
                                        <p:cTn id="101" dur="600"/>
                                        <p:tgtEl>
                                          <p:spTgt spid="20"/>
                                        </p:tgtEl>
                                      </p:cBhvr>
                                    </p:animEffect>
                                    <p:anim calcmode="lin" valueType="num">
                                      <p:cBhvr>
                                        <p:cTn id="102" dur="600" decel="100000" fill="hold"/>
                                        <p:tgtEl>
                                          <p:spTgt spid="20"/>
                                        </p:tgtEl>
                                        <p:attrNameLst>
                                          <p:attrName>ppt_y</p:attrName>
                                        </p:attrNameLst>
                                      </p:cBhvr>
                                      <p:tavLst>
                                        <p:tav tm="0">
                                          <p:val>
                                            <p:strVal val="#ppt_y+0.04"/>
                                          </p:val>
                                        </p:tav>
                                        <p:tav tm="100000">
                                          <p:val>
                                            <p:strVal val="#ppt_y"/>
                                          </p:val>
                                        </p:tav>
                                      </p:tavLst>
                                    </p:anim>
                                  </p:childTnLst>
                                </p:cTn>
                              </p:par>
                            </p:childTnLst>
                          </p:cTn>
                        </p:par>
                        <p:par>
                          <p:cTn id="103" fill="hold">
                            <p:stCondLst>
                              <p:cond delay="0"/>
                            </p:stCondLst>
                            <p:childTnLst>
                              <p:par>
                                <p:cTn id="104" presetID="42" presetClass="entr" presetSubtype="0" fill="hold" grpId="0" nodeType="withEffect">
                                  <p:stCondLst>
                                    <p:cond delay="0"/>
                                  </p:stCondLst>
                                  <p:childTnLst>
                                    <p:set>
                                      <p:cBhvr>
                                        <p:cTn id="105" dur="1" fill="hold">
                                          <p:stCondLst>
                                            <p:cond delay="0"/>
                                          </p:stCondLst>
                                        </p:cTn>
                                        <p:tgtEl>
                                          <p:spTgt spid="21"/>
                                        </p:tgtEl>
                                        <p:attrNameLst>
                                          <p:attrName>style.visibility</p:attrName>
                                        </p:attrNameLst>
                                      </p:cBhvr>
                                      <p:to>
                                        <p:strVal val="visible"/>
                                      </p:to>
                                    </p:set>
                                    <p:animEffect transition="in" filter="fade">
                                      <p:cBhvr>
                                        <p:cTn id="106" dur="600"/>
                                        <p:tgtEl>
                                          <p:spTgt spid="21"/>
                                        </p:tgtEl>
                                      </p:cBhvr>
                                    </p:animEffect>
                                    <p:anim calcmode="lin" valueType="num">
                                      <p:cBhvr>
                                        <p:cTn id="107" dur="600" decel="100000" fill="hold"/>
                                        <p:tgtEl>
                                          <p:spTgt spid="21"/>
                                        </p:tgtEl>
                                        <p:attrNameLst>
                                          <p:attrName>ppt_y</p:attrName>
                                        </p:attrNameLst>
                                      </p:cBhvr>
                                      <p:tavLst>
                                        <p:tav tm="0">
                                          <p:val>
                                            <p:strVal val="#ppt_y+0.04"/>
                                          </p:val>
                                        </p:tav>
                                        <p:tav tm="100000">
                                          <p:val>
                                            <p:strVal val="#ppt_y"/>
                                          </p:val>
                                        </p:tav>
                                      </p:tavLst>
                                    </p:anim>
                                  </p:childTnLst>
                                </p:cTn>
                              </p:par>
                            </p:childTnLst>
                          </p:cTn>
                        </p:par>
                        <p:par>
                          <p:cTn id="108" fill="hold">
                            <p:stCondLst>
                              <p:cond delay="0"/>
                            </p:stCondLst>
                            <p:childTnLst>
                              <p:par>
                                <p:cTn id="109" presetID="42" presetClass="entr" presetSubtype="0" fill="hold" grpId="0" nodeType="afterEffect">
                                  <p:stCondLst>
                                    <p:cond delay="0"/>
                                  </p:stCondLst>
                                  <p:childTnLst>
                                    <p:set>
                                      <p:cBhvr>
                                        <p:cTn id="110" dur="1" fill="hold">
                                          <p:stCondLst>
                                            <p:cond delay="0"/>
                                          </p:stCondLst>
                                        </p:cTn>
                                        <p:tgtEl>
                                          <p:spTgt spid="22"/>
                                        </p:tgtEl>
                                        <p:attrNameLst>
                                          <p:attrName>style.visibility</p:attrName>
                                        </p:attrNameLst>
                                      </p:cBhvr>
                                      <p:to>
                                        <p:strVal val="visible"/>
                                      </p:to>
                                    </p:set>
                                    <p:animEffect transition="in" filter="fade">
                                      <p:cBhvr>
                                        <p:cTn id="111" dur="600"/>
                                        <p:tgtEl>
                                          <p:spTgt spid="22"/>
                                        </p:tgtEl>
                                      </p:cBhvr>
                                    </p:animEffect>
                                    <p:anim calcmode="lin" valueType="num">
                                      <p:cBhvr>
                                        <p:cTn id="112" dur="600" decel="100000" fill="hold"/>
                                        <p:tgtEl>
                                          <p:spTgt spid="22"/>
                                        </p:tgtEl>
                                        <p:attrNameLst>
                                          <p:attrName>ppt_y</p:attrName>
                                        </p:attrNameLst>
                                      </p:cBhvr>
                                      <p:tavLst>
                                        <p:tav tm="0">
                                          <p:val>
                                            <p:strVal val="#ppt_y+0.04"/>
                                          </p:val>
                                        </p:tav>
                                        <p:tav tm="100000">
                                          <p:val>
                                            <p:strVal val="#ppt_y"/>
                                          </p:val>
                                        </p:tav>
                                      </p:tavLst>
                                    </p:anim>
                                  </p:childTnLst>
                                </p:cTn>
                              </p:par>
                            </p:childTnLst>
                          </p:cTn>
                        </p:par>
                        <p:par>
                          <p:cTn id="113" fill="hold">
                            <p:stCondLst>
                              <p:cond delay="0"/>
                            </p:stCondLst>
                            <p:childTnLst>
                              <p:par>
                                <p:cTn id="114" presetID="42" presetClass="entr" presetSubtype="0" fill="hold" grpId="0" nodeType="withEffect">
                                  <p:stCondLst>
                                    <p:cond delay="0"/>
                                  </p:stCondLst>
                                  <p:childTnLst>
                                    <p:set>
                                      <p:cBhvr>
                                        <p:cTn id="115" dur="1" fill="hold">
                                          <p:stCondLst>
                                            <p:cond delay="0"/>
                                          </p:stCondLst>
                                        </p:cTn>
                                        <p:tgtEl>
                                          <p:spTgt spid="23"/>
                                        </p:tgtEl>
                                        <p:attrNameLst>
                                          <p:attrName>style.visibility</p:attrName>
                                        </p:attrNameLst>
                                      </p:cBhvr>
                                      <p:to>
                                        <p:strVal val="visible"/>
                                      </p:to>
                                    </p:set>
                                    <p:animEffect transition="in" filter="fade">
                                      <p:cBhvr>
                                        <p:cTn id="116" dur="600"/>
                                        <p:tgtEl>
                                          <p:spTgt spid="23"/>
                                        </p:tgtEl>
                                      </p:cBhvr>
                                    </p:animEffect>
                                    <p:anim calcmode="lin" valueType="num">
                                      <p:cBhvr>
                                        <p:cTn id="117" dur="600" decel="100000" fill="hold"/>
                                        <p:tgtEl>
                                          <p:spTgt spid="23"/>
                                        </p:tgtEl>
                                        <p:attrNameLst>
                                          <p:attrName>ppt_y</p:attrName>
                                        </p:attrNameLst>
                                      </p:cBhvr>
                                      <p:tavLst>
                                        <p:tav tm="0">
                                          <p:val>
                                            <p:strVal val="#ppt_y+0.04"/>
                                          </p:val>
                                        </p:tav>
                                        <p:tav tm="100000">
                                          <p:val>
                                            <p:strVal val="#ppt_y"/>
                                          </p:val>
                                        </p:tav>
                                      </p:tavLst>
                                    </p:anim>
                                  </p:childTnLst>
                                </p:cTn>
                              </p:par>
                            </p:childTnLst>
                          </p:cTn>
                        </p:par>
                        <p:par>
                          <p:cTn id="118" fill="hold">
                            <p:stCondLst>
                              <p:cond delay="0"/>
                            </p:stCondLst>
                            <p:childTnLst>
                              <p:par>
                                <p:cTn id="119" presetID="42" presetClass="entr" presetSubtype="0" fill="hold" grpId="0" nodeType="withEffect">
                                  <p:stCondLst>
                                    <p:cond delay="0"/>
                                  </p:stCondLst>
                                  <p:childTnLst>
                                    <p:set>
                                      <p:cBhvr>
                                        <p:cTn id="120" dur="1" fill="hold">
                                          <p:stCondLst>
                                            <p:cond delay="0"/>
                                          </p:stCondLst>
                                        </p:cTn>
                                        <p:tgtEl>
                                          <p:spTgt spid="24"/>
                                        </p:tgtEl>
                                        <p:attrNameLst>
                                          <p:attrName>style.visibility</p:attrName>
                                        </p:attrNameLst>
                                      </p:cBhvr>
                                      <p:to>
                                        <p:strVal val="visible"/>
                                      </p:to>
                                    </p:set>
                                    <p:animEffect transition="in" filter="fade">
                                      <p:cBhvr>
                                        <p:cTn id="121" dur="600"/>
                                        <p:tgtEl>
                                          <p:spTgt spid="24"/>
                                        </p:tgtEl>
                                      </p:cBhvr>
                                    </p:animEffect>
                                    <p:anim calcmode="lin" valueType="num">
                                      <p:cBhvr>
                                        <p:cTn id="122" dur="600" decel="100000" fill="hold"/>
                                        <p:tgtEl>
                                          <p:spTgt spid="24"/>
                                        </p:tgtEl>
                                        <p:attrNameLst>
                                          <p:attrName>ppt_y</p:attrName>
                                        </p:attrNameLst>
                                      </p:cBhvr>
                                      <p:tavLst>
                                        <p:tav tm="0">
                                          <p:val>
                                            <p:strVal val="#ppt_y+0.04"/>
                                          </p:val>
                                        </p:tav>
                                        <p:tav tm="100000">
                                          <p:val>
                                            <p:strVal val="#ppt_y"/>
                                          </p:val>
                                        </p:tav>
                                      </p:tavLst>
                                    </p:anim>
                                  </p:childTnLst>
                                </p:cTn>
                              </p:par>
                            </p:childTnLst>
                          </p:cTn>
                        </p:par>
                        <p:par>
                          <p:cTn id="123" fill="hold">
                            <p:stCondLst>
                              <p:cond delay="0"/>
                            </p:stCondLst>
                            <p:childTnLst>
                              <p:par>
                                <p:cTn id="124" presetID="42" presetClass="entr" presetSubtype="0" fill="hold" grpId="0" nodeType="withEffect">
                                  <p:stCondLst>
                                    <p:cond delay="0"/>
                                  </p:stCondLst>
                                  <p:childTnLst>
                                    <p:set>
                                      <p:cBhvr>
                                        <p:cTn id="125" dur="1" fill="hold">
                                          <p:stCondLst>
                                            <p:cond delay="0"/>
                                          </p:stCondLst>
                                        </p:cTn>
                                        <p:tgtEl>
                                          <p:spTgt spid="25"/>
                                        </p:tgtEl>
                                        <p:attrNameLst>
                                          <p:attrName>style.visibility</p:attrName>
                                        </p:attrNameLst>
                                      </p:cBhvr>
                                      <p:to>
                                        <p:strVal val="visible"/>
                                      </p:to>
                                    </p:set>
                                    <p:animEffect transition="in" filter="fade">
                                      <p:cBhvr>
                                        <p:cTn id="126" dur="600"/>
                                        <p:tgtEl>
                                          <p:spTgt spid="25"/>
                                        </p:tgtEl>
                                      </p:cBhvr>
                                    </p:animEffect>
                                    <p:anim calcmode="lin" valueType="num">
                                      <p:cBhvr>
                                        <p:cTn id="127" dur="600" decel="100000" fill="hold"/>
                                        <p:tgtEl>
                                          <p:spTgt spid="25"/>
                                        </p:tgtEl>
                                        <p:attrNameLst>
                                          <p:attrName>ppt_y</p:attrName>
                                        </p:attrNameLst>
                                      </p:cBhvr>
                                      <p:tavLst>
                                        <p:tav tm="0">
                                          <p:val>
                                            <p:strVal val="#ppt_y+0.04"/>
                                          </p:val>
                                        </p:tav>
                                        <p:tav tm="100000">
                                          <p:val>
                                            <p:strVal val="#ppt_y"/>
                                          </p:val>
                                        </p:tav>
                                      </p:tavLst>
                                    </p:anim>
                                  </p:childTnLst>
                                </p:cTn>
                              </p:par>
                            </p:childTnLst>
                          </p:cTn>
                        </p:par>
                        <p:par>
                          <p:cTn id="128" fill="hold">
                            <p:stCondLst>
                              <p:cond delay="0"/>
                            </p:stCondLst>
                            <p:childTnLst>
                              <p:par>
                                <p:cTn id="129" presetID="42" presetClass="entr" presetSubtype="0" fill="hold" grpId="0" nodeType="withEffect">
                                  <p:stCondLst>
                                    <p:cond delay="0"/>
                                  </p:stCondLst>
                                  <p:childTnLst>
                                    <p:set>
                                      <p:cBhvr>
                                        <p:cTn id="130" dur="1" fill="hold">
                                          <p:stCondLst>
                                            <p:cond delay="0"/>
                                          </p:stCondLst>
                                        </p:cTn>
                                        <p:tgtEl>
                                          <p:spTgt spid="26"/>
                                        </p:tgtEl>
                                        <p:attrNameLst>
                                          <p:attrName>style.visibility</p:attrName>
                                        </p:attrNameLst>
                                      </p:cBhvr>
                                      <p:to>
                                        <p:strVal val="visible"/>
                                      </p:to>
                                    </p:set>
                                    <p:animEffect transition="in" filter="fade">
                                      <p:cBhvr>
                                        <p:cTn id="131" dur="600"/>
                                        <p:tgtEl>
                                          <p:spTgt spid="26"/>
                                        </p:tgtEl>
                                      </p:cBhvr>
                                    </p:animEffect>
                                    <p:anim calcmode="lin" valueType="num">
                                      <p:cBhvr>
                                        <p:cTn id="132" dur="600" decel="100000" fill="hold"/>
                                        <p:tgtEl>
                                          <p:spTgt spid="26"/>
                                        </p:tgtEl>
                                        <p:attrNameLst>
                                          <p:attrName>ppt_y</p:attrName>
                                        </p:attrNameLst>
                                      </p:cBhvr>
                                      <p:tavLst>
                                        <p:tav tm="0">
                                          <p:val>
                                            <p:strVal val="#ppt_y+0.04"/>
                                          </p:val>
                                        </p:tav>
                                        <p:tav tm="100000">
                                          <p:val>
                                            <p:strVal val="#ppt_y"/>
                                          </p:val>
                                        </p:tav>
                                      </p:tavLst>
                                    </p:anim>
                                  </p:childTnLst>
                                </p:cTn>
                              </p:par>
                            </p:childTnLst>
                          </p:cTn>
                        </p:par>
                        <p:par>
                          <p:cTn id="133" fill="hold">
                            <p:stCondLst>
                              <p:cond delay="0"/>
                            </p:stCondLst>
                            <p:childTnLst>
                              <p:par>
                                <p:cTn id="134" presetID="42" presetClass="entr" presetSubtype="0" fill="hold" grpId="0" nodeType="withEffect">
                                  <p:stCondLst>
                                    <p:cond delay="0"/>
                                  </p:stCondLst>
                                  <p:childTnLst>
                                    <p:set>
                                      <p:cBhvr>
                                        <p:cTn id="135" dur="1" fill="hold">
                                          <p:stCondLst>
                                            <p:cond delay="0"/>
                                          </p:stCondLst>
                                        </p:cTn>
                                        <p:tgtEl>
                                          <p:spTgt spid="27"/>
                                        </p:tgtEl>
                                        <p:attrNameLst>
                                          <p:attrName>style.visibility</p:attrName>
                                        </p:attrNameLst>
                                      </p:cBhvr>
                                      <p:to>
                                        <p:strVal val="visible"/>
                                      </p:to>
                                    </p:set>
                                    <p:animEffect transition="in" filter="fade">
                                      <p:cBhvr>
                                        <p:cTn id="136" dur="600"/>
                                        <p:tgtEl>
                                          <p:spTgt spid="27"/>
                                        </p:tgtEl>
                                      </p:cBhvr>
                                    </p:animEffect>
                                    <p:anim calcmode="lin" valueType="num">
                                      <p:cBhvr>
                                        <p:cTn id="137" dur="600" decel="100000" fill="hold"/>
                                        <p:tgtEl>
                                          <p:spTgt spid="27"/>
                                        </p:tgtEl>
                                        <p:attrNameLst>
                                          <p:attrName>ppt_y</p:attrName>
                                        </p:attrNameLst>
                                      </p:cBhvr>
                                      <p:tavLst>
                                        <p:tav tm="0">
                                          <p:val>
                                            <p:strVal val="#ppt_y+0.04"/>
                                          </p:val>
                                        </p:tav>
                                        <p:tav tm="100000">
                                          <p:val>
                                            <p:strVal val="#ppt_y"/>
                                          </p:val>
                                        </p:tav>
                                      </p:tavLst>
                                    </p:anim>
                                  </p:childTnLst>
                                </p:cTn>
                              </p:par>
                            </p:childTnLst>
                          </p:cTn>
                        </p:par>
                        <p:par>
                          <p:cTn id="138" fill="hold">
                            <p:stCondLst>
                              <p:cond delay="0"/>
                            </p:stCondLst>
                            <p:childTnLst>
                              <p:par>
                                <p:cTn id="139" presetID="42" presetClass="entr" presetSubtype="0" fill="hold" grpId="0" nodeType="withEffect">
                                  <p:stCondLst>
                                    <p:cond delay="0"/>
                                  </p:stCondLst>
                                  <p:childTnLst>
                                    <p:set>
                                      <p:cBhvr>
                                        <p:cTn id="140" dur="1" fill="hold">
                                          <p:stCondLst>
                                            <p:cond delay="0"/>
                                          </p:stCondLst>
                                        </p:cTn>
                                        <p:tgtEl>
                                          <p:spTgt spid="28"/>
                                        </p:tgtEl>
                                        <p:attrNameLst>
                                          <p:attrName>style.visibility</p:attrName>
                                        </p:attrNameLst>
                                      </p:cBhvr>
                                      <p:to>
                                        <p:strVal val="visible"/>
                                      </p:to>
                                    </p:set>
                                    <p:animEffect transition="in" filter="fade">
                                      <p:cBhvr>
                                        <p:cTn id="141" dur="600"/>
                                        <p:tgtEl>
                                          <p:spTgt spid="28"/>
                                        </p:tgtEl>
                                      </p:cBhvr>
                                    </p:animEffect>
                                    <p:anim calcmode="lin" valueType="num">
                                      <p:cBhvr>
                                        <p:cTn id="142" dur="600" decel="100000" fill="hold"/>
                                        <p:tgtEl>
                                          <p:spTgt spid="28"/>
                                        </p:tgtEl>
                                        <p:attrNameLst>
                                          <p:attrName>ppt_y</p:attrName>
                                        </p:attrNameLst>
                                      </p:cBhvr>
                                      <p:tavLst>
                                        <p:tav tm="0">
                                          <p:val>
                                            <p:strVal val="#ppt_y+0.04"/>
                                          </p:val>
                                        </p:tav>
                                        <p:tav tm="100000">
                                          <p:val>
                                            <p:strVal val="#ppt_y"/>
                                          </p:val>
                                        </p:tav>
                                      </p:tavLst>
                                    </p:anim>
                                  </p:childTnLst>
                                </p:cTn>
                              </p:par>
                            </p:childTnLst>
                          </p:cTn>
                        </p:par>
                        <p:par>
                          <p:cTn id="143" fill="hold">
                            <p:stCondLst>
                              <p:cond delay="0"/>
                            </p:stCondLst>
                            <p:childTnLst>
                              <p:par>
                                <p:cTn id="144" presetID="42" presetClass="entr" presetSubtype="0" fill="hold" grpId="0" nodeType="afterEffect">
                                  <p:stCondLst>
                                    <p:cond delay="0"/>
                                  </p:stCondLst>
                                  <p:childTnLst>
                                    <p:set>
                                      <p:cBhvr>
                                        <p:cTn id="145" dur="1" fill="hold">
                                          <p:stCondLst>
                                            <p:cond delay="0"/>
                                          </p:stCondLst>
                                        </p:cTn>
                                        <p:tgtEl>
                                          <p:spTgt spid="29"/>
                                        </p:tgtEl>
                                        <p:attrNameLst>
                                          <p:attrName>style.visibility</p:attrName>
                                        </p:attrNameLst>
                                      </p:cBhvr>
                                      <p:to>
                                        <p:strVal val="visible"/>
                                      </p:to>
                                    </p:set>
                                    <p:animEffect transition="in" filter="fade">
                                      <p:cBhvr>
                                        <p:cTn id="146" dur="600"/>
                                        <p:tgtEl>
                                          <p:spTgt spid="29"/>
                                        </p:tgtEl>
                                      </p:cBhvr>
                                    </p:animEffect>
                                    <p:anim calcmode="lin" valueType="num">
                                      <p:cBhvr>
                                        <p:cTn id="147" dur="600" decel="100000" fill="hold"/>
                                        <p:tgtEl>
                                          <p:spTgt spid="29"/>
                                        </p:tgtEl>
                                        <p:attrNameLst>
                                          <p:attrName>ppt_y</p:attrName>
                                        </p:attrNameLst>
                                      </p:cBhvr>
                                      <p:tavLst>
                                        <p:tav tm="0">
                                          <p:val>
                                            <p:strVal val="#ppt_y+0.04"/>
                                          </p:val>
                                        </p:tav>
                                        <p:tav tm="100000">
                                          <p:val>
                                            <p:strVal val="#ppt_y"/>
                                          </p:val>
                                        </p:tav>
                                      </p:tavLst>
                                    </p:anim>
                                  </p:childTnLst>
                                </p:cTn>
                              </p:par>
                            </p:childTnLst>
                          </p:cTn>
                        </p:par>
                        <p:par>
                          <p:cTn id="148" fill="hold">
                            <p:stCondLst>
                              <p:cond delay="0"/>
                            </p:stCondLst>
                            <p:childTnLst>
                              <p:par>
                                <p:cTn id="149" presetID="42" presetClass="entr" presetSubtype="0" fill="hold" grpId="0" nodeType="withEffect">
                                  <p:stCondLst>
                                    <p:cond delay="0"/>
                                  </p:stCondLst>
                                  <p:childTnLst>
                                    <p:set>
                                      <p:cBhvr>
                                        <p:cTn id="150" dur="1" fill="hold">
                                          <p:stCondLst>
                                            <p:cond delay="0"/>
                                          </p:stCondLst>
                                        </p:cTn>
                                        <p:tgtEl>
                                          <p:spTgt spid="30"/>
                                        </p:tgtEl>
                                        <p:attrNameLst>
                                          <p:attrName>style.visibility</p:attrName>
                                        </p:attrNameLst>
                                      </p:cBhvr>
                                      <p:to>
                                        <p:strVal val="visible"/>
                                      </p:to>
                                    </p:set>
                                    <p:animEffect transition="in" filter="fade">
                                      <p:cBhvr>
                                        <p:cTn id="151" dur="600"/>
                                        <p:tgtEl>
                                          <p:spTgt spid="30"/>
                                        </p:tgtEl>
                                      </p:cBhvr>
                                    </p:animEffect>
                                    <p:anim calcmode="lin" valueType="num">
                                      <p:cBhvr>
                                        <p:cTn id="152" dur="600" decel="100000" fill="hold"/>
                                        <p:tgtEl>
                                          <p:spTgt spid="30"/>
                                        </p:tgtEl>
                                        <p:attrNameLst>
                                          <p:attrName>ppt_y</p:attrName>
                                        </p:attrNameLst>
                                      </p:cBhvr>
                                      <p:tavLst>
                                        <p:tav tm="0">
                                          <p:val>
                                            <p:strVal val="#ppt_y+0.04"/>
                                          </p:val>
                                        </p:tav>
                                        <p:tav tm="100000">
                                          <p:val>
                                            <p:strVal val="#ppt_y"/>
                                          </p:val>
                                        </p:tav>
                                      </p:tavLst>
                                    </p:anim>
                                  </p:childTnLst>
                                </p:cTn>
                              </p:par>
                            </p:childTnLst>
                          </p:cTn>
                        </p:par>
                        <p:par>
                          <p:cTn id="153" fill="hold">
                            <p:stCondLst>
                              <p:cond delay="0"/>
                            </p:stCondLst>
                            <p:childTnLst>
                              <p:par>
                                <p:cTn id="154" presetID="42" presetClass="entr" presetSubtype="0" fill="hold" grpId="0" nodeType="withEffect">
                                  <p:stCondLst>
                                    <p:cond delay="0"/>
                                  </p:stCondLst>
                                  <p:childTnLst>
                                    <p:set>
                                      <p:cBhvr>
                                        <p:cTn id="155" dur="1" fill="hold">
                                          <p:stCondLst>
                                            <p:cond delay="0"/>
                                          </p:stCondLst>
                                        </p:cTn>
                                        <p:tgtEl>
                                          <p:spTgt spid="31"/>
                                        </p:tgtEl>
                                        <p:attrNameLst>
                                          <p:attrName>style.visibility</p:attrName>
                                        </p:attrNameLst>
                                      </p:cBhvr>
                                      <p:to>
                                        <p:strVal val="visible"/>
                                      </p:to>
                                    </p:set>
                                    <p:animEffect transition="in" filter="fade">
                                      <p:cBhvr>
                                        <p:cTn id="156" dur="600"/>
                                        <p:tgtEl>
                                          <p:spTgt spid="31"/>
                                        </p:tgtEl>
                                      </p:cBhvr>
                                    </p:animEffect>
                                    <p:anim calcmode="lin" valueType="num">
                                      <p:cBhvr>
                                        <p:cTn id="157" dur="600" decel="100000" fill="hold"/>
                                        <p:tgtEl>
                                          <p:spTgt spid="31"/>
                                        </p:tgtEl>
                                        <p:attrNameLst>
                                          <p:attrName>ppt_y</p:attrName>
                                        </p:attrNameLst>
                                      </p:cBhvr>
                                      <p:tavLst>
                                        <p:tav tm="0">
                                          <p:val>
                                            <p:strVal val="#ppt_y+0.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3" grpId="0" animBg="1"/>
      <p:bldP spid="4" grpId="0" animBg="1"/>
      <p:bldP spid="5" grpId="0" animBg="1"/>
      <p:bldP spid="7" grpId="0" animBg="1"/>
      <p:bldP spid="8" grpId="0" animBg="1"/>
      <p:bldP spid="9" grpId="0" animBg="1"/>
      <p:bldP spid="10" grpId="0" animBg="1"/>
      <p:bldP spid="11" grpId="0" animBg="1"/>
      <p:bldP spid="13" grpId="0" animBg="1"/>
      <p:bldP spid="14" grpId="0" animBg="1"/>
      <p:bldP spid="15" grpId="0" animBg="1"/>
      <p:bldP spid="16" grpId="0" animBg="1"/>
      <p:bldP spid="17" grpId="0" animBg="1"/>
      <p:bldP spid="18" grpId="0" animBg="1"/>
      <p:bldP spid="20" grpId="0" animBg="1"/>
      <p:bldP spid="21" grpId="0" animBg="1"/>
      <p:bldP spid="22" grpId="0" animBg="1"/>
      <p:bldP spid="23" grpId="0" animBg="1"/>
      <p:bldP spid="24" grpId="0" animBg="1"/>
      <p:bldP spid="25" grpId="0" animBg="1"/>
      <p:bldP spid="27" grpId="0" animBg="1"/>
      <p:bldP spid="28" grpId="0" animBg="1"/>
      <p:bldP spid="29" grpId="0" animBg="1"/>
      <p:bldP spid="31" grpId="0" animBg="1"/>
    </p:bldLst>
  </p:timing>
</p:sld>
</file>

<file path=ppt/theme/theme1.xml><?xml version="1.0" encoding="utf-8"?>
<a:theme xmlns:a="http://schemas.openxmlformats.org/drawingml/2006/main" name="NutriPill">
  <a:themeElements>
    <a:clrScheme name="NutriPill">
      <a:dk1>
        <a:srgbClr val="0B1F3A"/>
      </a:dk1>
      <a:lt1>
        <a:srgbClr val="FFFFFF"/>
      </a:lt1>
      <a:dk2>
        <a:srgbClr val="123A6B"/>
      </a:dk2>
      <a:lt2>
        <a:srgbClr val="EEF6F9"/>
      </a:lt2>
      <a:accent1>
        <a:srgbClr val="14C9A1"/>
      </a:accent1>
      <a:accent2>
        <a:srgbClr val="FF6B4A"/>
      </a:accent2>
      <a:accent3>
        <a:srgbClr val="2A6BD1"/>
      </a:accent3>
      <a:accent4>
        <a:srgbClr val="0FA888"/>
      </a:accent4>
      <a:accent5>
        <a:srgbClr val="8FA3B8"/>
      </a:accent5>
      <a:accent6>
        <a:srgbClr val="F4B740"/>
      </a:accent6>
      <a:hlink>
        <a:srgbClr val="2A6BD1"/>
      </a:hlink>
      <a:folHlink>
        <a:srgbClr val="123A6B"/>
      </a:folHlink>
    </a:clrScheme>
    <a:fontScheme name="NutriPill">
      <a:majorFont>
        <a:latin typeface="Arial Black"/>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NutriPill Workplace Ethics</dc:title>
  <dc:subject>PptxGenJS Presentation</dc:subject>
  <dc:creator>Dani, Max, William, Miguel</dc:creator>
  <cp:lastModifiedBy>Dani, Max, William, Miguel</cp:lastModifiedBy>
  <cp:revision>1</cp:revision>
  <dcterms:created xsi:type="dcterms:W3CDTF">2026-10-26T23:20:13Z</dcterms:created>
  <dcterms:modified xsi:type="dcterms:W3CDTF">2026-10-26T23:20:13Z</dcterms:modified>
</cp:coreProperties>
</file>