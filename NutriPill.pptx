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c9d6ba24-7186-177b-35b1-2052b7f2033a}">
          <p14:sldIdLst>
            <p14:sldId id="256"/>
          </p14:sldIdLst>
        </p14:section>
        <p14:section name="The idea" id="{241d812d-15ad-2637-4ef3-9af83bc0e644}">
          <p14:sldIdLst>
            <p14:sldId id="257"/>
            <p14:sldId id="258"/>
            <p14:sldId id="259"/>
            <p14:sldId id="260"/>
            <p14:sldId id="261"/>
          </p14:sldIdLst>
        </p14:section>
        <p14:section name="Our company" id="{7d9ad606-a592-cafa-f178-5addf9466ebc}">
          <p14:sldIdLst>
            <p14:sldId id="262"/>
            <p14:sldId id="263"/>
            <p14:sldId id="264"/>
          </p14:sldIdLst>
        </p14:section>
        <p14:section name="The business" id="{3d8e0ab3-5d62-36d5-452b-cde8542b7f8b}">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We're Dani, Max, William and Miguel, and today we're going to present our business idea: NutriPill. Our slogan is: Just lock in: 1 pill a day keeps the hunger away! The idea came from our own experience. As students, we often have days that are so busy that we don't have time to eat properly, so we asked ourselves: what if there was a simple way to get the nutrients you need on those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me start with a question: have you ever been too busy to eat? Think about a normal day for a lot of us: classes in the morning, training or work in the afternoon, and homework at night. On days like that, lunch is often the first thing we skip. That's why we came up with NutriPill. It's one small pill with the nutrients your body needs, for the days when you can't sit down for a proper meal.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problem. These days, a lot of people simply don't have time to cook, or even to sit down and eat. Students go from one class to the next, and many workers eat at their desk or don't eat at all. And this has consequences. By the afternoon, you feel tired and slow. It's hard to concentrate in class or at work when you're hungry. And when people do eat in a hurry, they usually choose crisps, sweets or fast food, so their nutrition is poor. What these people need is something quick and easy that still gives their body what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NutriPill comes in. It's quick to take: you just need a glass of water. It's small, so you can carry it in your backpack, your gym bag or even your jacket. It gives you extra nutrients to help you stay active until your next meal, and it's made for those really busy days, like exam weeks or long shifts at work. But we want to be honest about one thing: NutriPill doesn't replace a real meal. It's there to help on the days when a proper meal just isn't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best seller: NutriPill Daily. It's a jar of 30 capsules, so you take one a day for a whole month, just like our slogan says. It costs 9 euros 99, which is about 33 cents a day, less than a coffee. The key feature is that each capsule has the vitamins and minerals your body needs to keep going until your next meal. So why should you buy it? Because you stay focused and full of energy, even on days when you have no time to eat. Our target buyers are students, workers and athletes between 16 and 35 who have busy 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who is NutriPill for? Basically, people who want to eat well but often can't find the time, people a lot like us. First, students, because with early classes, exams and homework, lunch is usually the first thing we skip. Second, workers who do long hours and skip lunch to get everything done. Third, athletes, who train hard and need extra nutrients to recover. And finally, anyone with a hectic lifestyle, like parents or people who spend hours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needs clear values, and ours are three. The first one is innovation: we want to change the way people eat on busy days, with an idea that nobody else is really offering. The second one is being eco-friendly: we care about the planet as much as our customers' health, from the ingredients we use to the packaging. And the third one is accessibility: we believe good nutrition shouldn't be a luxury, so everyone should be able to afford NutriPill.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eco-friendly is one of our values, so we have a clear environmental policy. Basically, we don't want to help people by hurting the planet. First, our capsules only contain natural ingredients, taken from plants and fruit. Second, we buy these ingredients from farms that use renewable energy, like solar power. And finally, our jars are made from recycled plastic, and they can be recycled again once they're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how we work as a company. The first rule at NutriPill is that everyone treats each other with respect, no matter their gender or race. Every employee has the same opportunities, and discrimination is never accepted. We also expect our workers to follow our core values: innovation, sustainability and accessibility. And our social responsibility also includes our customers: our price is affordable, so people from all income groups can try NutriPill and, as our slogan says, lock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are we actually going to make this work? Our plan has three parts. First, revenue: we'll make money by selling NutriPill directly, both online and in person, and also through events and pop-up stands. Second, channels: we know our customers spend a lot of time on Instagram and TikTok, so that's where we'll focus. But we also want people to try the product in real life, so we'll set up stands at schools and gyms. And third, pricing: we want NutriPill to be cheap enough for a student to buy, but with the quality of a premium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grow the brand, we have four steps. First, we'll post real content: short videos of a normal busy day, showing early classes, training, and NutriPill in between. We don't want fake, perfect adverts. Second, we'll work with local influencers, but only athletes and creators who actually live busy lives, not just anyone with a lot of followers. Third, we'll organise events, like free sample days, and offer personalised kits and collaborations with gyms and sports clubs. And finally, we'll listen to our customers: we'll ask for their opinions, share their stories, and let them help us shape new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going further, we did a SWOT analysis to look at NutriPill honestly. Our strengths are that it's small, cheap and easy to carry, it's very quick to take, and it uses natural ingredients. But we also have weaknesses: it doesn't replace a real meal, we're a new brand that nobody knows yet, and some people simply don't trust supplements. On the other hand, there are big opportunities: more people have busy lives every year, healthy living is a huge trend on social media, and supermarkets like Mercadona could sell NutriPill to millions of people. Finally, the main threats are big supplement brands, energy drinks and protein bars, and the strict health rules for new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our proposal. We're looking for brands that want to grow with us, for example a gym, a sports brand or a healthy café. The idea is simple: they help us reach more people, and in return they get noticed by young customers, who are usually hard to reach. Together, we could create joint products, like a gym pack that includes NutriPill. We could run campaigns together to reach more people. And we would both earn people's trust, because people believe in a new brand more when it's supported by a brand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here's what we hope to achieve. In six months, we want to have a group of loyal customers who use NutriPill and talk about it online. In twelve months, we want to reach more people online and double the number of customers we have. And in five to ten years, our big dream is to see NutriPill on the shelves of big supermarkets like Mercadona here in Spain and Walmart in America, and to reach customers all over the world, in Europe, Asia, Africa and the Americas. To sum up, NutriPill is a simple answer to a problem that a lot of us have every day. Thank you very much for listening. Do you have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image" Target="../media/image-13-2.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5.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1_hero" descr="NutriPill capsule illustration">    </p:cNvPr>
          <p:cNvPicPr>
            <a:picLocks noChangeAspect="1"/>
          </p:cNvPicPr>
          <p:nvPr/>
        </p:nvPicPr>
        <p:blipFill>
          <a:blip r:embed="rId1"/>
          <a:stretch>
            <a:fillRect/>
          </a:stretch>
        </p:blipFill>
        <p:spPr>
          <a:xfrm>
            <a:off x="6309360" y="320040"/>
            <a:ext cx="6217920" cy="6217920"/>
          </a:xfrm>
          <a:prstGeom prst="rect">
            <a:avLst/>
          </a:prstGeom>
        </p:spPr>
      </p:pic>
      <p:pic>
        <p:nvPicPr>
          <p:cNvPr id="3" name="a2_logo" descr="NutriPill logo">    </p:cNvPr>
          <p:cNvPicPr>
            <a:picLocks noChangeAspect="1"/>
          </p:cNvPicPr>
          <p:nvPr/>
        </p:nvPicPr>
        <p:blipFill>
          <a:blip r:embed="rId2"/>
          <a:stretch>
            <a:fillRect/>
          </a:stretch>
        </p:blipFill>
        <p:spPr>
          <a:xfrm>
            <a:off x="685800" y="594360"/>
            <a:ext cx="2103120" cy="585216"/>
          </a:xfrm>
          <a:prstGeom prst="rect">
            <a:avLst/>
          </a:prstGeom>
        </p:spPr>
      </p:pic>
      <p:sp>
        <p:nvSpPr>
          <p:cNvPr id="4" name="a3_kicker"/>
          <p:cNvSpPr txBox="1"/>
          <p:nvPr/>
        </p:nvSpPr>
        <p:spPr>
          <a:xfrm>
            <a:off x="731520" y="1965960"/>
            <a:ext cx="5943600" cy="320040"/>
          </a:xfrm>
          <a:prstGeom prst="rect">
            <a:avLst/>
          </a:prstGeom>
          <a:noFill/>
          <a:ln/>
        </p:spPr>
        <p:txBody>
          <a:bodyPr wrap="square" lIns="0" tIns="0" rIns="0" bIns="0" rtlCol="0" anchor="t"/>
          <a:lstStyle/>
          <a:p>
            <a:pPr indent="0" marL="0">
              <a:buNone/>
            </a:pPr>
            <a:r>
              <a:rPr lang="en-US" sz="1300" b="1" spc="400" kern="0" dirty="0">
                <a:solidFill>
                  <a:srgbClr val="14C9A1"/>
                </a:solidFill>
                <a:latin typeface="Calibri" pitchFamily="34" charset="0"/>
                <a:ea typeface="Calibri" pitchFamily="34" charset="-122"/>
                <a:cs typeface="Calibri" pitchFamily="34" charset="-120"/>
              </a:rPr>
              <a:t>BUSINESS PROPOSAL</a:t>
            </a:r>
            <a:endParaRPr lang="en-US" sz="1300" dirty="0"/>
          </a:p>
        </p:txBody>
      </p:sp>
      <p:sp>
        <p:nvSpPr>
          <p:cNvPr id="5" name="a4_title"/>
          <p:cNvSpPr txBox="1"/>
          <p:nvPr/>
        </p:nvSpPr>
        <p:spPr>
          <a:xfrm>
            <a:off x="685800" y="2286000"/>
            <a:ext cx="5943600" cy="1371600"/>
          </a:xfrm>
          <a:prstGeom prst="rect">
            <a:avLst/>
          </a:prstGeom>
          <a:noFill/>
          <a:ln/>
        </p:spPr>
        <p:txBody>
          <a:bodyPr wrap="square" lIns="0" tIns="0" rIns="0" bIns="0" rtlCol="0" anchor="t"/>
          <a:lstStyle/>
          <a:p>
            <a:pPr indent="0" marL="0">
              <a:buNone/>
            </a:pPr>
            <a:r>
              <a:rPr lang="en-US" sz="8000" b="1" dirty="0">
                <a:solidFill>
                  <a:srgbClr val="FFFFFF"/>
                </a:solidFill>
                <a:latin typeface="Arial Black" pitchFamily="34" charset="0"/>
                <a:ea typeface="Arial Black" pitchFamily="34" charset="-122"/>
                <a:cs typeface="Arial Black" pitchFamily="34" charset="-120"/>
              </a:rPr>
              <a:t>Nutri</a:t>
            </a:r>
            <a:pPr indent="0" marL="0">
              <a:buNone/>
            </a:pPr>
            <a:r>
              <a:rPr lang="en-US" sz="8000" b="1" dirty="0">
                <a:solidFill>
                  <a:srgbClr val="14C9A1"/>
                </a:solidFill>
                <a:latin typeface="Arial Black" pitchFamily="34" charset="0"/>
                <a:ea typeface="Arial Black" pitchFamily="34" charset="-122"/>
                <a:cs typeface="Arial Black" pitchFamily="34" charset="-120"/>
              </a:rPr>
              <a:t>Pill</a:t>
            </a:r>
            <a:endParaRPr lang="en-US" sz="8000" dirty="0"/>
          </a:p>
        </p:txBody>
      </p:sp>
      <p:sp>
        <p:nvSpPr>
          <p:cNvPr id="6" name="a5_tag"/>
          <p:cNvSpPr txBox="1"/>
          <p:nvPr/>
        </p:nvSpPr>
        <p:spPr>
          <a:xfrm>
            <a:off x="731520" y="3657600"/>
            <a:ext cx="5394960" cy="868680"/>
          </a:xfrm>
          <a:prstGeom prst="rect">
            <a:avLst/>
          </a:prstGeom>
          <a:noFill/>
          <a:ln/>
        </p:spPr>
        <p:txBody>
          <a:bodyPr wrap="square" lIns="0" tIns="0" rIns="0" bIns="0" rtlCol="0" anchor="t"/>
          <a:lstStyle/>
          <a:p>
            <a:pPr indent="0" marL="0">
              <a:buNone/>
            </a:pPr>
            <a:r>
              <a:rPr lang="en-US" sz="2200" i="1" dirty="0">
                <a:solidFill>
                  <a:srgbClr val="FFFFFF"/>
                </a:solidFill>
                <a:latin typeface="Calibri" pitchFamily="34" charset="0"/>
                <a:ea typeface="Calibri" pitchFamily="34" charset="-122"/>
                <a:cs typeface="Calibri" pitchFamily="34" charset="-120"/>
              </a:rPr>
              <a:t>“Just lock in: 1 pill a day keeps the hunger away!”</a:t>
            </a:r>
            <a:endParaRPr lang="en-US" sz="2200" dirty="0"/>
          </a:p>
        </p:txBody>
      </p:sp>
      <p:sp>
        <p:nvSpPr>
          <p:cNvPr id="7" name="a6_pill"/>
          <p:cNvSpPr/>
          <p:nvPr/>
        </p:nvSpPr>
        <p:spPr>
          <a:xfrm>
            <a:off x="731520" y="4983480"/>
            <a:ext cx="4480560" cy="548640"/>
          </a:xfrm>
          <a:prstGeom prst="roundRect">
            <a:avLst>
              <a:gd name="adj" fmla="val 50000"/>
            </a:avLst>
          </a:prstGeom>
          <a:solidFill>
            <a:srgbClr val="FFFFFF">
              <a:alpha val="12000"/>
            </a:srgbClr>
          </a:solidFill>
          <a:ln w="12700">
            <a:solidFill>
              <a:srgbClr val="FFFFFF">
                <a:alpha val="30000"/>
              </a:srgbClr>
            </a:solidFill>
            <a:prstDash val="solid"/>
          </a:ln>
        </p:spPr>
      </p:sp>
      <p:sp>
        <p:nvSpPr>
          <p:cNvPr id="8" name="a6_names"/>
          <p:cNvSpPr txBox="1"/>
          <p:nvPr/>
        </p:nvSpPr>
        <p:spPr>
          <a:xfrm>
            <a:off x="731520" y="4983480"/>
            <a:ext cx="448056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By Dani, Max, William &amp; Miguel</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01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Introduction</a:t>
            </a:r>
            <a:endParaRPr lang="en-US" sz="3600" dirty="0"/>
          </a:p>
        </p:txBody>
      </p:sp>
      <p:pic>
        <p:nvPicPr>
          <p:cNvPr id="4" name="a1_art" descr="Capsule illustration">    </p:cNvPr>
          <p:cNvPicPr>
            <a:picLocks noChangeAspect="1"/>
          </p:cNvPicPr>
          <p:nvPr/>
        </p:nvPicPr>
        <p:blipFill>
          <a:blip r:embed="rId1"/>
          <a:stretch>
            <a:fillRect/>
          </a:stretch>
        </p:blipFill>
        <p:spPr>
          <a:xfrm>
            <a:off x="7452360" y="1874520"/>
            <a:ext cx="4206240" cy="4206240"/>
          </a:xfrm>
          <a:prstGeom prst="rect">
            <a:avLst/>
          </a:prstGeom>
        </p:spPr>
      </p:pic>
      <p:sp>
        <p:nvSpPr>
          <p:cNvPr id="5" name="a2_q"/>
          <p:cNvSpPr txBox="1"/>
          <p:nvPr/>
        </p:nvSpPr>
        <p:spPr>
          <a:xfrm>
            <a:off x="548640" y="1874520"/>
            <a:ext cx="6400800" cy="54864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Have you ever been too busy to eat?</a:t>
            </a:r>
            <a:endParaRPr lang="en-US" sz="2400" dirty="0"/>
          </a:p>
        </p:txBody>
      </p:sp>
      <p:sp>
        <p:nvSpPr>
          <p:cNvPr id="6" name="a2_text"/>
          <p:cNvSpPr txBox="1"/>
          <p:nvPr/>
        </p:nvSpPr>
        <p:spPr>
          <a:xfrm>
            <a:off x="548640" y="2560320"/>
            <a:ext cx="6400800" cy="109728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Think about a day with classes in the morning, training in the afternoon and homework at night. Sometimes, lunch just doesn't happen.</a:t>
            </a:r>
            <a:endParaRPr lang="en-US" sz="1800" dirty="0"/>
          </a:p>
        </p:txBody>
      </p:sp>
      <p:sp>
        <p:nvSpPr>
          <p:cNvPr id="7" name="a3_card"/>
          <p:cNvSpPr/>
          <p:nvPr/>
        </p:nvSpPr>
        <p:spPr>
          <a:xfrm>
            <a:off x="548640" y="3840480"/>
            <a:ext cx="6400800" cy="2286000"/>
          </a:xfrm>
          <a:prstGeom prst="roundRect">
            <a:avLst>
              <a:gd name="adj" fmla="val 7200"/>
            </a:avLst>
          </a:prstGeom>
          <a:solidFill>
            <a:srgbClr val="FFFFFF"/>
          </a:solidFill>
          <a:ln/>
          <a:effectLst>
            <a:outerShdw sx="100000" sy="100000" kx="0" ky="0" algn="bl" rotWithShape="0" blurRad="228600" dist="76200" dir="5400000">
              <a:srgbClr val="0B1F3A">
                <a:alpha val="12000"/>
              </a:srgbClr>
            </a:outerShdw>
          </a:effectLst>
        </p:spPr>
      </p:sp>
      <p:pic>
        <p:nvPicPr>
          <p:cNvPr id="8" name="a3_logo" descr="NutriPill logo">    </p:cNvPr>
          <p:cNvPicPr>
            <a:picLocks noChangeAspect="1"/>
          </p:cNvPicPr>
          <p:nvPr/>
        </p:nvPicPr>
        <p:blipFill>
          <a:blip r:embed="rId2"/>
          <a:stretch>
            <a:fillRect/>
          </a:stretch>
        </p:blipFill>
        <p:spPr>
          <a:xfrm>
            <a:off x="868680" y="4069080"/>
            <a:ext cx="1975104" cy="548640"/>
          </a:xfrm>
          <a:prstGeom prst="rect">
            <a:avLst/>
          </a:prstGeom>
        </p:spPr>
      </p:pic>
      <p:sp>
        <p:nvSpPr>
          <p:cNvPr id="9" name="a3_text"/>
          <p:cNvSpPr txBox="1"/>
          <p:nvPr/>
        </p:nvSpPr>
        <p:spPr>
          <a:xfrm>
            <a:off x="868680" y="4663440"/>
            <a:ext cx="5806440" cy="73152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That's why we came up with NutriPill: one small pill with the nutrients your body needs, for the days when you can't sit down for a proper meal.</a:t>
            </a:r>
            <a:endParaRPr lang="en-US" sz="1500" dirty="0"/>
          </a:p>
        </p:txBody>
      </p:sp>
      <p:sp>
        <p:nvSpPr>
          <p:cNvPr id="10" name="a4_chip"/>
          <p:cNvSpPr/>
          <p:nvPr/>
        </p:nvSpPr>
        <p:spPr>
          <a:xfrm>
            <a:off x="868680" y="5486400"/>
            <a:ext cx="1234440" cy="411480"/>
          </a:xfrm>
          <a:prstGeom prst="roundRect">
            <a:avLst>
              <a:gd name="adj" fmla="val 48889"/>
            </a:avLst>
          </a:prstGeom>
          <a:solidFill>
            <a:srgbClr val="E3FAF4"/>
          </a:solidFill>
          <a:ln/>
        </p:spPr>
      </p:sp>
      <p:sp>
        <p:nvSpPr>
          <p:cNvPr id="11" name="a4_chiptext"/>
          <p:cNvSpPr txBox="1"/>
          <p:nvPr/>
        </p:nvSpPr>
        <p:spPr>
          <a:xfrm>
            <a:off x="8686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Small</a:t>
            </a:r>
            <a:endParaRPr lang="en-US" sz="1400" dirty="0"/>
          </a:p>
        </p:txBody>
      </p:sp>
      <p:sp>
        <p:nvSpPr>
          <p:cNvPr id="12" name="a5_chip"/>
          <p:cNvSpPr/>
          <p:nvPr/>
        </p:nvSpPr>
        <p:spPr>
          <a:xfrm>
            <a:off x="2240280" y="5486400"/>
            <a:ext cx="1234440" cy="411480"/>
          </a:xfrm>
          <a:prstGeom prst="roundRect">
            <a:avLst>
              <a:gd name="adj" fmla="val 48889"/>
            </a:avLst>
          </a:prstGeom>
          <a:solidFill>
            <a:srgbClr val="E3FAF4"/>
          </a:solidFill>
          <a:ln/>
        </p:spPr>
      </p:sp>
      <p:sp>
        <p:nvSpPr>
          <p:cNvPr id="13" name="a5_chiptext"/>
          <p:cNvSpPr txBox="1"/>
          <p:nvPr/>
        </p:nvSpPr>
        <p:spPr>
          <a:xfrm>
            <a:off x="22402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Simple</a:t>
            </a:r>
            <a:endParaRPr lang="en-US" sz="1400" dirty="0"/>
          </a:p>
        </p:txBody>
      </p:sp>
      <p:sp>
        <p:nvSpPr>
          <p:cNvPr id="14" name="a6_chip"/>
          <p:cNvSpPr/>
          <p:nvPr/>
        </p:nvSpPr>
        <p:spPr>
          <a:xfrm>
            <a:off x="3611880" y="5486400"/>
            <a:ext cx="1234440" cy="411480"/>
          </a:xfrm>
          <a:prstGeom prst="roundRect">
            <a:avLst>
              <a:gd name="adj" fmla="val 48889"/>
            </a:avLst>
          </a:prstGeom>
          <a:solidFill>
            <a:srgbClr val="E3FAF4"/>
          </a:solidFill>
          <a:ln/>
        </p:spPr>
      </p:sp>
      <p:sp>
        <p:nvSpPr>
          <p:cNvPr id="15" name="a6_chiptext"/>
          <p:cNvSpPr txBox="1"/>
          <p:nvPr/>
        </p:nvSpPr>
        <p:spPr>
          <a:xfrm>
            <a:off x="36118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On the go</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2</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02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The Problem</a:t>
            </a:r>
            <a:endParaRPr lang="en-US" sz="3600" dirty="0"/>
          </a:p>
        </p:txBody>
      </p:sp>
      <p:sp>
        <p:nvSpPr>
          <p:cNvPr id="4" name="a1_text"/>
          <p:cNvSpPr txBox="1"/>
          <p:nvPr/>
        </p:nvSpPr>
        <p:spPr>
          <a:xfrm>
            <a:off x="548640" y="1783080"/>
            <a:ext cx="10515600" cy="96012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A lot of people don't have time to cook, or even to sit down and eat. Students rush from one class to the next, and many workers eat at their desk, or don't eat at all.</a:t>
            </a:r>
            <a:endParaRPr lang="en-US" sz="1800" dirty="0"/>
          </a:p>
        </p:txBody>
      </p:sp>
      <p:sp>
        <p:nvSpPr>
          <p:cNvPr id="5" name="a2_card"/>
          <p:cNvSpPr/>
          <p:nvPr/>
        </p:nvSpPr>
        <p:spPr>
          <a:xfrm>
            <a:off x="54864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6" name="a2_circle"/>
          <p:cNvSpPr/>
          <p:nvPr/>
        </p:nvSpPr>
        <p:spPr>
          <a:xfrm>
            <a:off x="868680" y="3200400"/>
            <a:ext cx="731520" cy="731520"/>
          </a:xfrm>
          <a:prstGeom prst="ellipse">
            <a:avLst/>
          </a:prstGeom>
          <a:solidFill>
            <a:srgbClr val="FF6B4A"/>
          </a:solidFill>
          <a:ln/>
        </p:spPr>
      </p:sp>
      <p:pic>
        <p:nvPicPr>
          <p:cNvPr id="7" name="a2_icon" descr="battery">    </p:cNvPr>
          <p:cNvPicPr>
            <a:picLocks noChangeAspect="1"/>
          </p:cNvPicPr>
          <p:nvPr/>
        </p:nvPicPr>
        <p:blipFill>
          <a:blip r:embed="rId1"/>
          <a:stretch>
            <a:fillRect/>
          </a:stretch>
        </p:blipFill>
        <p:spPr>
          <a:xfrm>
            <a:off x="1066190" y="3397910"/>
            <a:ext cx="336499" cy="336499"/>
          </a:xfrm>
          <a:prstGeom prst="rect">
            <a:avLst/>
          </a:prstGeom>
        </p:spPr>
      </p:pic>
      <p:sp>
        <p:nvSpPr>
          <p:cNvPr id="8" name="a2_h"/>
          <p:cNvSpPr txBox="1"/>
          <p:nvPr/>
        </p:nvSpPr>
        <p:spPr>
          <a:xfrm>
            <a:off x="86868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Low energy</a:t>
            </a:r>
            <a:endParaRPr lang="en-US" sz="1900" dirty="0"/>
          </a:p>
        </p:txBody>
      </p:sp>
      <p:sp>
        <p:nvSpPr>
          <p:cNvPr id="9" name="a2_d"/>
          <p:cNvSpPr txBox="1"/>
          <p:nvPr/>
        </p:nvSpPr>
        <p:spPr>
          <a:xfrm>
            <a:off x="86868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By the afternoon you feel tired and slow, even if you slept well.</a:t>
            </a:r>
            <a:endParaRPr lang="en-US" sz="1400" dirty="0"/>
          </a:p>
        </p:txBody>
      </p:sp>
      <p:sp>
        <p:nvSpPr>
          <p:cNvPr id="10" name="a3_card"/>
          <p:cNvSpPr/>
          <p:nvPr/>
        </p:nvSpPr>
        <p:spPr>
          <a:xfrm>
            <a:off x="429768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11" name="a3_circle"/>
          <p:cNvSpPr/>
          <p:nvPr/>
        </p:nvSpPr>
        <p:spPr>
          <a:xfrm>
            <a:off x="4617720" y="3200400"/>
            <a:ext cx="731520" cy="731520"/>
          </a:xfrm>
          <a:prstGeom prst="ellipse">
            <a:avLst/>
          </a:prstGeom>
          <a:solidFill>
            <a:srgbClr val="FF6B4A"/>
          </a:solidFill>
          <a:ln/>
        </p:spPr>
      </p:sp>
      <p:pic>
        <p:nvPicPr>
          <p:cNvPr id="12" name="a3_icon" descr="brain">    </p:cNvPr>
          <p:cNvPicPr>
            <a:picLocks noChangeAspect="1"/>
          </p:cNvPicPr>
          <p:nvPr/>
        </p:nvPicPr>
        <p:blipFill>
          <a:blip r:embed="rId2"/>
          <a:stretch>
            <a:fillRect/>
          </a:stretch>
        </p:blipFill>
        <p:spPr>
          <a:xfrm>
            <a:off x="4815230" y="3397910"/>
            <a:ext cx="336499" cy="336499"/>
          </a:xfrm>
          <a:prstGeom prst="rect">
            <a:avLst/>
          </a:prstGeom>
        </p:spPr>
      </p:pic>
      <p:sp>
        <p:nvSpPr>
          <p:cNvPr id="13" name="a3_h"/>
          <p:cNvSpPr txBox="1"/>
          <p:nvPr/>
        </p:nvSpPr>
        <p:spPr>
          <a:xfrm>
            <a:off x="461772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Hard to concentrate</a:t>
            </a:r>
            <a:endParaRPr lang="en-US" sz="1900" dirty="0"/>
          </a:p>
        </p:txBody>
      </p:sp>
      <p:sp>
        <p:nvSpPr>
          <p:cNvPr id="14" name="a3_d"/>
          <p:cNvSpPr txBox="1"/>
          <p:nvPr/>
        </p:nvSpPr>
        <p:spPr>
          <a:xfrm>
            <a:off x="461772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It's really difficult to pay attention in class or at work when you're hungry.</a:t>
            </a:r>
            <a:endParaRPr lang="en-US" sz="1400" dirty="0"/>
          </a:p>
        </p:txBody>
      </p:sp>
      <p:sp>
        <p:nvSpPr>
          <p:cNvPr id="15" name="a4_card"/>
          <p:cNvSpPr/>
          <p:nvPr/>
        </p:nvSpPr>
        <p:spPr>
          <a:xfrm>
            <a:off x="804672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16" name="a4_circle"/>
          <p:cNvSpPr/>
          <p:nvPr/>
        </p:nvSpPr>
        <p:spPr>
          <a:xfrm>
            <a:off x="8366760" y="3200400"/>
            <a:ext cx="731520" cy="731520"/>
          </a:xfrm>
          <a:prstGeom prst="ellipse">
            <a:avLst/>
          </a:prstGeom>
          <a:solidFill>
            <a:srgbClr val="FF6B4A"/>
          </a:solidFill>
          <a:ln/>
        </p:spPr>
      </p:sp>
      <p:pic>
        <p:nvPicPr>
          <p:cNvPr id="17" name="a4_icon" descr="apple">    </p:cNvPr>
          <p:cNvPicPr>
            <a:picLocks noChangeAspect="1"/>
          </p:cNvPicPr>
          <p:nvPr/>
        </p:nvPicPr>
        <p:blipFill>
          <a:blip r:embed="rId3"/>
          <a:stretch>
            <a:fillRect/>
          </a:stretch>
        </p:blipFill>
        <p:spPr>
          <a:xfrm>
            <a:off x="8564270" y="3397910"/>
            <a:ext cx="336499" cy="336499"/>
          </a:xfrm>
          <a:prstGeom prst="rect">
            <a:avLst/>
          </a:prstGeom>
        </p:spPr>
      </p:pic>
      <p:sp>
        <p:nvSpPr>
          <p:cNvPr id="18" name="a4_h"/>
          <p:cNvSpPr txBox="1"/>
          <p:nvPr/>
        </p:nvSpPr>
        <p:spPr>
          <a:xfrm>
            <a:off x="836676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Poor nutrition</a:t>
            </a:r>
            <a:endParaRPr lang="en-US" sz="1900" dirty="0"/>
          </a:p>
        </p:txBody>
      </p:sp>
      <p:sp>
        <p:nvSpPr>
          <p:cNvPr id="19" name="a4_d"/>
          <p:cNvSpPr txBox="1"/>
          <p:nvPr/>
        </p:nvSpPr>
        <p:spPr>
          <a:xfrm>
            <a:off x="836676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When people do eat in a hurry, it's usually crisps, sweets or fast food.</a:t>
            </a:r>
            <a:endParaRPr lang="en-US" sz="1400" dirty="0"/>
          </a:p>
        </p:txBody>
      </p:sp>
      <p:sp>
        <p:nvSpPr>
          <p:cNvPr id="20" name="a5_bar"/>
          <p:cNvSpPr/>
          <p:nvPr/>
        </p:nvSpPr>
        <p:spPr>
          <a:xfrm>
            <a:off x="548640" y="5532120"/>
            <a:ext cx="10972800" cy="594360"/>
          </a:xfrm>
          <a:prstGeom prst="roundRect">
            <a:avLst>
              <a:gd name="adj" fmla="val 49231"/>
            </a:avLst>
          </a:prstGeom>
          <a:solidFill>
            <a:srgbClr val="14C9A1"/>
          </a:solidFill>
          <a:ln/>
        </p:spPr>
      </p:sp>
      <p:sp>
        <p:nvSpPr>
          <p:cNvPr id="21" name="a5_bartext"/>
          <p:cNvSpPr txBox="1"/>
          <p:nvPr/>
        </p:nvSpPr>
        <p:spPr>
          <a:xfrm>
            <a:off x="548640" y="5532120"/>
            <a:ext cx="10972800" cy="594360"/>
          </a:xfrm>
          <a:prstGeom prst="rect">
            <a:avLst/>
          </a:prstGeom>
          <a:noFill/>
          <a:ln/>
        </p:spPr>
        <p:txBody>
          <a:bodyPr wrap="square" lIns="0" tIns="0" rIns="0" bIns="0" rtlCol="0" anchor="ctr"/>
          <a:lstStyle/>
          <a:p>
            <a:pPr algn="ctr" indent="0" marL="0">
              <a:buNone/>
            </a:pPr>
            <a:r>
              <a:rPr lang="en-US" sz="1700" b="1" dirty="0">
                <a:solidFill>
                  <a:srgbClr val="0B1F3A"/>
                </a:solidFill>
                <a:latin typeface="Calibri" pitchFamily="34" charset="0"/>
                <a:ea typeface="Calibri" pitchFamily="34" charset="-122"/>
                <a:cs typeface="Calibri" pitchFamily="34" charset="-120"/>
              </a:rPr>
              <a:t>They need something quick and easy that still gives their body what it needs.</a:t>
            </a:r>
            <a:endParaRPr lang="en-US" sz="17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03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Solution</a:t>
            </a:r>
            <a:endParaRPr lang="en-US" sz="3600" dirty="0"/>
          </a:p>
        </p:txBody>
      </p:sp>
      <p:pic>
        <p:nvPicPr>
          <p:cNvPr id="4" name="a1_art" descr="Capsule illustration">    </p:cNvPr>
          <p:cNvPicPr>
            <a:picLocks noChangeAspect="1"/>
          </p:cNvPicPr>
          <p:nvPr/>
        </p:nvPicPr>
        <p:blipFill>
          <a:blip r:embed="rId1"/>
          <a:stretch>
            <a:fillRect/>
          </a:stretch>
        </p:blipFill>
        <p:spPr>
          <a:xfrm>
            <a:off x="411480" y="1828800"/>
            <a:ext cx="4023360" cy="4023360"/>
          </a:xfrm>
          <a:prstGeom prst="rect">
            <a:avLst/>
          </a:prstGeom>
        </p:spPr>
      </p:pic>
      <p:sp>
        <p:nvSpPr>
          <p:cNvPr id="5" name="a2_card"/>
          <p:cNvSpPr/>
          <p:nvPr/>
        </p:nvSpPr>
        <p:spPr>
          <a:xfrm>
            <a:off x="484632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5074920" y="2148840"/>
            <a:ext cx="640080" cy="640080"/>
          </a:xfrm>
          <a:prstGeom prst="ellipse">
            <a:avLst/>
          </a:prstGeom>
          <a:solidFill>
            <a:srgbClr val="E3FAF4"/>
          </a:solidFill>
          <a:ln/>
        </p:spPr>
      </p:sp>
      <p:pic>
        <p:nvPicPr>
          <p:cNvPr id="7" name="a2_icon" descr="lightbulb">    </p:cNvPr>
          <p:cNvPicPr>
            <a:picLocks noChangeAspect="1"/>
          </p:cNvPicPr>
          <p:nvPr/>
        </p:nvPicPr>
        <p:blipFill>
          <a:blip r:embed="rId2"/>
          <a:stretch>
            <a:fillRect/>
          </a:stretch>
        </p:blipFill>
        <p:spPr>
          <a:xfrm>
            <a:off x="5247742" y="2321662"/>
            <a:ext cx="294437" cy="294437"/>
          </a:xfrm>
          <a:prstGeom prst="rect">
            <a:avLst/>
          </a:prstGeom>
        </p:spPr>
      </p:pic>
      <p:sp>
        <p:nvSpPr>
          <p:cNvPr id="8" name="a2_h"/>
          <p:cNvSpPr txBox="1"/>
          <p:nvPr/>
        </p:nvSpPr>
        <p:spPr>
          <a:xfrm>
            <a:off x="5897880" y="205740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Quick to take</a:t>
            </a:r>
            <a:endParaRPr lang="en-US" sz="1500" dirty="0"/>
          </a:p>
        </p:txBody>
      </p:sp>
      <p:sp>
        <p:nvSpPr>
          <p:cNvPr id="9" name="a2_d"/>
          <p:cNvSpPr txBox="1"/>
          <p:nvPr/>
        </p:nvSpPr>
        <p:spPr>
          <a:xfrm>
            <a:off x="5897880" y="246888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Just take it with a glass of water and you're done.</a:t>
            </a:r>
            <a:endParaRPr lang="en-US" sz="1400" dirty="0"/>
          </a:p>
        </p:txBody>
      </p:sp>
      <p:sp>
        <p:nvSpPr>
          <p:cNvPr id="10" name="a3_card"/>
          <p:cNvSpPr/>
          <p:nvPr/>
        </p:nvSpPr>
        <p:spPr>
          <a:xfrm>
            <a:off x="832104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8549640" y="2148840"/>
            <a:ext cx="640080" cy="640080"/>
          </a:xfrm>
          <a:prstGeom prst="ellipse">
            <a:avLst/>
          </a:prstGeom>
          <a:solidFill>
            <a:srgbClr val="E3FAF4"/>
          </a:solidFill>
          <a:ln/>
        </p:spPr>
      </p:sp>
      <p:pic>
        <p:nvPicPr>
          <p:cNvPr id="12" name="a3_icon" descr="suitcase">    </p:cNvPr>
          <p:cNvPicPr>
            <a:picLocks noChangeAspect="1"/>
          </p:cNvPicPr>
          <p:nvPr/>
        </p:nvPicPr>
        <p:blipFill>
          <a:blip r:embed="rId3"/>
          <a:stretch>
            <a:fillRect/>
          </a:stretch>
        </p:blipFill>
        <p:spPr>
          <a:xfrm>
            <a:off x="8722462" y="2321662"/>
            <a:ext cx="294437" cy="294437"/>
          </a:xfrm>
          <a:prstGeom prst="rect">
            <a:avLst/>
          </a:prstGeom>
        </p:spPr>
      </p:pic>
      <p:sp>
        <p:nvSpPr>
          <p:cNvPr id="13" name="a3_h"/>
          <p:cNvSpPr txBox="1"/>
          <p:nvPr/>
        </p:nvSpPr>
        <p:spPr>
          <a:xfrm>
            <a:off x="9372600" y="205740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Fits in your pocket</a:t>
            </a:r>
            <a:endParaRPr lang="en-US" sz="1500" dirty="0"/>
          </a:p>
        </p:txBody>
      </p:sp>
      <p:sp>
        <p:nvSpPr>
          <p:cNvPr id="14" name="a3_d"/>
          <p:cNvSpPr txBox="1"/>
          <p:nvPr/>
        </p:nvSpPr>
        <p:spPr>
          <a:xfrm>
            <a:off x="9372600" y="246888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Carry it in your backpack, gym bag or jacket.</a:t>
            </a:r>
            <a:endParaRPr lang="en-US" sz="1400" dirty="0"/>
          </a:p>
        </p:txBody>
      </p:sp>
      <p:sp>
        <p:nvSpPr>
          <p:cNvPr id="15" name="a4_card"/>
          <p:cNvSpPr/>
          <p:nvPr/>
        </p:nvSpPr>
        <p:spPr>
          <a:xfrm>
            <a:off x="484632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5074920" y="3840480"/>
            <a:ext cx="640080" cy="640080"/>
          </a:xfrm>
          <a:prstGeom prst="ellipse">
            <a:avLst/>
          </a:prstGeom>
          <a:solidFill>
            <a:srgbClr val="E3FAF4"/>
          </a:solidFill>
          <a:ln/>
        </p:spPr>
      </p:sp>
      <p:pic>
        <p:nvPicPr>
          <p:cNvPr id="17" name="a4_icon" descr="bolt">    </p:cNvPr>
          <p:cNvPicPr>
            <a:picLocks noChangeAspect="1"/>
          </p:cNvPicPr>
          <p:nvPr/>
        </p:nvPicPr>
        <p:blipFill>
          <a:blip r:embed="rId4"/>
          <a:stretch>
            <a:fillRect/>
          </a:stretch>
        </p:blipFill>
        <p:spPr>
          <a:xfrm>
            <a:off x="5247742" y="4013302"/>
            <a:ext cx="294437" cy="294437"/>
          </a:xfrm>
          <a:prstGeom prst="rect">
            <a:avLst/>
          </a:prstGeom>
        </p:spPr>
      </p:pic>
      <p:sp>
        <p:nvSpPr>
          <p:cNvPr id="18" name="a4_h"/>
          <p:cNvSpPr txBox="1"/>
          <p:nvPr/>
        </p:nvSpPr>
        <p:spPr>
          <a:xfrm>
            <a:off x="5897880" y="374904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Keeps you going</a:t>
            </a:r>
            <a:endParaRPr lang="en-US" sz="1500" dirty="0"/>
          </a:p>
        </p:txBody>
      </p:sp>
      <p:sp>
        <p:nvSpPr>
          <p:cNvPr id="19" name="a4_d"/>
          <p:cNvSpPr txBox="1"/>
          <p:nvPr/>
        </p:nvSpPr>
        <p:spPr>
          <a:xfrm>
            <a:off x="5897880" y="416052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Extra nutrients to keep you active until your next meal.</a:t>
            </a:r>
            <a:endParaRPr lang="en-US" sz="1400" dirty="0"/>
          </a:p>
        </p:txBody>
      </p:sp>
      <p:sp>
        <p:nvSpPr>
          <p:cNvPr id="20" name="a5_card"/>
          <p:cNvSpPr/>
          <p:nvPr/>
        </p:nvSpPr>
        <p:spPr>
          <a:xfrm>
            <a:off x="832104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8549640" y="3840480"/>
            <a:ext cx="640080" cy="640080"/>
          </a:xfrm>
          <a:prstGeom prst="ellipse">
            <a:avLst/>
          </a:prstGeom>
          <a:solidFill>
            <a:srgbClr val="E3FAF4"/>
          </a:solidFill>
          <a:ln/>
        </p:spPr>
      </p:sp>
      <p:pic>
        <p:nvPicPr>
          <p:cNvPr id="22" name="a5_icon" descr="heart">    </p:cNvPr>
          <p:cNvPicPr>
            <a:picLocks noChangeAspect="1"/>
          </p:cNvPicPr>
          <p:nvPr/>
        </p:nvPicPr>
        <p:blipFill>
          <a:blip r:embed="rId5"/>
          <a:stretch>
            <a:fillRect/>
          </a:stretch>
        </p:blipFill>
        <p:spPr>
          <a:xfrm>
            <a:off x="8722462" y="4013302"/>
            <a:ext cx="294437" cy="294437"/>
          </a:xfrm>
          <a:prstGeom prst="rect">
            <a:avLst/>
          </a:prstGeom>
        </p:spPr>
      </p:pic>
      <p:sp>
        <p:nvSpPr>
          <p:cNvPr id="23" name="a5_h"/>
          <p:cNvSpPr txBox="1"/>
          <p:nvPr/>
        </p:nvSpPr>
        <p:spPr>
          <a:xfrm>
            <a:off x="9372600" y="374904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Made for busy days</a:t>
            </a:r>
            <a:endParaRPr lang="en-US" sz="1500" dirty="0"/>
          </a:p>
        </p:txBody>
      </p:sp>
      <p:sp>
        <p:nvSpPr>
          <p:cNvPr id="24" name="a5_d"/>
          <p:cNvSpPr txBox="1"/>
          <p:nvPr/>
        </p:nvSpPr>
        <p:spPr>
          <a:xfrm>
            <a:off x="9372600" y="416052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For exam weeks, long shifts or non-stop days.</a:t>
            </a:r>
            <a:endParaRPr lang="en-US" sz="1400" dirty="0"/>
          </a:p>
        </p:txBody>
      </p:sp>
      <p:sp>
        <p:nvSpPr>
          <p:cNvPr id="25" name="a6_note"/>
          <p:cNvSpPr/>
          <p:nvPr/>
        </p:nvSpPr>
        <p:spPr>
          <a:xfrm>
            <a:off x="4846320" y="5349240"/>
            <a:ext cx="6675120" cy="777240"/>
          </a:xfrm>
          <a:prstGeom prst="roundRect">
            <a:avLst>
              <a:gd name="adj" fmla="val 17647"/>
            </a:avLst>
          </a:prstGeom>
          <a:solidFill>
            <a:srgbClr val="FFF0EC"/>
          </a:solidFill>
          <a:ln/>
        </p:spPr>
      </p:sp>
      <p:sp>
        <p:nvSpPr>
          <p:cNvPr id="26" name="a6_notetext"/>
          <p:cNvSpPr txBox="1"/>
          <p:nvPr/>
        </p:nvSpPr>
        <p:spPr>
          <a:xfrm>
            <a:off x="5074920" y="5349240"/>
            <a:ext cx="6309360" cy="777240"/>
          </a:xfrm>
          <a:prstGeom prst="rect">
            <a:avLst/>
          </a:prstGeom>
          <a:noFill/>
          <a:ln/>
        </p:spPr>
        <p:txBody>
          <a:bodyPr wrap="square" lIns="0" tIns="0" rIns="0" bIns="0" rtlCol="0" anchor="ctr"/>
          <a:lstStyle/>
          <a:p>
            <a:pPr indent="0" marL="0">
              <a:buNone/>
            </a:pPr>
            <a:r>
              <a:rPr lang="en-US" sz="1400" b="1" dirty="0">
                <a:solidFill>
                  <a:srgbClr val="FF6B4A"/>
                </a:solidFill>
                <a:latin typeface="Calibri" pitchFamily="34" charset="0"/>
                <a:ea typeface="Calibri" pitchFamily="34" charset="-122"/>
                <a:cs typeface="Calibri" pitchFamily="34" charset="-120"/>
              </a:rPr>
              <a:t>To be clear: </a:t>
            </a:r>
            <a:pPr indent="0" marL="0">
              <a:buNone/>
            </a:pPr>
            <a:r>
              <a:rPr lang="en-US" sz="1400" dirty="0">
                <a:solidFill>
                  <a:srgbClr val="0B1F3A"/>
                </a:solidFill>
                <a:latin typeface="Calibri" pitchFamily="34" charset="0"/>
                <a:ea typeface="Calibri" pitchFamily="34" charset="-122"/>
                <a:cs typeface="Calibri" pitchFamily="34" charset="-120"/>
              </a:rPr>
              <a:t>NutriPill doesn't replace a real meal. It's there for the days when a proper meal just isn't possible.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4</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12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after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600"/>
                                        <p:tgtEl>
                                          <p:spTgt spid="25"/>
                                        </p:tgtEl>
                                      </p:cBhvr>
                                    </p:animEffect>
                                    <p:anim calcmode="lin" valueType="num">
                                      <p:cBhvr>
                                        <p:cTn id="12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600"/>
                                        <p:tgtEl>
                                          <p:spTgt spid="26"/>
                                        </p:tgtEl>
                                      </p:cBhvr>
                                    </p:animEffect>
                                    <p:anim calcmode="lin" valueType="num">
                                      <p:cBhvr>
                                        <p:cTn id="127" dur="600" decel="100000" fill="hold"/>
                                        <p:tgtEl>
                                          <p:spTgt spid="2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04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Best Seller</a:t>
            </a:r>
            <a:endParaRPr lang="en-US" sz="3600" dirty="0"/>
          </a:p>
        </p:txBody>
      </p:sp>
      <p:pic>
        <p:nvPicPr>
          <p:cNvPr id="4" name="a1_product" descr="NutriPill Daily jar with 30 capsules">    </p:cNvPr>
          <p:cNvPicPr>
            <a:picLocks noChangeAspect="1"/>
          </p:cNvPicPr>
          <p:nvPr/>
        </p:nvPicPr>
        <p:blipFill>
          <a:blip r:embed="rId1"/>
          <a:stretch>
            <a:fillRect/>
          </a:stretch>
        </p:blipFill>
        <p:spPr>
          <a:xfrm>
            <a:off x="274320" y="1600200"/>
            <a:ext cx="4937760" cy="4937760"/>
          </a:xfrm>
          <a:prstGeom prst="rect">
            <a:avLst/>
          </a:prstGeom>
        </p:spPr>
      </p:pic>
      <p:sp>
        <p:nvSpPr>
          <p:cNvPr id="5" name="a2_badge"/>
          <p:cNvSpPr/>
          <p:nvPr/>
        </p:nvSpPr>
        <p:spPr>
          <a:xfrm>
            <a:off x="3977640" y="1783080"/>
            <a:ext cx="1508760" cy="1508760"/>
          </a:xfrm>
          <a:prstGeom prst="ellipse">
            <a:avLst/>
          </a:prstGeom>
          <a:solidFill>
            <a:srgbClr val="FF6B4A"/>
          </a:solidFill>
          <a:ln w="50800">
            <a:solidFill>
              <a:srgbClr val="FFFFFF"/>
            </a:solidFill>
            <a:prstDash val="solid"/>
          </a:ln>
          <a:effectLst>
            <a:outerShdw sx="100000" sy="100000" kx="0" ky="0" algn="bl" rotWithShape="0" blurRad="228600" dist="76200" dir="5400000">
              <a:srgbClr val="0B1F3A">
                <a:alpha val="12000"/>
              </a:srgbClr>
            </a:outerShdw>
          </a:effectLst>
        </p:spPr>
      </p:sp>
      <p:sp>
        <p:nvSpPr>
          <p:cNvPr id="6" name="a2_price"/>
          <p:cNvSpPr txBox="1"/>
          <p:nvPr/>
        </p:nvSpPr>
        <p:spPr>
          <a:xfrm>
            <a:off x="3977640" y="1783080"/>
            <a:ext cx="1508760" cy="15087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€9.99</a:t>
            </a:r>
            <a:endParaRPr lang="en-US" sz="2400" dirty="0"/>
          </a:p>
          <a:p>
            <a:pPr algn="ctr" indent="0" marL="0">
              <a:buNone/>
            </a:pPr>
            <a:r>
              <a:rPr lang="en-US" sz="1300" dirty="0">
                <a:solidFill>
                  <a:srgbClr val="FFFFFF"/>
                </a:solidFill>
                <a:latin typeface="Calibri" pitchFamily="34" charset="0"/>
                <a:ea typeface="Calibri" pitchFamily="34" charset="-122"/>
                <a:cs typeface="Calibri" pitchFamily="34" charset="-120"/>
              </a:rPr>
              <a:t>30 days</a:t>
            </a:r>
            <a:endParaRPr lang="en-US" sz="2400" dirty="0"/>
          </a:p>
        </p:txBody>
      </p:sp>
      <p:sp>
        <p:nvSpPr>
          <p:cNvPr id="7" name="a3_name"/>
          <p:cNvSpPr txBox="1"/>
          <p:nvPr/>
        </p:nvSpPr>
        <p:spPr>
          <a:xfrm>
            <a:off x="5669280" y="1828800"/>
            <a:ext cx="5852160" cy="548640"/>
          </a:xfrm>
          <a:prstGeom prst="rect">
            <a:avLst/>
          </a:prstGeom>
          <a:noFill/>
          <a:ln/>
        </p:spPr>
        <p:txBody>
          <a:bodyPr wrap="square" lIns="0" tIns="0" rIns="0" bIns="0" rtlCol="0" anchor="t"/>
          <a:lstStyle/>
          <a:p>
            <a:pPr indent="0" marL="0">
              <a:buNone/>
            </a:pPr>
            <a:r>
              <a:rPr lang="en-US" sz="2800" b="1" dirty="0">
                <a:solidFill>
                  <a:srgbClr val="0B1F3A"/>
                </a:solidFill>
                <a:latin typeface="Calibri" pitchFamily="34" charset="0"/>
                <a:ea typeface="Calibri" pitchFamily="34" charset="-122"/>
                <a:cs typeface="Calibri" pitchFamily="34" charset="-120"/>
              </a:rPr>
              <a:t>NutriPill Daily</a:t>
            </a:r>
            <a:endParaRPr lang="en-US" sz="2800" dirty="0"/>
          </a:p>
        </p:txBody>
      </p:sp>
      <p:sp>
        <p:nvSpPr>
          <p:cNvPr id="8" name="a3_sub"/>
          <p:cNvSpPr txBox="1"/>
          <p:nvPr/>
        </p:nvSpPr>
        <p:spPr>
          <a:xfrm>
            <a:off x="5669280" y="2377440"/>
            <a:ext cx="5852160" cy="68580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A jar of 30 capsules: one a day for a whole month. That's about 33 cents a day, less than a coffee.</a:t>
            </a:r>
            <a:endParaRPr lang="en-US" sz="1600" dirty="0"/>
          </a:p>
        </p:txBody>
      </p:sp>
      <p:sp>
        <p:nvSpPr>
          <p:cNvPr id="9" name="a4_card"/>
          <p:cNvSpPr/>
          <p:nvPr/>
        </p:nvSpPr>
        <p:spPr>
          <a:xfrm>
            <a:off x="5669280" y="3246120"/>
            <a:ext cx="5852160" cy="896112"/>
          </a:xfrm>
          <a:prstGeom prst="roundRect">
            <a:avLst>
              <a:gd name="adj" fmla="val 18367"/>
            </a:avLst>
          </a:prstGeom>
          <a:solidFill>
            <a:srgbClr val="FFFFFF"/>
          </a:solidFill>
          <a:ln/>
          <a:effectLst>
            <a:outerShdw sx="100000" sy="100000" kx="0" ky="0" algn="bl" rotWithShape="0" blurRad="228600" dist="76200" dir="5400000">
              <a:srgbClr val="0B1F3A">
                <a:alpha val="12000"/>
              </a:srgbClr>
            </a:outerShdw>
          </a:effectLst>
        </p:spPr>
      </p:sp>
      <p:sp>
        <p:nvSpPr>
          <p:cNvPr id="10" name="a4_circle"/>
          <p:cNvSpPr/>
          <p:nvPr/>
        </p:nvSpPr>
        <p:spPr>
          <a:xfrm>
            <a:off x="5852160" y="3419856"/>
            <a:ext cx="548640" cy="548640"/>
          </a:xfrm>
          <a:prstGeom prst="ellipse">
            <a:avLst/>
          </a:prstGeom>
          <a:solidFill>
            <a:srgbClr val="E3FAF4"/>
          </a:solidFill>
          <a:ln/>
        </p:spPr>
      </p:sp>
      <p:pic>
        <p:nvPicPr>
          <p:cNvPr id="11" name="a4_icon" descr="bolt">    </p:cNvPr>
          <p:cNvPicPr>
            <a:picLocks noChangeAspect="1"/>
          </p:cNvPicPr>
          <p:nvPr/>
        </p:nvPicPr>
        <p:blipFill>
          <a:blip r:embed="rId2"/>
          <a:stretch>
            <a:fillRect/>
          </a:stretch>
        </p:blipFill>
        <p:spPr>
          <a:xfrm>
            <a:off x="6000293" y="3567989"/>
            <a:ext cx="252374" cy="252374"/>
          </a:xfrm>
          <a:prstGeom prst="rect">
            <a:avLst/>
          </a:prstGeom>
        </p:spPr>
      </p:pic>
      <p:sp>
        <p:nvSpPr>
          <p:cNvPr id="12" name="a4_h"/>
          <p:cNvSpPr txBox="1"/>
          <p:nvPr/>
        </p:nvSpPr>
        <p:spPr>
          <a:xfrm>
            <a:off x="6537960" y="3337560"/>
            <a:ext cx="1325880" cy="713232"/>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Key feature</a:t>
            </a:r>
            <a:endParaRPr lang="en-US" sz="1600" dirty="0"/>
          </a:p>
        </p:txBody>
      </p:sp>
      <p:sp>
        <p:nvSpPr>
          <p:cNvPr id="13" name="a4_d"/>
          <p:cNvSpPr txBox="1"/>
          <p:nvPr/>
        </p:nvSpPr>
        <p:spPr>
          <a:xfrm>
            <a:off x="7863840" y="3300984"/>
            <a:ext cx="3520440" cy="786384"/>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Each capsule has the vitamins and minerals your body needs to keep going until your next meal.</a:t>
            </a:r>
            <a:endParaRPr lang="en-US" sz="1400" dirty="0"/>
          </a:p>
        </p:txBody>
      </p:sp>
      <p:sp>
        <p:nvSpPr>
          <p:cNvPr id="14" name="a5_card"/>
          <p:cNvSpPr/>
          <p:nvPr/>
        </p:nvSpPr>
        <p:spPr>
          <a:xfrm>
            <a:off x="5669280" y="4270248"/>
            <a:ext cx="5852160" cy="896112"/>
          </a:xfrm>
          <a:prstGeom prst="roundRect">
            <a:avLst>
              <a:gd name="adj" fmla="val 18367"/>
            </a:avLst>
          </a:prstGeom>
          <a:solidFill>
            <a:srgbClr val="FFFFFF"/>
          </a:solidFill>
          <a:ln/>
          <a:effectLst>
            <a:outerShdw sx="100000" sy="100000" kx="0" ky="0" algn="bl" rotWithShape="0" blurRad="228600" dist="76200" dir="5400000">
              <a:srgbClr val="0B1F3A">
                <a:alpha val="12000"/>
              </a:srgbClr>
            </a:outerShdw>
          </a:effectLst>
        </p:spPr>
      </p:sp>
      <p:sp>
        <p:nvSpPr>
          <p:cNvPr id="15" name="a5_circle"/>
          <p:cNvSpPr/>
          <p:nvPr/>
        </p:nvSpPr>
        <p:spPr>
          <a:xfrm>
            <a:off x="5852160" y="4443984"/>
            <a:ext cx="548640" cy="548640"/>
          </a:xfrm>
          <a:prstGeom prst="ellipse">
            <a:avLst/>
          </a:prstGeom>
          <a:solidFill>
            <a:srgbClr val="E3FAF4"/>
          </a:solidFill>
          <a:ln/>
        </p:spPr>
      </p:sp>
      <p:pic>
        <p:nvPicPr>
          <p:cNvPr id="16" name="a5_icon" descr="thumbsup">    </p:cNvPr>
          <p:cNvPicPr>
            <a:picLocks noChangeAspect="1"/>
          </p:cNvPicPr>
          <p:nvPr/>
        </p:nvPicPr>
        <p:blipFill>
          <a:blip r:embed="rId3"/>
          <a:stretch>
            <a:fillRect/>
          </a:stretch>
        </p:blipFill>
        <p:spPr>
          <a:xfrm>
            <a:off x="6000293" y="4592117"/>
            <a:ext cx="252374" cy="252374"/>
          </a:xfrm>
          <a:prstGeom prst="rect">
            <a:avLst/>
          </a:prstGeom>
        </p:spPr>
      </p:pic>
      <p:sp>
        <p:nvSpPr>
          <p:cNvPr id="17" name="a5_h"/>
          <p:cNvSpPr txBox="1"/>
          <p:nvPr/>
        </p:nvSpPr>
        <p:spPr>
          <a:xfrm>
            <a:off x="6537960" y="4361688"/>
            <a:ext cx="1325880" cy="713232"/>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Why buy it?</a:t>
            </a:r>
            <a:endParaRPr lang="en-US" sz="1600" dirty="0"/>
          </a:p>
        </p:txBody>
      </p:sp>
      <p:sp>
        <p:nvSpPr>
          <p:cNvPr id="18" name="a5_d"/>
          <p:cNvSpPr txBox="1"/>
          <p:nvPr/>
        </p:nvSpPr>
        <p:spPr>
          <a:xfrm>
            <a:off x="7863840" y="4325112"/>
            <a:ext cx="3520440" cy="786384"/>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You stay focused and full of energy, even on days when you have no time to eat.</a:t>
            </a:r>
            <a:endParaRPr lang="en-US" sz="1400" dirty="0"/>
          </a:p>
        </p:txBody>
      </p:sp>
      <p:sp>
        <p:nvSpPr>
          <p:cNvPr id="19" name="a6_card"/>
          <p:cNvSpPr/>
          <p:nvPr/>
        </p:nvSpPr>
        <p:spPr>
          <a:xfrm>
            <a:off x="5669280" y="5294376"/>
            <a:ext cx="5852160" cy="896112"/>
          </a:xfrm>
          <a:prstGeom prst="roundRect">
            <a:avLst>
              <a:gd name="adj" fmla="val 18367"/>
            </a:avLst>
          </a:prstGeom>
          <a:solidFill>
            <a:srgbClr val="FFFFFF"/>
          </a:solidFill>
          <a:ln/>
          <a:effectLst>
            <a:outerShdw sx="100000" sy="100000" kx="0" ky="0" algn="bl" rotWithShape="0" blurRad="228600" dist="76200" dir="5400000">
              <a:srgbClr val="0B1F3A">
                <a:alpha val="12000"/>
              </a:srgbClr>
            </a:outerShdw>
          </a:effectLst>
        </p:spPr>
      </p:sp>
      <p:sp>
        <p:nvSpPr>
          <p:cNvPr id="20" name="a6_circle"/>
          <p:cNvSpPr/>
          <p:nvPr/>
        </p:nvSpPr>
        <p:spPr>
          <a:xfrm>
            <a:off x="5852160" y="5468112"/>
            <a:ext cx="548640" cy="548640"/>
          </a:xfrm>
          <a:prstGeom prst="ellipse">
            <a:avLst/>
          </a:prstGeom>
          <a:solidFill>
            <a:srgbClr val="E3FAF4"/>
          </a:solidFill>
          <a:ln/>
        </p:spPr>
      </p:sp>
      <p:pic>
        <p:nvPicPr>
          <p:cNvPr id="21" name="a6_icon" descr="users">    </p:cNvPr>
          <p:cNvPicPr>
            <a:picLocks noChangeAspect="1"/>
          </p:cNvPicPr>
          <p:nvPr/>
        </p:nvPicPr>
        <p:blipFill>
          <a:blip r:embed="rId4"/>
          <a:stretch>
            <a:fillRect/>
          </a:stretch>
        </p:blipFill>
        <p:spPr>
          <a:xfrm>
            <a:off x="6000293" y="5616245"/>
            <a:ext cx="252374" cy="252374"/>
          </a:xfrm>
          <a:prstGeom prst="rect">
            <a:avLst/>
          </a:prstGeom>
        </p:spPr>
      </p:pic>
      <p:sp>
        <p:nvSpPr>
          <p:cNvPr id="22" name="a6_h"/>
          <p:cNvSpPr txBox="1"/>
          <p:nvPr/>
        </p:nvSpPr>
        <p:spPr>
          <a:xfrm>
            <a:off x="6537960" y="5385816"/>
            <a:ext cx="1325880" cy="713232"/>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Target buyer</a:t>
            </a:r>
            <a:endParaRPr lang="en-US" sz="1600" dirty="0"/>
          </a:p>
        </p:txBody>
      </p:sp>
      <p:sp>
        <p:nvSpPr>
          <p:cNvPr id="23" name="a6_d"/>
          <p:cNvSpPr txBox="1"/>
          <p:nvPr/>
        </p:nvSpPr>
        <p:spPr>
          <a:xfrm>
            <a:off x="7863840" y="5349240"/>
            <a:ext cx="3520440" cy="786384"/>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Students, workers and athletes aged 16 to 35 with busy schedules.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after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05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Who Is Our Brand Directed To?</a:t>
            </a:r>
            <a:endParaRPr lang="en-US" sz="3600" dirty="0"/>
          </a:p>
        </p:txBody>
      </p:sp>
      <p:sp>
        <p:nvSpPr>
          <p:cNvPr id="4" name="a1_text"/>
          <p:cNvSpPr txBox="1"/>
          <p:nvPr/>
        </p:nvSpPr>
        <p:spPr>
          <a:xfrm>
            <a:off x="548640" y="1783080"/>
            <a:ext cx="10515600" cy="77724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We're thinking about people who want to eat well but often can't find the time, people a lot like us.</a:t>
            </a:r>
            <a:endParaRPr lang="en-US" sz="1800" dirty="0"/>
          </a:p>
        </p:txBody>
      </p:sp>
      <p:sp>
        <p:nvSpPr>
          <p:cNvPr id="5" name="a2_card"/>
          <p:cNvSpPr/>
          <p:nvPr/>
        </p:nvSpPr>
        <p:spPr>
          <a:xfrm>
            <a:off x="548640"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1325880" y="3063240"/>
            <a:ext cx="1005840" cy="1005840"/>
          </a:xfrm>
          <a:prstGeom prst="ellipse">
            <a:avLst/>
          </a:prstGeom>
          <a:solidFill>
            <a:srgbClr val="14C9A1"/>
          </a:solidFill>
          <a:ln/>
        </p:spPr>
      </p:sp>
      <p:pic>
        <p:nvPicPr>
          <p:cNvPr id="7" name="a2_icon" descr="grad">    </p:cNvPr>
          <p:cNvPicPr>
            <a:picLocks noChangeAspect="1"/>
          </p:cNvPicPr>
          <p:nvPr/>
        </p:nvPicPr>
        <p:blipFill>
          <a:blip r:embed="rId1"/>
          <a:stretch>
            <a:fillRect/>
          </a:stretch>
        </p:blipFill>
        <p:spPr>
          <a:xfrm>
            <a:off x="1597457" y="3334817"/>
            <a:ext cx="462686" cy="462686"/>
          </a:xfrm>
          <a:prstGeom prst="rect">
            <a:avLst/>
          </a:prstGeom>
        </p:spPr>
      </p:pic>
      <p:sp>
        <p:nvSpPr>
          <p:cNvPr id="8" name="a2_h"/>
          <p:cNvSpPr txBox="1"/>
          <p:nvPr/>
        </p:nvSpPr>
        <p:spPr>
          <a:xfrm>
            <a:off x="731520"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Students</a:t>
            </a:r>
            <a:endParaRPr lang="en-US" sz="1900" dirty="0"/>
          </a:p>
        </p:txBody>
      </p:sp>
      <p:sp>
        <p:nvSpPr>
          <p:cNvPr id="9" name="a2_d"/>
          <p:cNvSpPr txBox="1"/>
          <p:nvPr/>
        </p:nvSpPr>
        <p:spPr>
          <a:xfrm>
            <a:off x="749808"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Early classes, exams and homework. Lunch is often the first thing we skip.</a:t>
            </a:r>
            <a:endParaRPr lang="en-US" sz="1400" dirty="0"/>
          </a:p>
        </p:txBody>
      </p:sp>
      <p:sp>
        <p:nvSpPr>
          <p:cNvPr id="10" name="a3_card"/>
          <p:cNvSpPr/>
          <p:nvPr/>
        </p:nvSpPr>
        <p:spPr>
          <a:xfrm>
            <a:off x="3364992"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4142232" y="3063240"/>
            <a:ext cx="1005840" cy="1005840"/>
          </a:xfrm>
          <a:prstGeom prst="ellipse">
            <a:avLst/>
          </a:prstGeom>
          <a:solidFill>
            <a:srgbClr val="14C9A1"/>
          </a:solidFill>
          <a:ln/>
        </p:spPr>
      </p:sp>
      <p:pic>
        <p:nvPicPr>
          <p:cNvPr id="12" name="a3_icon" descr="briefcase">    </p:cNvPr>
          <p:cNvPicPr>
            <a:picLocks noChangeAspect="1"/>
          </p:cNvPicPr>
          <p:nvPr/>
        </p:nvPicPr>
        <p:blipFill>
          <a:blip r:embed="rId2"/>
          <a:stretch>
            <a:fillRect/>
          </a:stretch>
        </p:blipFill>
        <p:spPr>
          <a:xfrm>
            <a:off x="4413809" y="3334817"/>
            <a:ext cx="462686" cy="462686"/>
          </a:xfrm>
          <a:prstGeom prst="rect">
            <a:avLst/>
          </a:prstGeom>
        </p:spPr>
      </p:pic>
      <p:sp>
        <p:nvSpPr>
          <p:cNvPr id="13" name="a3_h"/>
          <p:cNvSpPr txBox="1"/>
          <p:nvPr/>
        </p:nvSpPr>
        <p:spPr>
          <a:xfrm>
            <a:off x="3547872"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Workers</a:t>
            </a:r>
            <a:endParaRPr lang="en-US" sz="1900" dirty="0"/>
          </a:p>
        </p:txBody>
      </p:sp>
      <p:sp>
        <p:nvSpPr>
          <p:cNvPr id="14" name="a3_d"/>
          <p:cNvSpPr txBox="1"/>
          <p:nvPr/>
        </p:nvSpPr>
        <p:spPr>
          <a:xfrm>
            <a:off x="3566160"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People who work long hours and skip lunch to get everything done.</a:t>
            </a:r>
            <a:endParaRPr lang="en-US" sz="1400" dirty="0"/>
          </a:p>
        </p:txBody>
      </p:sp>
      <p:sp>
        <p:nvSpPr>
          <p:cNvPr id="15" name="a4_card"/>
          <p:cNvSpPr/>
          <p:nvPr/>
        </p:nvSpPr>
        <p:spPr>
          <a:xfrm>
            <a:off x="6181344"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6958584" y="3063240"/>
            <a:ext cx="1005840" cy="1005840"/>
          </a:xfrm>
          <a:prstGeom prst="ellipse">
            <a:avLst/>
          </a:prstGeom>
          <a:solidFill>
            <a:srgbClr val="14C9A1"/>
          </a:solidFill>
          <a:ln/>
        </p:spPr>
      </p:sp>
      <p:pic>
        <p:nvPicPr>
          <p:cNvPr id="17" name="a4_icon" descr="run">    </p:cNvPr>
          <p:cNvPicPr>
            <a:picLocks noChangeAspect="1"/>
          </p:cNvPicPr>
          <p:nvPr/>
        </p:nvPicPr>
        <p:blipFill>
          <a:blip r:embed="rId3"/>
          <a:stretch>
            <a:fillRect/>
          </a:stretch>
        </p:blipFill>
        <p:spPr>
          <a:xfrm>
            <a:off x="7230161" y="3334817"/>
            <a:ext cx="462686" cy="462686"/>
          </a:xfrm>
          <a:prstGeom prst="rect">
            <a:avLst/>
          </a:prstGeom>
        </p:spPr>
      </p:pic>
      <p:sp>
        <p:nvSpPr>
          <p:cNvPr id="18" name="a4_h"/>
          <p:cNvSpPr txBox="1"/>
          <p:nvPr/>
        </p:nvSpPr>
        <p:spPr>
          <a:xfrm>
            <a:off x="6364224"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Athletes</a:t>
            </a:r>
            <a:endParaRPr lang="en-US" sz="1900" dirty="0"/>
          </a:p>
        </p:txBody>
      </p:sp>
      <p:sp>
        <p:nvSpPr>
          <p:cNvPr id="19" name="a4_d"/>
          <p:cNvSpPr txBox="1"/>
          <p:nvPr/>
        </p:nvSpPr>
        <p:spPr>
          <a:xfrm>
            <a:off x="6382512"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They train hard and need extra nutrients to recover and perform well.</a:t>
            </a:r>
            <a:endParaRPr lang="en-US" sz="1400" dirty="0"/>
          </a:p>
        </p:txBody>
      </p:sp>
      <p:sp>
        <p:nvSpPr>
          <p:cNvPr id="20" name="a5_card"/>
          <p:cNvSpPr/>
          <p:nvPr/>
        </p:nvSpPr>
        <p:spPr>
          <a:xfrm>
            <a:off x="8997696"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9774936" y="3063240"/>
            <a:ext cx="1005840" cy="1005840"/>
          </a:xfrm>
          <a:prstGeom prst="ellipse">
            <a:avLst/>
          </a:prstGeom>
          <a:solidFill>
            <a:srgbClr val="14C9A1"/>
          </a:solidFill>
          <a:ln/>
        </p:spPr>
      </p:sp>
      <p:pic>
        <p:nvPicPr>
          <p:cNvPr id="22" name="a5_icon" descr="clock">    </p:cNvPr>
          <p:cNvPicPr>
            <a:picLocks noChangeAspect="1"/>
          </p:cNvPicPr>
          <p:nvPr/>
        </p:nvPicPr>
        <p:blipFill>
          <a:blip r:embed="rId4"/>
          <a:stretch>
            <a:fillRect/>
          </a:stretch>
        </p:blipFill>
        <p:spPr>
          <a:xfrm>
            <a:off x="10046513" y="3334817"/>
            <a:ext cx="462686" cy="462686"/>
          </a:xfrm>
          <a:prstGeom prst="rect">
            <a:avLst/>
          </a:prstGeom>
        </p:spPr>
      </p:pic>
      <p:sp>
        <p:nvSpPr>
          <p:cNvPr id="23" name="a5_h"/>
          <p:cNvSpPr txBox="1"/>
          <p:nvPr/>
        </p:nvSpPr>
        <p:spPr>
          <a:xfrm>
            <a:off x="9180576"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Hectic lifestyles</a:t>
            </a:r>
            <a:endParaRPr lang="en-US" sz="1900" dirty="0"/>
          </a:p>
        </p:txBody>
      </p:sp>
      <p:sp>
        <p:nvSpPr>
          <p:cNvPr id="24" name="a5_d"/>
          <p:cNvSpPr txBox="1"/>
          <p:nvPr/>
        </p:nvSpPr>
        <p:spPr>
          <a:xfrm>
            <a:off x="9198864"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Parents, commuters, anyone whose day never seems to stop.</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6</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06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Our Core Values</a:t>
            </a:r>
            <a:endParaRPr lang="en-US" sz="3600" dirty="0"/>
          </a:p>
        </p:txBody>
      </p:sp>
      <p:sp>
        <p:nvSpPr>
          <p:cNvPr id="4" name="a1_sub"/>
          <p:cNvSpPr txBox="1"/>
          <p:nvPr/>
        </p:nvSpPr>
        <p:spPr>
          <a:xfrm>
            <a:off x="548640" y="1691640"/>
            <a:ext cx="8229600" cy="45720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Three ideas that guide every decision we make.</a:t>
            </a:r>
            <a:endParaRPr lang="en-US" sz="1800" dirty="0"/>
          </a:p>
        </p:txBody>
      </p:sp>
      <p:sp>
        <p:nvSpPr>
          <p:cNvPr id="5" name="a2_halo"/>
          <p:cNvSpPr/>
          <p:nvPr/>
        </p:nvSpPr>
        <p:spPr>
          <a:xfrm>
            <a:off x="1005840" y="2423160"/>
            <a:ext cx="2286000" cy="2286000"/>
          </a:xfrm>
          <a:prstGeom prst="ellipse">
            <a:avLst/>
          </a:prstGeom>
          <a:solidFill>
            <a:srgbClr val="14C9A1">
              <a:alpha val="15000"/>
            </a:srgbClr>
          </a:solidFill>
          <a:ln w="25400">
            <a:solidFill>
              <a:srgbClr val="14C9A1"/>
            </a:solidFill>
            <a:prstDash val="dash"/>
          </a:ln>
        </p:spPr>
      </p:sp>
      <p:sp>
        <p:nvSpPr>
          <p:cNvPr id="6" name="a2_disc"/>
          <p:cNvSpPr/>
          <p:nvPr/>
        </p:nvSpPr>
        <p:spPr>
          <a:xfrm>
            <a:off x="1325880" y="2743200"/>
            <a:ext cx="1645920" cy="1645920"/>
          </a:xfrm>
          <a:prstGeom prst="ellipse">
            <a:avLst/>
          </a:prstGeom>
          <a:solidFill>
            <a:srgbClr val="14C9A1"/>
          </a:solidFill>
          <a:ln/>
          <a:effectLst>
            <a:outerShdw sx="100000" sy="100000" kx="0" ky="0" algn="bl" rotWithShape="0" blurRad="254000" dist="101600" dir="5400000">
              <a:srgbClr val="000000">
                <a:alpha val="35000"/>
              </a:srgbClr>
            </a:outerShdw>
          </a:effectLst>
        </p:spPr>
      </p:sp>
      <p:pic>
        <p:nvPicPr>
          <p:cNvPr id="7" name="a2_icon" descr="Innovation">    </p:cNvPr>
          <p:cNvPicPr>
            <a:picLocks noChangeAspect="1"/>
          </p:cNvPicPr>
          <p:nvPr/>
        </p:nvPicPr>
        <p:blipFill>
          <a:blip r:embed="rId1"/>
          <a:stretch>
            <a:fillRect/>
          </a:stretch>
        </p:blipFill>
        <p:spPr>
          <a:xfrm>
            <a:off x="1737360" y="3154680"/>
            <a:ext cx="822960" cy="822960"/>
          </a:xfrm>
          <a:prstGeom prst="rect">
            <a:avLst/>
          </a:prstGeom>
        </p:spPr>
      </p:pic>
      <p:sp>
        <p:nvSpPr>
          <p:cNvPr id="8" name="a2_h"/>
          <p:cNvSpPr txBox="1"/>
          <p:nvPr/>
        </p:nvSpPr>
        <p:spPr>
          <a:xfrm>
            <a:off x="411480" y="4846320"/>
            <a:ext cx="3474720"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Innovation</a:t>
            </a:r>
            <a:endParaRPr lang="en-US" sz="2400" dirty="0"/>
          </a:p>
        </p:txBody>
      </p:sp>
      <p:sp>
        <p:nvSpPr>
          <p:cNvPr id="9" name="a2_d"/>
          <p:cNvSpPr txBox="1"/>
          <p:nvPr/>
        </p:nvSpPr>
        <p:spPr>
          <a:xfrm>
            <a:off x="502920" y="5349240"/>
            <a:ext cx="3291840" cy="822960"/>
          </a:xfrm>
          <a:prstGeom prst="rect">
            <a:avLst/>
          </a:prstGeom>
          <a:noFill/>
          <a:ln/>
        </p:spPr>
        <p:txBody>
          <a:bodyPr wrap="square" lIns="0" tIns="0" rIns="0" bIns="0" rtlCol="0" anchor="t"/>
          <a:lstStyle/>
          <a:p>
            <a:pPr algn="ctr" indent="0" marL="0">
              <a:buNone/>
            </a:pPr>
            <a:r>
              <a:rPr lang="en-US" sz="1400" dirty="0">
                <a:solidFill>
                  <a:srgbClr val="B8C7D9"/>
                </a:solidFill>
                <a:latin typeface="Calibri" pitchFamily="34" charset="0"/>
                <a:ea typeface="Calibri" pitchFamily="34" charset="-122"/>
                <a:cs typeface="Calibri" pitchFamily="34" charset="-120"/>
              </a:rPr>
              <a:t>We want to change the way people eat on busy days, with an idea nobody else is offering.</a:t>
            </a:r>
            <a:endParaRPr lang="en-US" sz="1400" dirty="0"/>
          </a:p>
        </p:txBody>
      </p:sp>
      <p:sp>
        <p:nvSpPr>
          <p:cNvPr id="10" name="a3_halo"/>
          <p:cNvSpPr/>
          <p:nvPr/>
        </p:nvSpPr>
        <p:spPr>
          <a:xfrm>
            <a:off x="4937760" y="2423160"/>
            <a:ext cx="2286000" cy="2286000"/>
          </a:xfrm>
          <a:prstGeom prst="ellipse">
            <a:avLst/>
          </a:prstGeom>
          <a:solidFill>
            <a:srgbClr val="2E9E5B">
              <a:alpha val="15000"/>
            </a:srgbClr>
          </a:solidFill>
          <a:ln w="25400">
            <a:solidFill>
              <a:srgbClr val="2E9E5B"/>
            </a:solidFill>
            <a:prstDash val="dash"/>
          </a:ln>
        </p:spPr>
      </p:sp>
      <p:sp>
        <p:nvSpPr>
          <p:cNvPr id="11" name="a3_disc"/>
          <p:cNvSpPr/>
          <p:nvPr/>
        </p:nvSpPr>
        <p:spPr>
          <a:xfrm>
            <a:off x="5257800" y="2743200"/>
            <a:ext cx="1645920" cy="1645920"/>
          </a:xfrm>
          <a:prstGeom prst="ellipse">
            <a:avLst/>
          </a:prstGeom>
          <a:solidFill>
            <a:srgbClr val="2E9E5B"/>
          </a:solidFill>
          <a:ln/>
          <a:effectLst>
            <a:outerShdw sx="100000" sy="100000" kx="0" ky="0" algn="bl" rotWithShape="0" blurRad="254000" dist="101600" dir="5400000">
              <a:srgbClr val="000000">
                <a:alpha val="35000"/>
              </a:srgbClr>
            </a:outerShdw>
          </a:effectLst>
        </p:spPr>
      </p:sp>
      <p:pic>
        <p:nvPicPr>
          <p:cNvPr id="12" name="a3_icon" descr="Eco-friendly">    </p:cNvPr>
          <p:cNvPicPr>
            <a:picLocks noChangeAspect="1"/>
          </p:cNvPicPr>
          <p:nvPr/>
        </p:nvPicPr>
        <p:blipFill>
          <a:blip r:embed="rId2"/>
          <a:stretch>
            <a:fillRect/>
          </a:stretch>
        </p:blipFill>
        <p:spPr>
          <a:xfrm>
            <a:off x="5669280" y="3154680"/>
            <a:ext cx="822960" cy="822960"/>
          </a:xfrm>
          <a:prstGeom prst="rect">
            <a:avLst/>
          </a:prstGeom>
        </p:spPr>
      </p:pic>
      <p:sp>
        <p:nvSpPr>
          <p:cNvPr id="13" name="a3_h"/>
          <p:cNvSpPr txBox="1"/>
          <p:nvPr/>
        </p:nvSpPr>
        <p:spPr>
          <a:xfrm>
            <a:off x="4343400" y="4846320"/>
            <a:ext cx="3474720"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Eco-friendly</a:t>
            </a:r>
            <a:endParaRPr lang="en-US" sz="2400" dirty="0"/>
          </a:p>
        </p:txBody>
      </p:sp>
      <p:sp>
        <p:nvSpPr>
          <p:cNvPr id="14" name="a3_d"/>
          <p:cNvSpPr txBox="1"/>
          <p:nvPr/>
        </p:nvSpPr>
        <p:spPr>
          <a:xfrm>
            <a:off x="4434840" y="5349240"/>
            <a:ext cx="3291840" cy="822960"/>
          </a:xfrm>
          <a:prstGeom prst="rect">
            <a:avLst/>
          </a:prstGeom>
          <a:noFill/>
          <a:ln/>
        </p:spPr>
        <p:txBody>
          <a:bodyPr wrap="square" lIns="0" tIns="0" rIns="0" bIns="0" rtlCol="0" anchor="t"/>
          <a:lstStyle/>
          <a:p>
            <a:pPr algn="ctr" indent="0" marL="0">
              <a:buNone/>
            </a:pPr>
            <a:r>
              <a:rPr lang="en-US" sz="1400" dirty="0">
                <a:solidFill>
                  <a:srgbClr val="B8C7D9"/>
                </a:solidFill>
                <a:latin typeface="Calibri" pitchFamily="34" charset="0"/>
                <a:ea typeface="Calibri" pitchFamily="34" charset="-122"/>
                <a:cs typeface="Calibri" pitchFamily="34" charset="-120"/>
              </a:rPr>
              <a:t>We care about the planet as much as our customers' health, from ingredients to packaging.</a:t>
            </a:r>
            <a:endParaRPr lang="en-US" sz="1400" dirty="0"/>
          </a:p>
        </p:txBody>
      </p:sp>
      <p:sp>
        <p:nvSpPr>
          <p:cNvPr id="15" name="a4_halo"/>
          <p:cNvSpPr/>
          <p:nvPr/>
        </p:nvSpPr>
        <p:spPr>
          <a:xfrm>
            <a:off x="8869680" y="2423160"/>
            <a:ext cx="2286000" cy="2286000"/>
          </a:xfrm>
          <a:prstGeom prst="ellipse">
            <a:avLst/>
          </a:prstGeom>
          <a:solidFill>
            <a:srgbClr val="FF6B4A">
              <a:alpha val="15000"/>
            </a:srgbClr>
          </a:solidFill>
          <a:ln w="25400">
            <a:solidFill>
              <a:srgbClr val="FF6B4A"/>
            </a:solidFill>
            <a:prstDash val="dash"/>
          </a:ln>
        </p:spPr>
      </p:sp>
      <p:sp>
        <p:nvSpPr>
          <p:cNvPr id="16" name="a4_disc"/>
          <p:cNvSpPr/>
          <p:nvPr/>
        </p:nvSpPr>
        <p:spPr>
          <a:xfrm>
            <a:off x="9189720" y="2743200"/>
            <a:ext cx="1645920" cy="1645920"/>
          </a:xfrm>
          <a:prstGeom prst="ellipse">
            <a:avLst/>
          </a:prstGeom>
          <a:solidFill>
            <a:srgbClr val="FF6B4A"/>
          </a:solidFill>
          <a:ln/>
          <a:effectLst>
            <a:outerShdw sx="100000" sy="100000" kx="0" ky="0" algn="bl" rotWithShape="0" blurRad="254000" dist="101600" dir="5400000">
              <a:srgbClr val="000000">
                <a:alpha val="35000"/>
              </a:srgbClr>
            </a:outerShdw>
          </a:effectLst>
        </p:spPr>
      </p:sp>
      <p:pic>
        <p:nvPicPr>
          <p:cNvPr id="17" name="a4_icon" descr="Accessibility">    </p:cNvPr>
          <p:cNvPicPr>
            <a:picLocks noChangeAspect="1"/>
          </p:cNvPicPr>
          <p:nvPr/>
        </p:nvPicPr>
        <p:blipFill>
          <a:blip r:embed="rId3"/>
          <a:stretch>
            <a:fillRect/>
          </a:stretch>
        </p:blipFill>
        <p:spPr>
          <a:xfrm>
            <a:off x="9601200" y="3154680"/>
            <a:ext cx="822960" cy="822960"/>
          </a:xfrm>
          <a:prstGeom prst="rect">
            <a:avLst/>
          </a:prstGeom>
        </p:spPr>
      </p:pic>
      <p:sp>
        <p:nvSpPr>
          <p:cNvPr id="18" name="a4_h"/>
          <p:cNvSpPr txBox="1"/>
          <p:nvPr/>
        </p:nvSpPr>
        <p:spPr>
          <a:xfrm>
            <a:off x="8275320" y="4846320"/>
            <a:ext cx="3474720"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Accessibility</a:t>
            </a:r>
            <a:endParaRPr lang="en-US" sz="2400" dirty="0"/>
          </a:p>
        </p:txBody>
      </p:sp>
      <p:sp>
        <p:nvSpPr>
          <p:cNvPr id="19" name="a4_d"/>
          <p:cNvSpPr txBox="1"/>
          <p:nvPr/>
        </p:nvSpPr>
        <p:spPr>
          <a:xfrm>
            <a:off x="8366760" y="5349240"/>
            <a:ext cx="3291840" cy="822960"/>
          </a:xfrm>
          <a:prstGeom prst="rect">
            <a:avLst/>
          </a:prstGeom>
          <a:noFill/>
          <a:ln/>
        </p:spPr>
        <p:txBody>
          <a:bodyPr wrap="square" lIns="0" tIns="0" rIns="0" bIns="0" rtlCol="0" anchor="t"/>
          <a:lstStyle/>
          <a:p>
            <a:pPr algn="ctr" indent="0" marL="0">
              <a:buNone/>
            </a:pPr>
            <a:r>
              <a:rPr lang="en-US" sz="1400" dirty="0">
                <a:solidFill>
                  <a:srgbClr val="B8C7D9"/>
                </a:solidFill>
                <a:latin typeface="Calibri" pitchFamily="34" charset="0"/>
                <a:ea typeface="Calibri" pitchFamily="34" charset="-122"/>
                <a:cs typeface="Calibri" pitchFamily="34" charset="-120"/>
              </a:rPr>
              <a:t>Good nutrition shouldn't be a luxury. Everyone should be able to afford NutriPill.</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07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Environmental Policy</a:t>
            </a:r>
            <a:endParaRPr lang="en-US" sz="3600" dirty="0"/>
          </a:p>
        </p:txBody>
      </p:sp>
      <p:pic>
        <p:nvPicPr>
          <p:cNvPr id="4" name="a1_art" descr="Leaf and capsule illustration">    </p:cNvPr>
          <p:cNvPicPr>
            <a:picLocks noChangeAspect="1"/>
          </p:cNvPicPr>
          <p:nvPr/>
        </p:nvPicPr>
        <p:blipFill>
          <a:blip r:embed="rId1"/>
          <a:stretch>
            <a:fillRect/>
          </a:stretch>
        </p:blipFill>
        <p:spPr>
          <a:xfrm>
            <a:off x="7406640" y="1783080"/>
            <a:ext cx="4297680" cy="4297680"/>
          </a:xfrm>
          <a:prstGeom prst="rect">
            <a:avLst/>
          </a:prstGeom>
        </p:spPr>
      </p:pic>
      <p:sp>
        <p:nvSpPr>
          <p:cNvPr id="5" name="a2_lead"/>
          <p:cNvSpPr txBox="1"/>
          <p:nvPr/>
        </p:nvSpPr>
        <p:spPr>
          <a:xfrm>
            <a:off x="548640" y="1783080"/>
            <a:ext cx="6583680" cy="457200"/>
          </a:xfrm>
          <a:prstGeom prst="rect">
            <a:avLst/>
          </a:prstGeom>
          <a:noFill/>
          <a:ln/>
        </p:spPr>
        <p:txBody>
          <a:bodyPr wrap="square" lIns="0" tIns="0" rIns="0" bIns="0" rtlCol="0" anchor="t"/>
          <a:lstStyle/>
          <a:p>
            <a:pPr indent="0" marL="0">
              <a:buNone/>
            </a:pPr>
            <a:r>
              <a:rPr lang="en-US" sz="2000" b="1" dirty="0">
                <a:solidFill>
                  <a:srgbClr val="2E9E5B"/>
                </a:solidFill>
                <a:latin typeface="Calibri" pitchFamily="34" charset="0"/>
                <a:ea typeface="Calibri" pitchFamily="34" charset="-122"/>
                <a:cs typeface="Calibri" pitchFamily="34" charset="-120"/>
              </a:rPr>
              <a:t>We don't want to help people by hurting the planet.</a:t>
            </a:r>
            <a:endParaRPr lang="en-US" sz="2000" dirty="0"/>
          </a:p>
        </p:txBody>
      </p:sp>
      <p:sp>
        <p:nvSpPr>
          <p:cNvPr id="6" name="a3_row"/>
          <p:cNvSpPr/>
          <p:nvPr/>
        </p:nvSpPr>
        <p:spPr>
          <a:xfrm>
            <a:off x="548640" y="2514600"/>
            <a:ext cx="6583680" cy="1005840"/>
          </a:xfrm>
          <a:prstGeom prst="roundRect">
            <a:avLst>
              <a:gd name="adj" fmla="val 50000"/>
            </a:avLst>
          </a:prstGeom>
          <a:solidFill>
            <a:srgbClr val="E4F7EA"/>
          </a:solidFill>
          <a:ln/>
        </p:spPr>
      </p:sp>
      <p:sp>
        <p:nvSpPr>
          <p:cNvPr id="7" name="a3_dot"/>
          <p:cNvSpPr/>
          <p:nvPr/>
        </p:nvSpPr>
        <p:spPr>
          <a:xfrm>
            <a:off x="685800" y="2651760"/>
            <a:ext cx="731520" cy="731520"/>
          </a:xfrm>
          <a:prstGeom prst="ellipse">
            <a:avLst/>
          </a:prstGeom>
          <a:solidFill>
            <a:srgbClr val="2E9E5B"/>
          </a:solidFill>
          <a:ln/>
        </p:spPr>
      </p:sp>
      <p:pic>
        <p:nvPicPr>
          <p:cNvPr id="8" name="a3_icon" descr="Natural ingredients">    </p:cNvPr>
          <p:cNvPicPr>
            <a:picLocks noChangeAspect="1"/>
          </p:cNvPicPr>
          <p:nvPr/>
        </p:nvPicPr>
        <p:blipFill>
          <a:blip r:embed="rId2"/>
          <a:stretch>
            <a:fillRect/>
          </a:stretch>
        </p:blipFill>
        <p:spPr>
          <a:xfrm>
            <a:off x="868680" y="2834640"/>
            <a:ext cx="365760" cy="365760"/>
          </a:xfrm>
          <a:prstGeom prst="rect">
            <a:avLst/>
          </a:prstGeom>
        </p:spPr>
      </p:pic>
      <p:sp>
        <p:nvSpPr>
          <p:cNvPr id="9" name="a3_h"/>
          <p:cNvSpPr txBox="1"/>
          <p:nvPr/>
        </p:nvSpPr>
        <p:spPr>
          <a:xfrm>
            <a:off x="1645920" y="2624328"/>
            <a:ext cx="5303520" cy="365760"/>
          </a:xfrm>
          <a:prstGeom prst="rect">
            <a:avLst/>
          </a:prstGeom>
          <a:noFill/>
          <a:ln/>
        </p:spPr>
        <p:txBody>
          <a:bodyPr wrap="square" lIns="0" tIns="0" rIns="0" bIns="0" rtlCol="0" anchor="t"/>
          <a:lstStyle/>
          <a:p>
            <a:pPr indent="0" marL="0">
              <a:buNone/>
            </a:pPr>
            <a:r>
              <a:rPr lang="en-US" sz="1800" b="1" dirty="0">
                <a:solidFill>
                  <a:srgbClr val="0B1F3A"/>
                </a:solidFill>
                <a:latin typeface="Calibri" pitchFamily="34" charset="0"/>
                <a:ea typeface="Calibri" pitchFamily="34" charset="-122"/>
                <a:cs typeface="Calibri" pitchFamily="34" charset="-120"/>
              </a:rPr>
              <a:t>Natural ingredients</a:t>
            </a:r>
            <a:endParaRPr lang="en-US" sz="1800" dirty="0"/>
          </a:p>
        </p:txBody>
      </p:sp>
      <p:sp>
        <p:nvSpPr>
          <p:cNvPr id="10" name="a3_d"/>
          <p:cNvSpPr txBox="1"/>
          <p:nvPr/>
        </p:nvSpPr>
        <p:spPr>
          <a:xfrm>
            <a:off x="1645920" y="2990088"/>
            <a:ext cx="5303520" cy="45720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Our capsules only contain natural ingredients, taken from plants and fruit.</a:t>
            </a:r>
            <a:endParaRPr lang="en-US" sz="1400" dirty="0"/>
          </a:p>
        </p:txBody>
      </p:sp>
      <p:sp>
        <p:nvSpPr>
          <p:cNvPr id="11" name="a4_row"/>
          <p:cNvSpPr/>
          <p:nvPr/>
        </p:nvSpPr>
        <p:spPr>
          <a:xfrm>
            <a:off x="548640" y="3703320"/>
            <a:ext cx="6583680" cy="1005840"/>
          </a:xfrm>
          <a:prstGeom prst="roundRect">
            <a:avLst>
              <a:gd name="adj" fmla="val 50000"/>
            </a:avLst>
          </a:prstGeom>
          <a:solidFill>
            <a:srgbClr val="E4F7EA"/>
          </a:solidFill>
          <a:ln/>
        </p:spPr>
      </p:sp>
      <p:sp>
        <p:nvSpPr>
          <p:cNvPr id="12" name="a4_dot"/>
          <p:cNvSpPr/>
          <p:nvPr/>
        </p:nvSpPr>
        <p:spPr>
          <a:xfrm>
            <a:off x="685800" y="3840480"/>
            <a:ext cx="731520" cy="731520"/>
          </a:xfrm>
          <a:prstGeom prst="ellipse">
            <a:avLst/>
          </a:prstGeom>
          <a:solidFill>
            <a:srgbClr val="2E9E5B"/>
          </a:solidFill>
          <a:ln/>
        </p:spPr>
      </p:sp>
      <p:pic>
        <p:nvPicPr>
          <p:cNvPr id="13" name="a4_icon" descr="Renewable farms">    </p:cNvPr>
          <p:cNvPicPr>
            <a:picLocks noChangeAspect="1"/>
          </p:cNvPicPr>
          <p:nvPr/>
        </p:nvPicPr>
        <p:blipFill>
          <a:blip r:embed="rId3"/>
          <a:stretch>
            <a:fillRect/>
          </a:stretch>
        </p:blipFill>
        <p:spPr>
          <a:xfrm>
            <a:off x="868680" y="4023360"/>
            <a:ext cx="365760" cy="365760"/>
          </a:xfrm>
          <a:prstGeom prst="rect">
            <a:avLst/>
          </a:prstGeom>
        </p:spPr>
      </p:pic>
      <p:sp>
        <p:nvSpPr>
          <p:cNvPr id="14" name="a4_h"/>
          <p:cNvSpPr txBox="1"/>
          <p:nvPr/>
        </p:nvSpPr>
        <p:spPr>
          <a:xfrm>
            <a:off x="1645920" y="3813048"/>
            <a:ext cx="5303520" cy="365760"/>
          </a:xfrm>
          <a:prstGeom prst="rect">
            <a:avLst/>
          </a:prstGeom>
          <a:noFill/>
          <a:ln/>
        </p:spPr>
        <p:txBody>
          <a:bodyPr wrap="square" lIns="0" tIns="0" rIns="0" bIns="0" rtlCol="0" anchor="t"/>
          <a:lstStyle/>
          <a:p>
            <a:pPr indent="0" marL="0">
              <a:buNone/>
            </a:pPr>
            <a:r>
              <a:rPr lang="en-US" sz="1800" b="1" dirty="0">
                <a:solidFill>
                  <a:srgbClr val="0B1F3A"/>
                </a:solidFill>
                <a:latin typeface="Calibri" pitchFamily="34" charset="0"/>
                <a:ea typeface="Calibri" pitchFamily="34" charset="-122"/>
                <a:cs typeface="Calibri" pitchFamily="34" charset="-120"/>
              </a:rPr>
              <a:t>Renewable farms</a:t>
            </a:r>
            <a:endParaRPr lang="en-US" sz="1800" dirty="0"/>
          </a:p>
        </p:txBody>
      </p:sp>
      <p:sp>
        <p:nvSpPr>
          <p:cNvPr id="15" name="a4_d"/>
          <p:cNvSpPr txBox="1"/>
          <p:nvPr/>
        </p:nvSpPr>
        <p:spPr>
          <a:xfrm>
            <a:off x="1645920" y="4178808"/>
            <a:ext cx="5303520" cy="45720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We buy from plant and fruit farms that use renewable energy, like solar power.</a:t>
            </a:r>
            <a:endParaRPr lang="en-US" sz="1400" dirty="0"/>
          </a:p>
        </p:txBody>
      </p:sp>
      <p:sp>
        <p:nvSpPr>
          <p:cNvPr id="16" name="a5_row"/>
          <p:cNvSpPr/>
          <p:nvPr/>
        </p:nvSpPr>
        <p:spPr>
          <a:xfrm>
            <a:off x="548640" y="4892040"/>
            <a:ext cx="6583680" cy="1005840"/>
          </a:xfrm>
          <a:prstGeom prst="roundRect">
            <a:avLst>
              <a:gd name="adj" fmla="val 50000"/>
            </a:avLst>
          </a:prstGeom>
          <a:solidFill>
            <a:srgbClr val="E4F7EA"/>
          </a:solidFill>
          <a:ln/>
        </p:spPr>
      </p:sp>
      <p:sp>
        <p:nvSpPr>
          <p:cNvPr id="17" name="a5_dot"/>
          <p:cNvSpPr/>
          <p:nvPr/>
        </p:nvSpPr>
        <p:spPr>
          <a:xfrm>
            <a:off x="685800" y="5029200"/>
            <a:ext cx="731520" cy="731520"/>
          </a:xfrm>
          <a:prstGeom prst="ellipse">
            <a:avLst/>
          </a:prstGeom>
          <a:solidFill>
            <a:srgbClr val="2E9E5B"/>
          </a:solidFill>
          <a:ln/>
        </p:spPr>
      </p:sp>
      <p:pic>
        <p:nvPicPr>
          <p:cNvPr id="18" name="a5_icon" descr="Recyclable packaging">    </p:cNvPr>
          <p:cNvPicPr>
            <a:picLocks noChangeAspect="1"/>
          </p:cNvPicPr>
          <p:nvPr/>
        </p:nvPicPr>
        <p:blipFill>
          <a:blip r:embed="rId4"/>
          <a:stretch>
            <a:fillRect/>
          </a:stretch>
        </p:blipFill>
        <p:spPr>
          <a:xfrm>
            <a:off x="868680" y="5212080"/>
            <a:ext cx="365760" cy="365760"/>
          </a:xfrm>
          <a:prstGeom prst="rect">
            <a:avLst/>
          </a:prstGeom>
        </p:spPr>
      </p:pic>
      <p:sp>
        <p:nvSpPr>
          <p:cNvPr id="19" name="a5_h"/>
          <p:cNvSpPr txBox="1"/>
          <p:nvPr/>
        </p:nvSpPr>
        <p:spPr>
          <a:xfrm>
            <a:off x="1645920" y="5001768"/>
            <a:ext cx="5303520" cy="365760"/>
          </a:xfrm>
          <a:prstGeom prst="rect">
            <a:avLst/>
          </a:prstGeom>
          <a:noFill/>
          <a:ln/>
        </p:spPr>
        <p:txBody>
          <a:bodyPr wrap="square" lIns="0" tIns="0" rIns="0" bIns="0" rtlCol="0" anchor="t"/>
          <a:lstStyle/>
          <a:p>
            <a:pPr indent="0" marL="0">
              <a:buNone/>
            </a:pPr>
            <a:r>
              <a:rPr lang="en-US" sz="1800" b="1" dirty="0">
                <a:solidFill>
                  <a:srgbClr val="0B1F3A"/>
                </a:solidFill>
                <a:latin typeface="Calibri" pitchFamily="34" charset="0"/>
                <a:ea typeface="Calibri" pitchFamily="34" charset="-122"/>
                <a:cs typeface="Calibri" pitchFamily="34" charset="-120"/>
              </a:rPr>
              <a:t>Recyclable packaging</a:t>
            </a:r>
            <a:endParaRPr lang="en-US" sz="1800" dirty="0"/>
          </a:p>
        </p:txBody>
      </p:sp>
      <p:sp>
        <p:nvSpPr>
          <p:cNvPr id="20" name="a5_d"/>
          <p:cNvSpPr txBox="1"/>
          <p:nvPr/>
        </p:nvSpPr>
        <p:spPr>
          <a:xfrm>
            <a:off x="1645920" y="5367528"/>
            <a:ext cx="5303520" cy="45720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Our jars are made from recycled plastic and can be recycled again.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8</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9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08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Workplace Ethics &amp; Social Responsibility</a:t>
            </a:r>
            <a:endParaRPr lang="en-US" sz="3600" dirty="0"/>
          </a:p>
        </p:txBody>
      </p:sp>
      <p:sp>
        <p:nvSpPr>
          <p:cNvPr id="4" name="a1_card"/>
          <p:cNvSpPr/>
          <p:nvPr/>
        </p:nvSpPr>
        <p:spPr>
          <a:xfrm>
            <a:off x="548640" y="1874520"/>
            <a:ext cx="5486400" cy="4251960"/>
          </a:xfrm>
          <a:prstGeom prst="roundRect">
            <a:avLst>
              <a:gd name="adj" fmla="val 3871"/>
            </a:avLst>
          </a:prstGeom>
          <a:solidFill>
            <a:srgbClr val="14C9A1"/>
          </a:solidFill>
          <a:ln/>
        </p:spPr>
      </p:sp>
      <p:pic>
        <p:nvPicPr>
          <p:cNvPr id="5" name="a1_quote" descr="quote">    </p:cNvPr>
          <p:cNvPicPr>
            <a:picLocks noChangeAspect="1"/>
          </p:cNvPicPr>
          <p:nvPr/>
        </p:nvPicPr>
        <p:blipFill>
          <a:blip r:embed="rId1"/>
          <a:stretch>
            <a:fillRect/>
          </a:stretch>
        </p:blipFill>
        <p:spPr>
          <a:xfrm>
            <a:off x="914400" y="2240280"/>
            <a:ext cx="640080" cy="640080"/>
          </a:xfrm>
          <a:prstGeom prst="rect">
            <a:avLst/>
          </a:prstGeom>
        </p:spPr>
      </p:pic>
      <p:sp>
        <p:nvSpPr>
          <p:cNvPr id="6" name="a2_quote"/>
          <p:cNvSpPr txBox="1"/>
          <p:nvPr/>
        </p:nvSpPr>
        <p:spPr>
          <a:xfrm>
            <a:off x="914400" y="3063240"/>
            <a:ext cx="4754880" cy="1920240"/>
          </a:xfrm>
          <a:prstGeom prst="rect">
            <a:avLst/>
          </a:prstGeom>
          <a:noFill/>
          <a:ln/>
        </p:spPr>
        <p:txBody>
          <a:bodyPr wrap="square" lIns="0" tIns="0" rIns="0" bIns="0" rtlCol="0" anchor="t"/>
          <a:lstStyle/>
          <a:p>
            <a:pPr indent="0" marL="0">
              <a:buNone/>
            </a:pPr>
            <a:r>
              <a:rPr lang="en-US" sz="2800" b="1" dirty="0">
                <a:solidFill>
                  <a:srgbClr val="0B1F3A"/>
                </a:solidFill>
                <a:latin typeface="Calibri" pitchFamily="34" charset="0"/>
                <a:ea typeface="Calibri" pitchFamily="34" charset="-122"/>
                <a:cs typeface="Calibri" pitchFamily="34" charset="-120"/>
              </a:rPr>
              <a:t>Everyone at NutriPill treats each other with respect, no matter their gender or race.</a:t>
            </a:r>
            <a:endParaRPr lang="en-US" sz="2800" dirty="0"/>
          </a:p>
        </p:txBody>
      </p:sp>
      <p:sp>
        <p:nvSpPr>
          <p:cNvPr id="7" name="a2_cap"/>
          <p:cNvSpPr txBox="1"/>
          <p:nvPr/>
        </p:nvSpPr>
        <p:spPr>
          <a:xfrm>
            <a:off x="914400" y="5212080"/>
            <a:ext cx="4754880" cy="457200"/>
          </a:xfrm>
          <a:prstGeom prst="rect">
            <a:avLst/>
          </a:prstGeom>
          <a:noFill/>
          <a:ln/>
        </p:spPr>
        <p:txBody>
          <a:bodyPr wrap="square" lIns="0" tIns="0" rIns="0" bIns="0" rtlCol="0" anchor="t"/>
          <a:lstStyle/>
          <a:p>
            <a:pPr indent="0" marL="0">
              <a:buNone/>
            </a:pPr>
            <a:r>
              <a:rPr lang="en-US" sz="1600" i="1" dirty="0">
                <a:solidFill>
                  <a:srgbClr val="0B1F3A"/>
                </a:solidFill>
                <a:latin typeface="Calibri" pitchFamily="34" charset="0"/>
                <a:ea typeface="Calibri" pitchFamily="34" charset="-122"/>
                <a:cs typeface="Calibri" pitchFamily="34" charset="-120"/>
              </a:rPr>
              <a:t>This is the first rule of our company.</a:t>
            </a:r>
            <a:endParaRPr lang="en-US" sz="1600" dirty="0"/>
          </a:p>
        </p:txBody>
      </p:sp>
      <p:sp>
        <p:nvSpPr>
          <p:cNvPr id="8" name="a3_card"/>
          <p:cNvSpPr/>
          <p:nvPr/>
        </p:nvSpPr>
        <p:spPr>
          <a:xfrm>
            <a:off x="6355080" y="1874520"/>
            <a:ext cx="5166360" cy="1280160"/>
          </a:xfrm>
          <a:prstGeom prst="roundRect">
            <a:avLst>
              <a:gd name="adj" fmla="val 12857"/>
            </a:avLst>
          </a:prstGeom>
          <a:solidFill>
            <a:srgbClr val="FFFFFF">
              <a:alpha val="8000"/>
            </a:srgbClr>
          </a:solidFill>
          <a:ln w="12700">
            <a:solidFill>
              <a:srgbClr val="FFFFFF">
                <a:alpha val="20000"/>
              </a:srgbClr>
            </a:solidFill>
            <a:prstDash val="solid"/>
          </a:ln>
        </p:spPr>
      </p:sp>
      <p:sp>
        <p:nvSpPr>
          <p:cNvPr id="9" name="a3_circle"/>
          <p:cNvSpPr/>
          <p:nvPr/>
        </p:nvSpPr>
        <p:spPr>
          <a:xfrm>
            <a:off x="6583680" y="2148840"/>
            <a:ext cx="731520" cy="731520"/>
          </a:xfrm>
          <a:prstGeom prst="ellipse">
            <a:avLst/>
          </a:prstGeom>
          <a:solidFill>
            <a:srgbClr val="FF6B4A"/>
          </a:solidFill>
          <a:ln/>
        </p:spPr>
      </p:sp>
      <p:pic>
        <p:nvPicPr>
          <p:cNvPr id="10" name="a3_icon" descr="balance">    </p:cNvPr>
          <p:cNvPicPr>
            <a:picLocks noChangeAspect="1"/>
          </p:cNvPicPr>
          <p:nvPr/>
        </p:nvPicPr>
        <p:blipFill>
          <a:blip r:embed="rId2"/>
          <a:stretch>
            <a:fillRect/>
          </a:stretch>
        </p:blipFill>
        <p:spPr>
          <a:xfrm>
            <a:off x="6781190" y="2346350"/>
            <a:ext cx="336499" cy="336499"/>
          </a:xfrm>
          <a:prstGeom prst="rect">
            <a:avLst/>
          </a:prstGeom>
        </p:spPr>
      </p:pic>
      <p:sp>
        <p:nvSpPr>
          <p:cNvPr id="11" name="a3_h"/>
          <p:cNvSpPr txBox="1"/>
          <p:nvPr/>
        </p:nvSpPr>
        <p:spPr>
          <a:xfrm>
            <a:off x="7543800" y="2057400"/>
            <a:ext cx="38404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Equal treatment</a:t>
            </a:r>
            <a:endParaRPr lang="en-US" sz="1800" dirty="0"/>
          </a:p>
        </p:txBody>
      </p:sp>
      <p:sp>
        <p:nvSpPr>
          <p:cNvPr id="12" name="a3_d"/>
          <p:cNvSpPr txBox="1"/>
          <p:nvPr/>
        </p:nvSpPr>
        <p:spPr>
          <a:xfrm>
            <a:off x="7543800" y="2423160"/>
            <a:ext cx="3840480" cy="64008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Every employee has the same opportunities, and discrimination is never accepted.</a:t>
            </a:r>
            <a:endParaRPr lang="en-US" sz="1400" dirty="0"/>
          </a:p>
        </p:txBody>
      </p:sp>
      <p:sp>
        <p:nvSpPr>
          <p:cNvPr id="13" name="a4_card"/>
          <p:cNvSpPr/>
          <p:nvPr/>
        </p:nvSpPr>
        <p:spPr>
          <a:xfrm>
            <a:off x="6355080" y="3337560"/>
            <a:ext cx="5166360" cy="1280160"/>
          </a:xfrm>
          <a:prstGeom prst="roundRect">
            <a:avLst>
              <a:gd name="adj" fmla="val 12857"/>
            </a:avLst>
          </a:prstGeom>
          <a:solidFill>
            <a:srgbClr val="FFFFFF">
              <a:alpha val="8000"/>
            </a:srgbClr>
          </a:solidFill>
          <a:ln w="12700">
            <a:solidFill>
              <a:srgbClr val="FFFFFF">
                <a:alpha val="20000"/>
              </a:srgbClr>
            </a:solidFill>
            <a:prstDash val="solid"/>
          </a:ln>
        </p:spPr>
      </p:sp>
      <p:sp>
        <p:nvSpPr>
          <p:cNvPr id="14" name="a4_circle"/>
          <p:cNvSpPr/>
          <p:nvPr/>
        </p:nvSpPr>
        <p:spPr>
          <a:xfrm>
            <a:off x="6583680" y="3611880"/>
            <a:ext cx="731520" cy="731520"/>
          </a:xfrm>
          <a:prstGeom prst="ellipse">
            <a:avLst/>
          </a:prstGeom>
          <a:solidFill>
            <a:srgbClr val="FF6B4A"/>
          </a:solidFill>
          <a:ln/>
        </p:spPr>
      </p:sp>
      <p:pic>
        <p:nvPicPr>
          <p:cNvPr id="15" name="a4_icon" descr="shield">    </p:cNvPr>
          <p:cNvPicPr>
            <a:picLocks noChangeAspect="1"/>
          </p:cNvPicPr>
          <p:nvPr/>
        </p:nvPicPr>
        <p:blipFill>
          <a:blip r:embed="rId3"/>
          <a:stretch>
            <a:fillRect/>
          </a:stretch>
        </p:blipFill>
        <p:spPr>
          <a:xfrm>
            <a:off x="6781190" y="3809390"/>
            <a:ext cx="336499" cy="336499"/>
          </a:xfrm>
          <a:prstGeom prst="rect">
            <a:avLst/>
          </a:prstGeom>
        </p:spPr>
      </p:pic>
      <p:sp>
        <p:nvSpPr>
          <p:cNvPr id="16" name="a4_h"/>
          <p:cNvSpPr txBox="1"/>
          <p:nvPr/>
        </p:nvSpPr>
        <p:spPr>
          <a:xfrm>
            <a:off x="7543800" y="3520440"/>
            <a:ext cx="38404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Shared values</a:t>
            </a:r>
            <a:endParaRPr lang="en-US" sz="1800" dirty="0"/>
          </a:p>
        </p:txBody>
      </p:sp>
      <p:sp>
        <p:nvSpPr>
          <p:cNvPr id="17" name="a4_d"/>
          <p:cNvSpPr txBox="1"/>
          <p:nvPr/>
        </p:nvSpPr>
        <p:spPr>
          <a:xfrm>
            <a:off x="7543800" y="3886200"/>
            <a:ext cx="3840480" cy="64008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Our workers are expected to follow our core values: innovation, sustainability and accessibility.</a:t>
            </a:r>
            <a:endParaRPr lang="en-US" sz="1400" dirty="0"/>
          </a:p>
        </p:txBody>
      </p:sp>
      <p:sp>
        <p:nvSpPr>
          <p:cNvPr id="18" name="a5_card"/>
          <p:cNvSpPr/>
          <p:nvPr/>
        </p:nvSpPr>
        <p:spPr>
          <a:xfrm>
            <a:off x="6355080" y="4800600"/>
            <a:ext cx="5166360" cy="1280160"/>
          </a:xfrm>
          <a:prstGeom prst="roundRect">
            <a:avLst>
              <a:gd name="adj" fmla="val 12857"/>
            </a:avLst>
          </a:prstGeom>
          <a:solidFill>
            <a:srgbClr val="FFFFFF">
              <a:alpha val="8000"/>
            </a:srgbClr>
          </a:solidFill>
          <a:ln w="12700">
            <a:solidFill>
              <a:srgbClr val="FFFFFF">
                <a:alpha val="20000"/>
              </a:srgbClr>
            </a:solidFill>
            <a:prstDash val="solid"/>
          </a:ln>
        </p:spPr>
      </p:sp>
      <p:sp>
        <p:nvSpPr>
          <p:cNvPr id="19" name="a5_circle"/>
          <p:cNvSpPr/>
          <p:nvPr/>
        </p:nvSpPr>
        <p:spPr>
          <a:xfrm>
            <a:off x="6583680" y="5074920"/>
            <a:ext cx="731520" cy="731520"/>
          </a:xfrm>
          <a:prstGeom prst="ellipse">
            <a:avLst/>
          </a:prstGeom>
          <a:solidFill>
            <a:srgbClr val="FF6B4A"/>
          </a:solidFill>
          <a:ln/>
        </p:spPr>
      </p:sp>
      <p:pic>
        <p:nvPicPr>
          <p:cNvPr id="20" name="a5_icon" descr="euro">    </p:cNvPr>
          <p:cNvPicPr>
            <a:picLocks noChangeAspect="1"/>
          </p:cNvPicPr>
          <p:nvPr/>
        </p:nvPicPr>
        <p:blipFill>
          <a:blip r:embed="rId4"/>
          <a:stretch>
            <a:fillRect/>
          </a:stretch>
        </p:blipFill>
        <p:spPr>
          <a:xfrm>
            <a:off x="6781190" y="5272430"/>
            <a:ext cx="336499" cy="336499"/>
          </a:xfrm>
          <a:prstGeom prst="rect">
            <a:avLst/>
          </a:prstGeom>
        </p:spPr>
      </p:pic>
      <p:sp>
        <p:nvSpPr>
          <p:cNvPr id="21" name="a5_h"/>
          <p:cNvSpPr txBox="1"/>
          <p:nvPr/>
        </p:nvSpPr>
        <p:spPr>
          <a:xfrm>
            <a:off x="7543800" y="4983480"/>
            <a:ext cx="38404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Fair prices for everyone</a:t>
            </a:r>
            <a:endParaRPr lang="en-US" sz="1800" dirty="0"/>
          </a:p>
        </p:txBody>
      </p:sp>
      <p:sp>
        <p:nvSpPr>
          <p:cNvPr id="22" name="a5_d"/>
          <p:cNvSpPr txBox="1"/>
          <p:nvPr/>
        </p:nvSpPr>
        <p:spPr>
          <a:xfrm>
            <a:off x="7543800" y="5349240"/>
            <a:ext cx="3840480" cy="64008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Our price is affordable, so people from all income groups can try NutriPill and lock in.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0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after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09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Action Plan</a:t>
            </a:r>
            <a:endParaRPr lang="en-US" sz="3600" dirty="0"/>
          </a:p>
        </p:txBody>
      </p:sp>
      <p:sp>
        <p:nvSpPr>
          <p:cNvPr id="4" name="a1_sub"/>
          <p:cNvSpPr txBox="1"/>
          <p:nvPr/>
        </p:nvSpPr>
        <p:spPr>
          <a:xfrm>
            <a:off x="548640" y="1691640"/>
            <a:ext cx="10058400" cy="41148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How NutriPill will make money and reach people:</a:t>
            </a:r>
            <a:endParaRPr lang="en-US" sz="1800" dirty="0"/>
          </a:p>
        </p:txBody>
      </p:sp>
      <p:sp>
        <p:nvSpPr>
          <p:cNvPr id="5" name="a2_card"/>
          <p:cNvSpPr/>
          <p:nvPr/>
        </p:nvSpPr>
        <p:spPr>
          <a:xfrm>
            <a:off x="54864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6" name="a2_num"/>
          <p:cNvSpPr txBox="1"/>
          <p:nvPr/>
        </p:nvSpPr>
        <p:spPr>
          <a:xfrm>
            <a:off x="274320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01</a:t>
            </a:r>
            <a:endParaRPr lang="en-US" sz="4000" dirty="0"/>
          </a:p>
        </p:txBody>
      </p:sp>
      <p:sp>
        <p:nvSpPr>
          <p:cNvPr id="7" name="a2_circle"/>
          <p:cNvSpPr/>
          <p:nvPr/>
        </p:nvSpPr>
        <p:spPr>
          <a:xfrm>
            <a:off x="914400" y="2560320"/>
            <a:ext cx="914400" cy="914400"/>
          </a:xfrm>
          <a:prstGeom prst="ellipse">
            <a:avLst/>
          </a:prstGeom>
          <a:solidFill>
            <a:srgbClr val="0B1F3A"/>
          </a:solidFill>
          <a:ln/>
        </p:spPr>
      </p:sp>
      <p:pic>
        <p:nvPicPr>
          <p:cNvPr id="8" name="a2_icon" descr="coins">    </p:cNvPr>
          <p:cNvPicPr>
            <a:picLocks noChangeAspect="1"/>
          </p:cNvPicPr>
          <p:nvPr/>
        </p:nvPicPr>
        <p:blipFill>
          <a:blip r:embed="rId1"/>
          <a:stretch>
            <a:fillRect/>
          </a:stretch>
        </p:blipFill>
        <p:spPr>
          <a:xfrm>
            <a:off x="1161288" y="2807208"/>
            <a:ext cx="420624" cy="420624"/>
          </a:xfrm>
          <a:prstGeom prst="rect">
            <a:avLst/>
          </a:prstGeom>
        </p:spPr>
      </p:pic>
      <p:sp>
        <p:nvSpPr>
          <p:cNvPr id="9" name="a2_h"/>
          <p:cNvSpPr txBox="1"/>
          <p:nvPr/>
        </p:nvSpPr>
        <p:spPr>
          <a:xfrm>
            <a:off x="91440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Revenue</a:t>
            </a:r>
            <a:endParaRPr lang="en-US" sz="2400" dirty="0"/>
          </a:p>
        </p:txBody>
      </p:sp>
      <p:sp>
        <p:nvSpPr>
          <p:cNvPr id="10" name="a2_d"/>
          <p:cNvSpPr txBox="1"/>
          <p:nvPr/>
        </p:nvSpPr>
        <p:spPr>
          <a:xfrm>
            <a:off x="91440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We'll sell NutriPill directly, online and in person, and also earn money from events and pop-up stands.</a:t>
            </a:r>
            <a:endParaRPr lang="en-US" sz="1600" dirty="0"/>
          </a:p>
        </p:txBody>
      </p:sp>
      <p:sp>
        <p:nvSpPr>
          <p:cNvPr id="11" name="a3_card"/>
          <p:cNvSpPr/>
          <p:nvPr/>
        </p:nvSpPr>
        <p:spPr>
          <a:xfrm>
            <a:off x="429768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2" name="a3_num"/>
          <p:cNvSpPr txBox="1"/>
          <p:nvPr/>
        </p:nvSpPr>
        <p:spPr>
          <a:xfrm>
            <a:off x="649224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02</a:t>
            </a:r>
            <a:endParaRPr lang="en-US" sz="4000" dirty="0"/>
          </a:p>
        </p:txBody>
      </p:sp>
      <p:sp>
        <p:nvSpPr>
          <p:cNvPr id="13" name="a3_circle"/>
          <p:cNvSpPr/>
          <p:nvPr/>
        </p:nvSpPr>
        <p:spPr>
          <a:xfrm>
            <a:off x="4663440" y="2560320"/>
            <a:ext cx="914400" cy="914400"/>
          </a:xfrm>
          <a:prstGeom prst="ellipse">
            <a:avLst/>
          </a:prstGeom>
          <a:solidFill>
            <a:srgbClr val="0B1F3A"/>
          </a:solidFill>
          <a:ln/>
        </p:spPr>
      </p:sp>
      <p:pic>
        <p:nvPicPr>
          <p:cNvPr id="14" name="a3_icon" descr="share">    </p:cNvPr>
          <p:cNvPicPr>
            <a:picLocks noChangeAspect="1"/>
          </p:cNvPicPr>
          <p:nvPr/>
        </p:nvPicPr>
        <p:blipFill>
          <a:blip r:embed="rId2"/>
          <a:stretch>
            <a:fillRect/>
          </a:stretch>
        </p:blipFill>
        <p:spPr>
          <a:xfrm>
            <a:off x="4910328" y="2807208"/>
            <a:ext cx="420624" cy="420624"/>
          </a:xfrm>
          <a:prstGeom prst="rect">
            <a:avLst/>
          </a:prstGeom>
        </p:spPr>
      </p:pic>
      <p:sp>
        <p:nvSpPr>
          <p:cNvPr id="15" name="a3_h"/>
          <p:cNvSpPr txBox="1"/>
          <p:nvPr/>
        </p:nvSpPr>
        <p:spPr>
          <a:xfrm>
            <a:off x="466344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Channels</a:t>
            </a:r>
            <a:endParaRPr lang="en-US" sz="2400" dirty="0"/>
          </a:p>
        </p:txBody>
      </p:sp>
      <p:sp>
        <p:nvSpPr>
          <p:cNvPr id="16" name="a3_d"/>
          <p:cNvSpPr txBox="1"/>
          <p:nvPr/>
        </p:nvSpPr>
        <p:spPr>
          <a:xfrm>
            <a:off x="466344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Our customers are on Instagram and TikTok, so that's where we'll be. We'll also have stands at schools and gyms.</a:t>
            </a:r>
            <a:endParaRPr lang="en-US" sz="1600" dirty="0"/>
          </a:p>
        </p:txBody>
      </p:sp>
      <p:sp>
        <p:nvSpPr>
          <p:cNvPr id="17" name="a4_card"/>
          <p:cNvSpPr/>
          <p:nvPr/>
        </p:nvSpPr>
        <p:spPr>
          <a:xfrm>
            <a:off x="804672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8" name="a4_num"/>
          <p:cNvSpPr txBox="1"/>
          <p:nvPr/>
        </p:nvSpPr>
        <p:spPr>
          <a:xfrm>
            <a:off x="1024128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03</a:t>
            </a:r>
            <a:endParaRPr lang="en-US" sz="4000" dirty="0"/>
          </a:p>
        </p:txBody>
      </p:sp>
      <p:sp>
        <p:nvSpPr>
          <p:cNvPr id="19" name="a4_circle"/>
          <p:cNvSpPr/>
          <p:nvPr/>
        </p:nvSpPr>
        <p:spPr>
          <a:xfrm>
            <a:off x="8412480" y="2560320"/>
            <a:ext cx="914400" cy="914400"/>
          </a:xfrm>
          <a:prstGeom prst="ellipse">
            <a:avLst/>
          </a:prstGeom>
          <a:solidFill>
            <a:srgbClr val="0B1F3A"/>
          </a:solidFill>
          <a:ln/>
        </p:spPr>
      </p:sp>
      <p:pic>
        <p:nvPicPr>
          <p:cNvPr id="20" name="a4_icon" descr="tag">    </p:cNvPr>
          <p:cNvPicPr>
            <a:picLocks noChangeAspect="1"/>
          </p:cNvPicPr>
          <p:nvPr/>
        </p:nvPicPr>
        <p:blipFill>
          <a:blip r:embed="rId3"/>
          <a:stretch>
            <a:fillRect/>
          </a:stretch>
        </p:blipFill>
        <p:spPr>
          <a:xfrm>
            <a:off x="8659368" y="2807208"/>
            <a:ext cx="420624" cy="420624"/>
          </a:xfrm>
          <a:prstGeom prst="rect">
            <a:avLst/>
          </a:prstGeom>
        </p:spPr>
      </p:pic>
      <p:sp>
        <p:nvSpPr>
          <p:cNvPr id="21" name="a4_h"/>
          <p:cNvSpPr txBox="1"/>
          <p:nvPr/>
        </p:nvSpPr>
        <p:spPr>
          <a:xfrm>
            <a:off x="841248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Pricing</a:t>
            </a:r>
            <a:endParaRPr lang="en-US" sz="2400" dirty="0"/>
          </a:p>
        </p:txBody>
      </p:sp>
      <p:sp>
        <p:nvSpPr>
          <p:cNvPr id="22" name="a4_d"/>
          <p:cNvSpPr txBox="1"/>
          <p:nvPr/>
        </p:nvSpPr>
        <p:spPr>
          <a:xfrm>
            <a:off x="841248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Cheap enough for a student to buy, but with the quality of a premium product.</a:t>
            </a:r>
            <a:endParaRPr lang="en-US" sz="1600" dirty="0"/>
          </a:p>
        </p:txBody>
      </p:sp>
      <p:pic>
        <p:nvPicPr>
          <p:cNvPr id="23" name="a3_social" descr="instagram">    </p:cNvPr>
          <p:cNvPicPr>
            <a:picLocks noChangeAspect="1"/>
          </p:cNvPicPr>
          <p:nvPr/>
        </p:nvPicPr>
        <p:blipFill>
          <a:blip r:embed="rId4"/>
          <a:stretch>
            <a:fillRect/>
          </a:stretch>
        </p:blipFill>
        <p:spPr>
          <a:xfrm>
            <a:off x="4663440" y="5486400"/>
            <a:ext cx="384048" cy="384048"/>
          </a:xfrm>
          <a:prstGeom prst="rect">
            <a:avLst/>
          </a:prstGeom>
        </p:spPr>
      </p:pic>
      <p:pic>
        <p:nvPicPr>
          <p:cNvPr id="24" name="a3_social" descr="tiktok">    </p:cNvPr>
          <p:cNvPicPr>
            <a:picLocks noChangeAspect="1"/>
          </p:cNvPicPr>
          <p:nvPr/>
        </p:nvPicPr>
        <p:blipFill>
          <a:blip r:embed="rId5"/>
          <a:stretch>
            <a:fillRect/>
          </a:stretch>
        </p:blipFill>
        <p:spPr>
          <a:xfrm>
            <a:off x="5257800" y="5486400"/>
            <a:ext cx="384048" cy="384048"/>
          </a:xfrm>
          <a:prstGeom prst="rect">
            <a:avLst/>
          </a:prstGeom>
        </p:spPr>
      </p:pic>
      <p:pic>
        <p:nvPicPr>
          <p:cNvPr id="25" name="a3_social" descr="youtube">    </p:cNvPr>
          <p:cNvPicPr>
            <a:picLocks noChangeAspect="1"/>
          </p:cNvPicPr>
          <p:nvPr/>
        </p:nvPicPr>
        <p:blipFill>
          <a:blip r:embed="rId6"/>
          <a:stretch>
            <a:fillRect/>
          </a:stretch>
        </p:blipFill>
        <p:spPr>
          <a:xfrm>
            <a:off x="5852160" y="5486400"/>
            <a:ext cx="384048" cy="384048"/>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2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600"/>
                                        <p:tgtEl>
                                          <p:spTgt spid="23"/>
                                        </p:tgtEl>
                                      </p:cBhvr>
                                    </p:animEffect>
                                    <p:anim calcmode="lin" valueType="num">
                                      <p:cBhvr>
                                        <p:cTn id="8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600"/>
                                        <p:tgtEl>
                                          <p:spTgt spid="25"/>
                                        </p:tgtEl>
                                      </p:cBhvr>
                                    </p:animEffect>
                                    <p:anim calcmode="lin" valueType="num">
                                      <p:cBhvr>
                                        <p:cTn id="9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17"/>
                                        </p:tgtEl>
                                        <p:attrNameLst>
                                          <p:attrName>style.visibility</p:attrName>
                                        </p:attrNameLst>
                                      </p:cBhvr>
                                      <p:to>
                                        <p:strVal val="visible"/>
                                      </p:to>
                                    </p:set>
                                    <p:animEffect transition="in" filter="fade">
                                      <p:cBhvr>
                                        <p:cTn id="96" dur="600"/>
                                        <p:tgtEl>
                                          <p:spTgt spid="17"/>
                                        </p:tgtEl>
                                      </p:cBhvr>
                                    </p:animEffect>
                                    <p:anim calcmode="lin" valueType="num">
                                      <p:cBhvr>
                                        <p:cTn id="9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600"/>
                                        <p:tgtEl>
                                          <p:spTgt spid="18"/>
                                        </p:tgtEl>
                                      </p:cBhvr>
                                    </p:animEffect>
                                    <p:anim calcmode="lin" valueType="num">
                                      <p:cBhvr>
                                        <p:cTn id="10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6" dur="600"/>
                                        <p:tgtEl>
                                          <p:spTgt spid="19"/>
                                        </p:tgtEl>
                                      </p:cBhvr>
                                    </p:animEffect>
                                    <p:anim calcmode="lin" valueType="num">
                                      <p:cBhvr>
                                        <p:cTn id="10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600"/>
                                        <p:tgtEl>
                                          <p:spTgt spid="20"/>
                                        </p:tgtEl>
                                      </p:cBhvr>
                                    </p:animEffect>
                                    <p:anim calcmode="lin" valueType="num">
                                      <p:cBhvr>
                                        <p:cTn id="11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600"/>
                                        <p:tgtEl>
                                          <p:spTgt spid="21"/>
                                        </p:tgtEl>
                                      </p:cBhvr>
                                    </p:animEffect>
                                    <p:anim calcmode="lin" valueType="num">
                                      <p:cBhvr>
                                        <p:cTn id="11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1" dur="600"/>
                                        <p:tgtEl>
                                          <p:spTgt spid="22"/>
                                        </p:tgtEl>
                                      </p:cBhvr>
                                    </p:animEffect>
                                    <p:anim calcmode="lin" valueType="num">
                                      <p:cBhvr>
                                        <p:cTn id="122" dur="600" decel="1000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10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Growth Strategy</a:t>
            </a:r>
            <a:endParaRPr lang="en-US" sz="3600" dirty="0"/>
          </a:p>
        </p:txBody>
      </p:sp>
      <p:sp>
        <p:nvSpPr>
          <p:cNvPr id="4" name="a1_line"/>
          <p:cNvSpPr/>
          <p:nvPr/>
        </p:nvSpPr>
        <p:spPr>
          <a:xfrm>
            <a:off x="1097280" y="2606040"/>
            <a:ext cx="9966960" cy="0"/>
          </a:xfrm>
          <a:prstGeom prst="line">
            <a:avLst/>
          </a:prstGeom>
          <a:noFill/>
          <a:ln w="25400">
            <a:solidFill>
              <a:srgbClr val="14C9A1"/>
            </a:solidFill>
            <a:prstDash val="dash"/>
          </a:ln>
        </p:spPr>
      </p:sp>
      <p:sp>
        <p:nvSpPr>
          <p:cNvPr id="5" name="a2_ring"/>
          <p:cNvSpPr/>
          <p:nvPr/>
        </p:nvSpPr>
        <p:spPr>
          <a:xfrm>
            <a:off x="594360" y="2103120"/>
            <a:ext cx="1005840" cy="1005840"/>
          </a:xfrm>
          <a:prstGeom prst="ellipse">
            <a:avLst/>
          </a:prstGeom>
          <a:solidFill>
            <a:srgbClr val="0B1F3A"/>
          </a:solidFill>
          <a:ln w="38100">
            <a:solidFill>
              <a:srgbClr val="14C9A1"/>
            </a:solidFill>
            <a:prstDash val="solid"/>
          </a:ln>
        </p:spPr>
      </p:sp>
      <p:pic>
        <p:nvPicPr>
          <p:cNvPr id="6" name="a2_icon" descr="Post real content">    </p:cNvPr>
          <p:cNvPicPr>
            <a:picLocks noChangeAspect="1"/>
          </p:cNvPicPr>
          <p:nvPr/>
        </p:nvPicPr>
        <p:blipFill>
          <a:blip r:embed="rId1"/>
          <a:stretch>
            <a:fillRect/>
          </a:stretch>
        </p:blipFill>
        <p:spPr>
          <a:xfrm>
            <a:off x="850392" y="2359152"/>
            <a:ext cx="493776" cy="493776"/>
          </a:xfrm>
          <a:prstGeom prst="rect">
            <a:avLst/>
          </a:prstGeom>
        </p:spPr>
      </p:pic>
      <p:sp>
        <p:nvSpPr>
          <p:cNvPr id="7" name="a2_num"/>
          <p:cNvSpPr txBox="1"/>
          <p:nvPr/>
        </p:nvSpPr>
        <p:spPr>
          <a:xfrm>
            <a:off x="54864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01</a:t>
            </a:r>
            <a:endParaRPr lang="en-US" sz="2200" dirty="0"/>
          </a:p>
        </p:txBody>
      </p:sp>
      <p:sp>
        <p:nvSpPr>
          <p:cNvPr id="8" name="a2_h"/>
          <p:cNvSpPr txBox="1"/>
          <p:nvPr/>
        </p:nvSpPr>
        <p:spPr>
          <a:xfrm>
            <a:off x="54864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Post real content</a:t>
            </a:r>
            <a:endParaRPr lang="en-US" sz="1900" dirty="0"/>
          </a:p>
        </p:txBody>
      </p:sp>
      <p:sp>
        <p:nvSpPr>
          <p:cNvPr id="9" name="a2_d"/>
          <p:cNvSpPr txBox="1"/>
          <p:nvPr/>
        </p:nvSpPr>
        <p:spPr>
          <a:xfrm>
            <a:off x="54864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Short videos of a normal busy day: early class, training, and NutriPill in between.</a:t>
            </a:r>
            <a:endParaRPr lang="en-US" sz="1500" dirty="0"/>
          </a:p>
        </p:txBody>
      </p:sp>
      <p:sp>
        <p:nvSpPr>
          <p:cNvPr id="10" name="a3_ring"/>
          <p:cNvSpPr/>
          <p:nvPr/>
        </p:nvSpPr>
        <p:spPr>
          <a:xfrm>
            <a:off x="3429000" y="2103120"/>
            <a:ext cx="1005840" cy="1005840"/>
          </a:xfrm>
          <a:prstGeom prst="ellipse">
            <a:avLst/>
          </a:prstGeom>
          <a:solidFill>
            <a:srgbClr val="0B1F3A"/>
          </a:solidFill>
          <a:ln w="38100">
            <a:solidFill>
              <a:srgbClr val="14C9A1"/>
            </a:solidFill>
            <a:prstDash val="solid"/>
          </a:ln>
        </p:spPr>
      </p:sp>
      <p:pic>
        <p:nvPicPr>
          <p:cNvPr id="11" name="a3_icon" descr="Work with local influencers">    </p:cNvPr>
          <p:cNvPicPr>
            <a:picLocks noChangeAspect="1"/>
          </p:cNvPicPr>
          <p:nvPr/>
        </p:nvPicPr>
        <p:blipFill>
          <a:blip r:embed="rId2"/>
          <a:stretch>
            <a:fillRect/>
          </a:stretch>
        </p:blipFill>
        <p:spPr>
          <a:xfrm>
            <a:off x="3685032" y="2359152"/>
            <a:ext cx="493776" cy="493776"/>
          </a:xfrm>
          <a:prstGeom prst="rect">
            <a:avLst/>
          </a:prstGeom>
        </p:spPr>
      </p:pic>
      <p:sp>
        <p:nvSpPr>
          <p:cNvPr id="12" name="a3_num"/>
          <p:cNvSpPr txBox="1"/>
          <p:nvPr/>
        </p:nvSpPr>
        <p:spPr>
          <a:xfrm>
            <a:off x="338328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02</a:t>
            </a:r>
            <a:endParaRPr lang="en-US" sz="2200" dirty="0"/>
          </a:p>
        </p:txBody>
      </p:sp>
      <p:sp>
        <p:nvSpPr>
          <p:cNvPr id="13" name="a3_h"/>
          <p:cNvSpPr txBox="1"/>
          <p:nvPr/>
        </p:nvSpPr>
        <p:spPr>
          <a:xfrm>
            <a:off x="338328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Work with local influencers</a:t>
            </a:r>
            <a:endParaRPr lang="en-US" sz="1900" dirty="0"/>
          </a:p>
        </p:txBody>
      </p:sp>
      <p:sp>
        <p:nvSpPr>
          <p:cNvPr id="14" name="a3_d"/>
          <p:cNvSpPr txBox="1"/>
          <p:nvPr/>
        </p:nvSpPr>
        <p:spPr>
          <a:xfrm>
            <a:off x="338328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Local athletes and creators who actually live busy lives, not just anyone with followers.</a:t>
            </a:r>
            <a:endParaRPr lang="en-US" sz="1500" dirty="0"/>
          </a:p>
        </p:txBody>
      </p:sp>
      <p:sp>
        <p:nvSpPr>
          <p:cNvPr id="15" name="a4_ring"/>
          <p:cNvSpPr/>
          <p:nvPr/>
        </p:nvSpPr>
        <p:spPr>
          <a:xfrm>
            <a:off x="6263640" y="2103120"/>
            <a:ext cx="1005840" cy="1005840"/>
          </a:xfrm>
          <a:prstGeom prst="ellipse">
            <a:avLst/>
          </a:prstGeom>
          <a:solidFill>
            <a:srgbClr val="0B1F3A"/>
          </a:solidFill>
          <a:ln w="38100">
            <a:solidFill>
              <a:srgbClr val="14C9A1"/>
            </a:solidFill>
            <a:prstDash val="solid"/>
          </a:ln>
        </p:spPr>
      </p:sp>
      <p:pic>
        <p:nvPicPr>
          <p:cNvPr id="16" name="a4_icon" descr="Organise events">    </p:cNvPr>
          <p:cNvPicPr>
            <a:picLocks noChangeAspect="1"/>
          </p:cNvPicPr>
          <p:nvPr/>
        </p:nvPicPr>
        <p:blipFill>
          <a:blip r:embed="rId3"/>
          <a:stretch>
            <a:fillRect/>
          </a:stretch>
        </p:blipFill>
        <p:spPr>
          <a:xfrm>
            <a:off x="6519672" y="2359152"/>
            <a:ext cx="493776" cy="493776"/>
          </a:xfrm>
          <a:prstGeom prst="rect">
            <a:avLst/>
          </a:prstGeom>
        </p:spPr>
      </p:pic>
      <p:sp>
        <p:nvSpPr>
          <p:cNvPr id="17" name="a4_num"/>
          <p:cNvSpPr txBox="1"/>
          <p:nvPr/>
        </p:nvSpPr>
        <p:spPr>
          <a:xfrm>
            <a:off x="621792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03</a:t>
            </a:r>
            <a:endParaRPr lang="en-US" sz="2200" dirty="0"/>
          </a:p>
        </p:txBody>
      </p:sp>
      <p:sp>
        <p:nvSpPr>
          <p:cNvPr id="18" name="a4_h"/>
          <p:cNvSpPr txBox="1"/>
          <p:nvPr/>
        </p:nvSpPr>
        <p:spPr>
          <a:xfrm>
            <a:off x="621792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Organise events</a:t>
            </a:r>
            <a:endParaRPr lang="en-US" sz="1900" dirty="0"/>
          </a:p>
        </p:txBody>
      </p:sp>
      <p:sp>
        <p:nvSpPr>
          <p:cNvPr id="19" name="a4_d"/>
          <p:cNvSpPr txBox="1"/>
          <p:nvPr/>
        </p:nvSpPr>
        <p:spPr>
          <a:xfrm>
            <a:off x="621792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Free sample days, personalised kits and collaborations with gyms and sports clubs.</a:t>
            </a:r>
            <a:endParaRPr lang="en-US" sz="1500" dirty="0"/>
          </a:p>
        </p:txBody>
      </p:sp>
      <p:sp>
        <p:nvSpPr>
          <p:cNvPr id="20" name="a5_ring"/>
          <p:cNvSpPr/>
          <p:nvPr/>
        </p:nvSpPr>
        <p:spPr>
          <a:xfrm>
            <a:off x="9098280" y="2103120"/>
            <a:ext cx="1005840" cy="1005840"/>
          </a:xfrm>
          <a:prstGeom prst="ellipse">
            <a:avLst/>
          </a:prstGeom>
          <a:solidFill>
            <a:srgbClr val="0B1F3A"/>
          </a:solidFill>
          <a:ln w="38100">
            <a:solidFill>
              <a:srgbClr val="14C9A1"/>
            </a:solidFill>
            <a:prstDash val="solid"/>
          </a:ln>
        </p:spPr>
      </p:sp>
      <p:pic>
        <p:nvPicPr>
          <p:cNvPr id="21" name="a5_icon" descr="Listen to our customers">    </p:cNvPr>
          <p:cNvPicPr>
            <a:picLocks noChangeAspect="1"/>
          </p:cNvPicPr>
          <p:nvPr/>
        </p:nvPicPr>
        <p:blipFill>
          <a:blip r:embed="rId4"/>
          <a:stretch>
            <a:fillRect/>
          </a:stretch>
        </p:blipFill>
        <p:spPr>
          <a:xfrm>
            <a:off x="9354312" y="2359152"/>
            <a:ext cx="493776" cy="493776"/>
          </a:xfrm>
          <a:prstGeom prst="rect">
            <a:avLst/>
          </a:prstGeom>
        </p:spPr>
      </p:pic>
      <p:sp>
        <p:nvSpPr>
          <p:cNvPr id="22" name="a5_num"/>
          <p:cNvSpPr txBox="1"/>
          <p:nvPr/>
        </p:nvSpPr>
        <p:spPr>
          <a:xfrm>
            <a:off x="905256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04</a:t>
            </a:r>
            <a:endParaRPr lang="en-US" sz="2200" dirty="0"/>
          </a:p>
        </p:txBody>
      </p:sp>
      <p:sp>
        <p:nvSpPr>
          <p:cNvPr id="23" name="a5_h"/>
          <p:cNvSpPr txBox="1"/>
          <p:nvPr/>
        </p:nvSpPr>
        <p:spPr>
          <a:xfrm>
            <a:off x="905256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Listen to our customers</a:t>
            </a:r>
            <a:endParaRPr lang="en-US" sz="1900" dirty="0"/>
          </a:p>
        </p:txBody>
      </p:sp>
      <p:sp>
        <p:nvSpPr>
          <p:cNvPr id="24" name="a5_d"/>
          <p:cNvSpPr txBox="1"/>
          <p:nvPr/>
        </p:nvSpPr>
        <p:spPr>
          <a:xfrm>
            <a:off x="905256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Ask for their opinions, share their stories and let them help shape new products.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11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SWOT Analysis</a:t>
            </a:r>
            <a:endParaRPr lang="en-US" sz="3600" dirty="0"/>
          </a:p>
        </p:txBody>
      </p:sp>
      <p:sp>
        <p:nvSpPr>
          <p:cNvPr id="4" name="a1_card"/>
          <p:cNvSpPr/>
          <p:nvPr/>
        </p:nvSpPr>
        <p:spPr>
          <a:xfrm>
            <a:off x="548640" y="178308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5" name="a1_side"/>
          <p:cNvSpPr/>
          <p:nvPr/>
        </p:nvSpPr>
        <p:spPr>
          <a:xfrm>
            <a:off x="548640" y="1783080"/>
            <a:ext cx="1371600" cy="2057400"/>
          </a:xfrm>
          <a:prstGeom prst="roundRect">
            <a:avLst>
              <a:gd name="adj" fmla="val 12000"/>
            </a:avLst>
          </a:prstGeom>
          <a:solidFill>
            <a:srgbClr val="14C9A1"/>
          </a:solidFill>
          <a:ln/>
        </p:spPr>
      </p:sp>
      <p:sp>
        <p:nvSpPr>
          <p:cNvPr id="6" name="a1_L"/>
          <p:cNvSpPr txBox="1"/>
          <p:nvPr/>
        </p:nvSpPr>
        <p:spPr>
          <a:xfrm>
            <a:off x="548640" y="201168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S</a:t>
            </a:r>
            <a:endParaRPr lang="en-US" sz="6000" dirty="0"/>
          </a:p>
        </p:txBody>
      </p:sp>
      <p:pic>
        <p:nvPicPr>
          <p:cNvPr id="7" name="a1_icon" descr="Strengths">    </p:cNvPr>
          <p:cNvPicPr>
            <a:picLocks noChangeAspect="1"/>
          </p:cNvPicPr>
          <p:nvPr/>
        </p:nvPicPr>
        <p:blipFill>
          <a:blip r:embed="rId1"/>
          <a:stretch>
            <a:fillRect/>
          </a:stretch>
        </p:blipFill>
        <p:spPr>
          <a:xfrm>
            <a:off x="1033272" y="3108960"/>
            <a:ext cx="402336" cy="402336"/>
          </a:xfrm>
          <a:prstGeom prst="rect">
            <a:avLst/>
          </a:prstGeom>
        </p:spPr>
      </p:pic>
      <p:sp>
        <p:nvSpPr>
          <p:cNvPr id="8" name="a1_h"/>
          <p:cNvSpPr txBox="1"/>
          <p:nvPr/>
        </p:nvSpPr>
        <p:spPr>
          <a:xfrm>
            <a:off x="2194560" y="1965960"/>
            <a:ext cx="3566160" cy="411480"/>
          </a:xfrm>
          <a:prstGeom prst="rect">
            <a:avLst/>
          </a:prstGeom>
          <a:noFill/>
          <a:ln/>
        </p:spPr>
        <p:txBody>
          <a:bodyPr wrap="square" lIns="0" tIns="0" rIns="0" bIns="0" rtlCol="0" anchor="t"/>
          <a:lstStyle/>
          <a:p>
            <a:pPr indent="0" marL="0">
              <a:buNone/>
            </a:pPr>
            <a:r>
              <a:rPr lang="en-US" sz="2000" b="1" dirty="0">
                <a:solidFill>
                  <a:srgbClr val="14C9A1"/>
                </a:solidFill>
                <a:latin typeface="Calibri" pitchFamily="34" charset="0"/>
                <a:ea typeface="Calibri" pitchFamily="34" charset="-122"/>
                <a:cs typeface="Calibri" pitchFamily="34" charset="-120"/>
              </a:rPr>
              <a:t>Strengths</a:t>
            </a:r>
            <a:endParaRPr lang="en-US" sz="2000" dirty="0"/>
          </a:p>
        </p:txBody>
      </p:sp>
      <p:sp>
        <p:nvSpPr>
          <p:cNvPr id="9" name="a1_list"/>
          <p:cNvSpPr txBox="1"/>
          <p:nvPr/>
        </p:nvSpPr>
        <p:spPr>
          <a:xfrm>
            <a:off x="2194560" y="242316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Small, cheap and easy to carry</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Quick: one pill and you're done</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Natural ingredients</a:t>
            </a:r>
            <a:endParaRPr lang="en-US" sz="1500" dirty="0"/>
          </a:p>
        </p:txBody>
      </p:sp>
      <p:sp>
        <p:nvSpPr>
          <p:cNvPr id="10" name="a2_card"/>
          <p:cNvSpPr/>
          <p:nvPr/>
        </p:nvSpPr>
        <p:spPr>
          <a:xfrm>
            <a:off x="6126480" y="178308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11" name="a2_side"/>
          <p:cNvSpPr/>
          <p:nvPr/>
        </p:nvSpPr>
        <p:spPr>
          <a:xfrm>
            <a:off x="6126480" y="1783080"/>
            <a:ext cx="1371600" cy="2057400"/>
          </a:xfrm>
          <a:prstGeom prst="roundRect">
            <a:avLst>
              <a:gd name="adj" fmla="val 12000"/>
            </a:avLst>
          </a:prstGeom>
          <a:solidFill>
            <a:srgbClr val="FF6B4A"/>
          </a:solidFill>
          <a:ln/>
        </p:spPr>
      </p:sp>
      <p:sp>
        <p:nvSpPr>
          <p:cNvPr id="12" name="a2_L"/>
          <p:cNvSpPr txBox="1"/>
          <p:nvPr/>
        </p:nvSpPr>
        <p:spPr>
          <a:xfrm>
            <a:off x="6126480" y="201168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W</a:t>
            </a:r>
            <a:endParaRPr lang="en-US" sz="6000" dirty="0"/>
          </a:p>
        </p:txBody>
      </p:sp>
      <p:pic>
        <p:nvPicPr>
          <p:cNvPr id="13" name="a2_icon" descr="Weaknesses">    </p:cNvPr>
          <p:cNvPicPr>
            <a:picLocks noChangeAspect="1"/>
          </p:cNvPicPr>
          <p:nvPr/>
        </p:nvPicPr>
        <p:blipFill>
          <a:blip r:embed="rId2"/>
          <a:stretch>
            <a:fillRect/>
          </a:stretch>
        </p:blipFill>
        <p:spPr>
          <a:xfrm>
            <a:off x="6611112" y="3108960"/>
            <a:ext cx="402336" cy="402336"/>
          </a:xfrm>
          <a:prstGeom prst="rect">
            <a:avLst/>
          </a:prstGeom>
        </p:spPr>
      </p:pic>
      <p:sp>
        <p:nvSpPr>
          <p:cNvPr id="14" name="a2_h"/>
          <p:cNvSpPr txBox="1"/>
          <p:nvPr/>
        </p:nvSpPr>
        <p:spPr>
          <a:xfrm>
            <a:off x="7772400" y="1965960"/>
            <a:ext cx="3566160" cy="411480"/>
          </a:xfrm>
          <a:prstGeom prst="rect">
            <a:avLst/>
          </a:prstGeom>
          <a:noFill/>
          <a:ln/>
        </p:spPr>
        <p:txBody>
          <a:bodyPr wrap="square" lIns="0" tIns="0" rIns="0" bIns="0" rtlCol="0" anchor="t"/>
          <a:lstStyle/>
          <a:p>
            <a:pPr indent="0" marL="0">
              <a:buNone/>
            </a:pPr>
            <a:r>
              <a:rPr lang="en-US" sz="2000" b="1" dirty="0">
                <a:solidFill>
                  <a:srgbClr val="FF6B4A"/>
                </a:solidFill>
                <a:latin typeface="Calibri" pitchFamily="34" charset="0"/>
                <a:ea typeface="Calibri" pitchFamily="34" charset="-122"/>
                <a:cs typeface="Calibri" pitchFamily="34" charset="-120"/>
              </a:rPr>
              <a:t>Weaknesses</a:t>
            </a:r>
            <a:endParaRPr lang="en-US" sz="2000" dirty="0"/>
          </a:p>
        </p:txBody>
      </p:sp>
      <p:sp>
        <p:nvSpPr>
          <p:cNvPr id="15" name="a2_list"/>
          <p:cNvSpPr txBox="1"/>
          <p:nvPr/>
        </p:nvSpPr>
        <p:spPr>
          <a:xfrm>
            <a:off x="7772400" y="242316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It doesn't replace a real meal</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We're a new brand nobody knows yet</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Some people don't trust supplements</a:t>
            </a:r>
            <a:endParaRPr lang="en-US" sz="1500" dirty="0"/>
          </a:p>
        </p:txBody>
      </p:sp>
      <p:sp>
        <p:nvSpPr>
          <p:cNvPr id="16" name="a3_card"/>
          <p:cNvSpPr/>
          <p:nvPr/>
        </p:nvSpPr>
        <p:spPr>
          <a:xfrm>
            <a:off x="548640" y="402336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17" name="a3_side"/>
          <p:cNvSpPr/>
          <p:nvPr/>
        </p:nvSpPr>
        <p:spPr>
          <a:xfrm>
            <a:off x="548640" y="4023360"/>
            <a:ext cx="1371600" cy="2057400"/>
          </a:xfrm>
          <a:prstGeom prst="roundRect">
            <a:avLst>
              <a:gd name="adj" fmla="val 12000"/>
            </a:avLst>
          </a:prstGeom>
          <a:solidFill>
            <a:srgbClr val="2A6BD1"/>
          </a:solidFill>
          <a:ln/>
        </p:spPr>
      </p:sp>
      <p:sp>
        <p:nvSpPr>
          <p:cNvPr id="18" name="a3_L"/>
          <p:cNvSpPr txBox="1"/>
          <p:nvPr/>
        </p:nvSpPr>
        <p:spPr>
          <a:xfrm>
            <a:off x="548640" y="425196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O</a:t>
            </a:r>
            <a:endParaRPr lang="en-US" sz="6000" dirty="0"/>
          </a:p>
        </p:txBody>
      </p:sp>
      <p:pic>
        <p:nvPicPr>
          <p:cNvPr id="19" name="a3_icon" descr="Opportunities">    </p:cNvPr>
          <p:cNvPicPr>
            <a:picLocks noChangeAspect="1"/>
          </p:cNvPicPr>
          <p:nvPr/>
        </p:nvPicPr>
        <p:blipFill>
          <a:blip r:embed="rId3"/>
          <a:stretch>
            <a:fillRect/>
          </a:stretch>
        </p:blipFill>
        <p:spPr>
          <a:xfrm>
            <a:off x="1033272" y="5349240"/>
            <a:ext cx="402336" cy="402336"/>
          </a:xfrm>
          <a:prstGeom prst="rect">
            <a:avLst/>
          </a:prstGeom>
        </p:spPr>
      </p:pic>
      <p:sp>
        <p:nvSpPr>
          <p:cNvPr id="20" name="a3_h"/>
          <p:cNvSpPr txBox="1"/>
          <p:nvPr/>
        </p:nvSpPr>
        <p:spPr>
          <a:xfrm>
            <a:off x="2194560" y="4206240"/>
            <a:ext cx="3566160" cy="411480"/>
          </a:xfrm>
          <a:prstGeom prst="rect">
            <a:avLst/>
          </a:prstGeom>
          <a:noFill/>
          <a:ln/>
        </p:spPr>
        <p:txBody>
          <a:bodyPr wrap="square" lIns="0" tIns="0" rIns="0" bIns="0" rtlCol="0" anchor="t"/>
          <a:lstStyle/>
          <a:p>
            <a:pPr indent="0" marL="0">
              <a:buNone/>
            </a:pPr>
            <a:r>
              <a:rPr lang="en-US" sz="2000" b="1" dirty="0">
                <a:solidFill>
                  <a:srgbClr val="2A6BD1"/>
                </a:solidFill>
                <a:latin typeface="Calibri" pitchFamily="34" charset="0"/>
                <a:ea typeface="Calibri" pitchFamily="34" charset="-122"/>
                <a:cs typeface="Calibri" pitchFamily="34" charset="-120"/>
              </a:rPr>
              <a:t>Opportunities</a:t>
            </a:r>
            <a:endParaRPr lang="en-US" sz="2000" dirty="0"/>
          </a:p>
        </p:txBody>
      </p:sp>
      <p:sp>
        <p:nvSpPr>
          <p:cNvPr id="21" name="a3_list"/>
          <p:cNvSpPr txBox="1"/>
          <p:nvPr/>
        </p:nvSpPr>
        <p:spPr>
          <a:xfrm>
            <a:off x="2194560" y="466344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More people have busy lives every year</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Healthy living is a big trend on social media</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Selling in supermarkets like Mercadona</a:t>
            </a:r>
            <a:endParaRPr lang="en-US" sz="1500" dirty="0"/>
          </a:p>
        </p:txBody>
      </p:sp>
      <p:sp>
        <p:nvSpPr>
          <p:cNvPr id="22" name="a4_card"/>
          <p:cNvSpPr/>
          <p:nvPr/>
        </p:nvSpPr>
        <p:spPr>
          <a:xfrm>
            <a:off x="6126480" y="402336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23" name="a4_side"/>
          <p:cNvSpPr/>
          <p:nvPr/>
        </p:nvSpPr>
        <p:spPr>
          <a:xfrm>
            <a:off x="6126480" y="4023360"/>
            <a:ext cx="1371600" cy="2057400"/>
          </a:xfrm>
          <a:prstGeom prst="roundRect">
            <a:avLst>
              <a:gd name="adj" fmla="val 12000"/>
            </a:avLst>
          </a:prstGeom>
          <a:solidFill>
            <a:srgbClr val="0B1F3A"/>
          </a:solidFill>
          <a:ln/>
        </p:spPr>
      </p:sp>
      <p:sp>
        <p:nvSpPr>
          <p:cNvPr id="24" name="a4_L"/>
          <p:cNvSpPr txBox="1"/>
          <p:nvPr/>
        </p:nvSpPr>
        <p:spPr>
          <a:xfrm>
            <a:off x="6126480" y="425196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T</a:t>
            </a:r>
            <a:endParaRPr lang="en-US" sz="6000" dirty="0"/>
          </a:p>
        </p:txBody>
      </p:sp>
      <p:pic>
        <p:nvPicPr>
          <p:cNvPr id="25" name="a4_icon" descr="Threats">    </p:cNvPr>
          <p:cNvPicPr>
            <a:picLocks noChangeAspect="1"/>
          </p:cNvPicPr>
          <p:nvPr/>
        </p:nvPicPr>
        <p:blipFill>
          <a:blip r:embed="rId4"/>
          <a:stretch>
            <a:fillRect/>
          </a:stretch>
        </p:blipFill>
        <p:spPr>
          <a:xfrm>
            <a:off x="6611112" y="5349240"/>
            <a:ext cx="402336" cy="402336"/>
          </a:xfrm>
          <a:prstGeom prst="rect">
            <a:avLst/>
          </a:prstGeom>
        </p:spPr>
      </p:pic>
      <p:sp>
        <p:nvSpPr>
          <p:cNvPr id="26" name="a4_h"/>
          <p:cNvSpPr txBox="1"/>
          <p:nvPr/>
        </p:nvSpPr>
        <p:spPr>
          <a:xfrm>
            <a:off x="7772400" y="4206240"/>
            <a:ext cx="3566160" cy="411480"/>
          </a:xfrm>
          <a:prstGeom prst="rect">
            <a:avLst/>
          </a:prstGeom>
          <a:noFill/>
          <a:ln/>
        </p:spPr>
        <p:txBody>
          <a:bodyPr wrap="square" lIns="0" tIns="0" rIns="0" bIns="0" rtlCol="0" anchor="t"/>
          <a:lstStyle/>
          <a:p>
            <a:pPr indent="0" marL="0">
              <a:buNone/>
            </a:pPr>
            <a:r>
              <a:rPr lang="en-US" sz="2000" b="1" dirty="0">
                <a:solidFill>
                  <a:srgbClr val="0B1F3A"/>
                </a:solidFill>
                <a:latin typeface="Calibri" pitchFamily="34" charset="0"/>
                <a:ea typeface="Calibri" pitchFamily="34" charset="-122"/>
                <a:cs typeface="Calibri" pitchFamily="34" charset="-120"/>
              </a:rPr>
              <a:t>Threats</a:t>
            </a:r>
            <a:endParaRPr lang="en-US" sz="2000" dirty="0"/>
          </a:p>
        </p:txBody>
      </p:sp>
      <p:sp>
        <p:nvSpPr>
          <p:cNvPr id="27" name="a4_list"/>
          <p:cNvSpPr txBox="1"/>
          <p:nvPr/>
        </p:nvSpPr>
        <p:spPr>
          <a:xfrm>
            <a:off x="7772400" y="466344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Big supplement brands</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Energy drinks and protein bars</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Strict health rules for new products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12</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13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after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600"/>
                                        <p:tgtEl>
                                          <p:spTgt spid="25"/>
                                        </p:tgtEl>
                                      </p:cBhvr>
                                    </p:animEffect>
                                    <p:anim calcmode="lin" valueType="num">
                                      <p:cBhvr>
                                        <p:cTn id="12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600"/>
                                        <p:tgtEl>
                                          <p:spTgt spid="26"/>
                                        </p:tgtEl>
                                      </p:cBhvr>
                                    </p:animEffect>
                                    <p:anim calcmode="lin" valueType="num">
                                      <p:cBhvr>
                                        <p:cTn id="127"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animEffect transition="in" filter="fade">
                                      <p:cBhvr>
                                        <p:cTn id="131" dur="600"/>
                                        <p:tgtEl>
                                          <p:spTgt spid="27"/>
                                        </p:tgtEl>
                                      </p:cBhvr>
                                    </p:animEffect>
                                    <p:anim calcmode="lin" valueType="num">
                                      <p:cBhvr>
                                        <p:cTn id="132" dur="600" decel="100000" fill="hold"/>
                                        <p:tgtEl>
                                          <p:spTgt spid="2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12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Proposal</a:t>
            </a:r>
            <a:endParaRPr lang="en-US" sz="3600" dirty="0"/>
          </a:p>
        </p:txBody>
      </p:sp>
      <p:sp>
        <p:nvSpPr>
          <p:cNvPr id="4" name="a1_circle"/>
          <p:cNvSpPr/>
          <p:nvPr/>
        </p:nvSpPr>
        <p:spPr>
          <a:xfrm>
            <a:off x="548640" y="1920240"/>
            <a:ext cx="1097280" cy="1097280"/>
          </a:xfrm>
          <a:prstGeom prst="ellipse">
            <a:avLst/>
          </a:prstGeom>
          <a:solidFill>
            <a:srgbClr val="14C9A1"/>
          </a:solidFill>
          <a:ln/>
        </p:spPr>
      </p:sp>
      <p:pic>
        <p:nvPicPr>
          <p:cNvPr id="5" name="a1_icon" descr="handshake">    </p:cNvPr>
          <p:cNvPicPr>
            <a:picLocks noChangeAspect="1"/>
          </p:cNvPicPr>
          <p:nvPr/>
        </p:nvPicPr>
        <p:blipFill>
          <a:blip r:embed="rId1"/>
          <a:stretch>
            <a:fillRect/>
          </a:stretch>
        </p:blipFill>
        <p:spPr>
          <a:xfrm>
            <a:off x="844906" y="2216506"/>
            <a:ext cx="504749" cy="504749"/>
          </a:xfrm>
          <a:prstGeom prst="rect">
            <a:avLst/>
          </a:prstGeom>
        </p:spPr>
      </p:pic>
      <p:sp>
        <p:nvSpPr>
          <p:cNvPr id="6" name="a2_lead"/>
          <p:cNvSpPr txBox="1"/>
          <p:nvPr/>
        </p:nvSpPr>
        <p:spPr>
          <a:xfrm>
            <a:off x="548640" y="3246120"/>
            <a:ext cx="5120640" cy="822960"/>
          </a:xfrm>
          <a:prstGeom prst="rect">
            <a:avLst/>
          </a:prstGeom>
          <a:noFill/>
          <a:ln/>
        </p:spPr>
        <p:txBody>
          <a:bodyPr wrap="square" lIns="0" tIns="0" rIns="0" bIns="0" rtlCol="0" anchor="t"/>
          <a:lstStyle/>
          <a:p>
            <a:pPr indent="0" marL="0">
              <a:buNone/>
            </a:pPr>
            <a:r>
              <a:rPr lang="en-US" sz="2200" b="1" dirty="0">
                <a:solidFill>
                  <a:srgbClr val="0B1F3A"/>
                </a:solidFill>
                <a:latin typeface="Calibri" pitchFamily="34" charset="0"/>
                <a:ea typeface="Calibri" pitchFamily="34" charset="-122"/>
                <a:cs typeface="Calibri" pitchFamily="34" charset="-120"/>
              </a:rPr>
              <a:t>We are looking for brands that want to grow with us.</a:t>
            </a:r>
            <a:endParaRPr lang="en-US" sz="2200" dirty="0"/>
          </a:p>
        </p:txBody>
      </p:sp>
      <p:sp>
        <p:nvSpPr>
          <p:cNvPr id="7" name="a2_text"/>
          <p:cNvSpPr txBox="1"/>
          <p:nvPr/>
        </p:nvSpPr>
        <p:spPr>
          <a:xfrm>
            <a:off x="548640" y="4114800"/>
            <a:ext cx="5120640" cy="173736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For example, a gym, a sports brand or a healthy café. They help us reach more people, and in return they get noticed by young customers who are hard to reach.</a:t>
            </a:r>
            <a:endParaRPr lang="en-US" sz="1800" dirty="0"/>
          </a:p>
        </p:txBody>
      </p:sp>
      <p:sp>
        <p:nvSpPr>
          <p:cNvPr id="8" name="a3_card"/>
          <p:cNvSpPr/>
          <p:nvPr/>
        </p:nvSpPr>
        <p:spPr>
          <a:xfrm>
            <a:off x="6172200" y="1920240"/>
            <a:ext cx="5349240" cy="4206240"/>
          </a:xfrm>
          <a:prstGeom prst="roundRect">
            <a:avLst>
              <a:gd name="adj" fmla="val 3913"/>
            </a:avLst>
          </a:prstGeom>
          <a:solidFill>
            <a:srgbClr val="0B1F3A"/>
          </a:solidFill>
          <a:ln/>
          <a:effectLst>
            <a:outerShdw sx="100000" sy="100000" kx="0" ky="0" algn="bl" rotWithShape="0" blurRad="228600" dist="76200" dir="5400000">
              <a:srgbClr val="0B1F3A">
                <a:alpha val="12000"/>
              </a:srgbClr>
            </a:outerShdw>
          </a:effectLst>
        </p:spPr>
      </p:sp>
      <p:sp>
        <p:nvSpPr>
          <p:cNvPr id="9" name="a3_h"/>
          <p:cNvSpPr txBox="1"/>
          <p:nvPr/>
        </p:nvSpPr>
        <p:spPr>
          <a:xfrm>
            <a:off x="6583680" y="2240280"/>
            <a:ext cx="4572000" cy="365760"/>
          </a:xfrm>
          <a:prstGeom prst="rect">
            <a:avLst/>
          </a:prstGeom>
          <a:noFill/>
          <a:ln/>
        </p:spPr>
        <p:txBody>
          <a:bodyPr wrap="square" lIns="0" tIns="0" rIns="0" bIns="0" rtlCol="0" anchor="t"/>
          <a:lstStyle/>
          <a:p>
            <a:pPr indent="0" marL="0">
              <a:buNone/>
            </a:pPr>
            <a:r>
              <a:rPr lang="en-US" sz="1400" b="1" spc="300" kern="0" dirty="0">
                <a:solidFill>
                  <a:srgbClr val="14C9A1"/>
                </a:solidFill>
                <a:latin typeface="Calibri" pitchFamily="34" charset="0"/>
                <a:ea typeface="Calibri" pitchFamily="34" charset="-122"/>
                <a:cs typeface="Calibri" pitchFamily="34" charset="-120"/>
              </a:rPr>
              <a:t>TOGETHER, WE COULD:</a:t>
            </a:r>
            <a:endParaRPr lang="en-US" sz="1400" dirty="0"/>
          </a:p>
        </p:txBody>
      </p:sp>
      <p:sp>
        <p:nvSpPr>
          <p:cNvPr id="10" name="a4_dot"/>
          <p:cNvSpPr/>
          <p:nvPr/>
        </p:nvSpPr>
        <p:spPr>
          <a:xfrm>
            <a:off x="6583680" y="2880360"/>
            <a:ext cx="548640" cy="548640"/>
          </a:xfrm>
          <a:prstGeom prst="ellipse">
            <a:avLst/>
          </a:prstGeom>
          <a:solidFill>
            <a:srgbClr val="14C9A1"/>
          </a:solidFill>
          <a:ln/>
        </p:spPr>
      </p:sp>
      <p:pic>
        <p:nvPicPr>
          <p:cNvPr id="11" name="a4_check" descr="check">    </p:cNvPr>
          <p:cNvPicPr>
            <a:picLocks noChangeAspect="1"/>
          </p:cNvPicPr>
          <p:nvPr/>
        </p:nvPicPr>
        <p:blipFill>
          <a:blip r:embed="rId2"/>
          <a:stretch>
            <a:fillRect/>
          </a:stretch>
        </p:blipFill>
        <p:spPr>
          <a:xfrm>
            <a:off x="6720840" y="3017520"/>
            <a:ext cx="274320" cy="274320"/>
          </a:xfrm>
          <a:prstGeom prst="rect">
            <a:avLst/>
          </a:prstGeom>
        </p:spPr>
      </p:pic>
      <p:sp>
        <p:nvSpPr>
          <p:cNvPr id="12" name="a4_t"/>
          <p:cNvSpPr txBox="1"/>
          <p:nvPr/>
        </p:nvSpPr>
        <p:spPr>
          <a:xfrm>
            <a:off x="7360920" y="278892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Create joint products, like a gym pack with NutriPill</a:t>
            </a:r>
            <a:endParaRPr lang="en-US" sz="1800" dirty="0"/>
          </a:p>
        </p:txBody>
      </p:sp>
      <p:sp>
        <p:nvSpPr>
          <p:cNvPr id="13" name="a5_dot"/>
          <p:cNvSpPr/>
          <p:nvPr/>
        </p:nvSpPr>
        <p:spPr>
          <a:xfrm>
            <a:off x="6583680" y="3886200"/>
            <a:ext cx="548640" cy="548640"/>
          </a:xfrm>
          <a:prstGeom prst="ellipse">
            <a:avLst/>
          </a:prstGeom>
          <a:solidFill>
            <a:srgbClr val="14C9A1"/>
          </a:solidFill>
          <a:ln/>
        </p:spPr>
      </p:sp>
      <p:pic>
        <p:nvPicPr>
          <p:cNvPr id="14" name="a5_check" descr="check">    </p:cNvPr>
          <p:cNvPicPr>
            <a:picLocks noChangeAspect="1"/>
          </p:cNvPicPr>
          <p:nvPr/>
        </p:nvPicPr>
        <p:blipFill>
          <a:blip r:embed="rId3"/>
          <a:stretch>
            <a:fillRect/>
          </a:stretch>
        </p:blipFill>
        <p:spPr>
          <a:xfrm>
            <a:off x="6720840" y="4023360"/>
            <a:ext cx="274320" cy="274320"/>
          </a:xfrm>
          <a:prstGeom prst="rect">
            <a:avLst/>
          </a:prstGeom>
        </p:spPr>
      </p:pic>
      <p:sp>
        <p:nvSpPr>
          <p:cNvPr id="15" name="a5_t"/>
          <p:cNvSpPr txBox="1"/>
          <p:nvPr/>
        </p:nvSpPr>
        <p:spPr>
          <a:xfrm>
            <a:off x="7360920" y="379476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Run campaigns together to reach more people</a:t>
            </a:r>
            <a:endParaRPr lang="en-US" sz="1800" dirty="0"/>
          </a:p>
        </p:txBody>
      </p:sp>
      <p:sp>
        <p:nvSpPr>
          <p:cNvPr id="16" name="a6_dot"/>
          <p:cNvSpPr/>
          <p:nvPr/>
        </p:nvSpPr>
        <p:spPr>
          <a:xfrm>
            <a:off x="6583680" y="4892040"/>
            <a:ext cx="548640" cy="548640"/>
          </a:xfrm>
          <a:prstGeom prst="ellipse">
            <a:avLst/>
          </a:prstGeom>
          <a:solidFill>
            <a:srgbClr val="14C9A1"/>
          </a:solidFill>
          <a:ln/>
        </p:spPr>
      </p:sp>
      <p:pic>
        <p:nvPicPr>
          <p:cNvPr id="17" name="a6_check" descr="check">    </p:cNvPr>
          <p:cNvPicPr>
            <a:picLocks noChangeAspect="1"/>
          </p:cNvPicPr>
          <p:nvPr/>
        </p:nvPicPr>
        <p:blipFill>
          <a:blip r:embed="rId4"/>
          <a:stretch>
            <a:fillRect/>
          </a:stretch>
        </p:blipFill>
        <p:spPr>
          <a:xfrm>
            <a:off x="6720840" y="5029200"/>
            <a:ext cx="274320" cy="274320"/>
          </a:xfrm>
          <a:prstGeom prst="rect">
            <a:avLst/>
          </a:prstGeom>
        </p:spPr>
      </p:pic>
      <p:sp>
        <p:nvSpPr>
          <p:cNvPr id="18" name="a6_t"/>
          <p:cNvSpPr txBox="1"/>
          <p:nvPr/>
        </p:nvSpPr>
        <p:spPr>
          <a:xfrm>
            <a:off x="7360920" y="480060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Earn trust, because a partner people know makes us more believable</a:t>
            </a:r>
            <a:endParaRPr lang="en-US" sz="18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2" grpId="0" animBg="1"/>
      <p:bldP spid="13" grpId="0" animBg="1"/>
      <p:bldP spid="15" grpId="0" animBg="1"/>
      <p:bldP spid="16"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13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What We Expect to Achieve</a:t>
            </a:r>
            <a:endParaRPr lang="en-US" sz="3600" dirty="0"/>
          </a:p>
        </p:txBody>
      </p:sp>
      <p:pic>
        <p:nvPicPr>
          <p:cNvPr id="4" name="a1_art" descr="Capsule illustration">    </p:cNvPr>
          <p:cNvPicPr>
            <a:picLocks noChangeAspect="1"/>
          </p:cNvPicPr>
          <p:nvPr/>
        </p:nvPicPr>
        <p:blipFill>
          <a:blip r:embed="rId1"/>
          <a:stretch>
            <a:fillRect/>
          </a:stretch>
        </p:blipFill>
        <p:spPr>
          <a:xfrm>
            <a:off x="7589520" y="1828800"/>
            <a:ext cx="4389120" cy="4389120"/>
          </a:xfrm>
          <a:prstGeom prst="rect">
            <a:avLst/>
          </a:prstGeom>
        </p:spPr>
      </p:pic>
      <p:sp>
        <p:nvSpPr>
          <p:cNvPr id="5" name="a1_line"/>
          <p:cNvSpPr/>
          <p:nvPr/>
        </p:nvSpPr>
        <p:spPr>
          <a:xfrm>
            <a:off x="960120" y="2377440"/>
            <a:ext cx="0" cy="3291840"/>
          </a:xfrm>
          <a:prstGeom prst="line">
            <a:avLst/>
          </a:prstGeom>
          <a:noFill/>
          <a:ln w="25400">
            <a:solidFill>
              <a:srgbClr val="14C9A1"/>
            </a:solidFill>
            <a:prstDash val="dash"/>
          </a:ln>
        </p:spPr>
      </p:sp>
      <p:sp>
        <p:nvSpPr>
          <p:cNvPr id="6" name="a2_dot"/>
          <p:cNvSpPr/>
          <p:nvPr/>
        </p:nvSpPr>
        <p:spPr>
          <a:xfrm>
            <a:off x="548640" y="2011680"/>
            <a:ext cx="822960" cy="822960"/>
          </a:xfrm>
          <a:prstGeom prst="ellipse">
            <a:avLst/>
          </a:prstGeom>
          <a:solidFill>
            <a:srgbClr val="14C9A1"/>
          </a:solidFill>
          <a:ln/>
        </p:spPr>
      </p:sp>
      <p:pic>
        <p:nvPicPr>
          <p:cNvPr id="7" name="a2_icon" descr="In 6 months">    </p:cNvPr>
          <p:cNvPicPr>
            <a:picLocks noChangeAspect="1"/>
          </p:cNvPicPr>
          <p:nvPr/>
        </p:nvPicPr>
        <p:blipFill>
          <a:blip r:embed="rId2"/>
          <a:stretch>
            <a:fillRect/>
          </a:stretch>
        </p:blipFill>
        <p:spPr>
          <a:xfrm>
            <a:off x="768096" y="2231136"/>
            <a:ext cx="384048" cy="384048"/>
          </a:xfrm>
          <a:prstGeom prst="rect">
            <a:avLst/>
          </a:prstGeom>
        </p:spPr>
      </p:pic>
      <p:sp>
        <p:nvSpPr>
          <p:cNvPr id="8" name="a2_h"/>
          <p:cNvSpPr txBox="1"/>
          <p:nvPr/>
        </p:nvSpPr>
        <p:spPr>
          <a:xfrm>
            <a:off x="1691640" y="196596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6 months</a:t>
            </a:r>
            <a:endParaRPr lang="en-US" sz="2200" dirty="0"/>
          </a:p>
        </p:txBody>
      </p:sp>
      <p:sp>
        <p:nvSpPr>
          <p:cNvPr id="9" name="a2_d"/>
          <p:cNvSpPr txBox="1"/>
          <p:nvPr/>
        </p:nvSpPr>
        <p:spPr>
          <a:xfrm>
            <a:off x="1691640" y="239572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Have a group of loyal customers who use NutriPill and talk about it online.</a:t>
            </a:r>
            <a:endParaRPr lang="en-US" sz="1600" dirty="0"/>
          </a:p>
        </p:txBody>
      </p:sp>
      <p:sp>
        <p:nvSpPr>
          <p:cNvPr id="10" name="a3_dot"/>
          <p:cNvSpPr/>
          <p:nvPr/>
        </p:nvSpPr>
        <p:spPr>
          <a:xfrm>
            <a:off x="548640" y="3474720"/>
            <a:ext cx="822960" cy="822960"/>
          </a:xfrm>
          <a:prstGeom prst="ellipse">
            <a:avLst/>
          </a:prstGeom>
          <a:solidFill>
            <a:srgbClr val="14C9A1"/>
          </a:solidFill>
          <a:ln/>
        </p:spPr>
      </p:sp>
      <p:pic>
        <p:nvPicPr>
          <p:cNvPr id="11" name="a3_icon" descr="In 12 months">    </p:cNvPr>
          <p:cNvPicPr>
            <a:picLocks noChangeAspect="1"/>
          </p:cNvPicPr>
          <p:nvPr/>
        </p:nvPicPr>
        <p:blipFill>
          <a:blip r:embed="rId3"/>
          <a:stretch>
            <a:fillRect/>
          </a:stretch>
        </p:blipFill>
        <p:spPr>
          <a:xfrm>
            <a:off x="768096" y="3694176"/>
            <a:ext cx="384048" cy="384048"/>
          </a:xfrm>
          <a:prstGeom prst="rect">
            <a:avLst/>
          </a:prstGeom>
        </p:spPr>
      </p:pic>
      <p:sp>
        <p:nvSpPr>
          <p:cNvPr id="12" name="a3_h"/>
          <p:cNvSpPr txBox="1"/>
          <p:nvPr/>
        </p:nvSpPr>
        <p:spPr>
          <a:xfrm>
            <a:off x="1691640" y="342900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12 months</a:t>
            </a:r>
            <a:endParaRPr lang="en-US" sz="2200" dirty="0"/>
          </a:p>
        </p:txBody>
      </p:sp>
      <p:sp>
        <p:nvSpPr>
          <p:cNvPr id="13" name="a3_d"/>
          <p:cNvSpPr txBox="1"/>
          <p:nvPr/>
        </p:nvSpPr>
        <p:spPr>
          <a:xfrm>
            <a:off x="1691640" y="385876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Reach more people online and double the number of customers we have.</a:t>
            </a:r>
            <a:endParaRPr lang="en-US" sz="1600" dirty="0"/>
          </a:p>
        </p:txBody>
      </p:sp>
      <p:sp>
        <p:nvSpPr>
          <p:cNvPr id="14" name="a4_dot"/>
          <p:cNvSpPr/>
          <p:nvPr/>
        </p:nvSpPr>
        <p:spPr>
          <a:xfrm>
            <a:off x="548640" y="4937760"/>
            <a:ext cx="822960" cy="822960"/>
          </a:xfrm>
          <a:prstGeom prst="ellipse">
            <a:avLst/>
          </a:prstGeom>
          <a:solidFill>
            <a:srgbClr val="FF6B4A"/>
          </a:solidFill>
          <a:ln/>
        </p:spPr>
      </p:sp>
      <p:pic>
        <p:nvPicPr>
          <p:cNvPr id="15" name="a4_icon" descr="In 5 to 10 years">    </p:cNvPr>
          <p:cNvPicPr>
            <a:picLocks noChangeAspect="1"/>
          </p:cNvPicPr>
          <p:nvPr/>
        </p:nvPicPr>
        <p:blipFill>
          <a:blip r:embed="rId4"/>
          <a:stretch>
            <a:fillRect/>
          </a:stretch>
        </p:blipFill>
        <p:spPr>
          <a:xfrm>
            <a:off x="768096" y="5157216"/>
            <a:ext cx="384048" cy="384048"/>
          </a:xfrm>
          <a:prstGeom prst="rect">
            <a:avLst/>
          </a:prstGeom>
        </p:spPr>
      </p:pic>
      <p:sp>
        <p:nvSpPr>
          <p:cNvPr id="16" name="a4_h"/>
          <p:cNvSpPr txBox="1"/>
          <p:nvPr/>
        </p:nvSpPr>
        <p:spPr>
          <a:xfrm>
            <a:off x="1691640" y="489204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5 to 10 years</a:t>
            </a:r>
            <a:endParaRPr lang="en-US" sz="2200" dirty="0"/>
          </a:p>
        </p:txBody>
      </p:sp>
      <p:sp>
        <p:nvSpPr>
          <p:cNvPr id="17" name="a4_d"/>
          <p:cNvSpPr txBox="1"/>
          <p:nvPr/>
        </p:nvSpPr>
        <p:spPr>
          <a:xfrm>
            <a:off x="1691640" y="532180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Be on the shelves of big supermarkets like Mercadona in Spain and Walmart in America, and reach customers all over the world.</a:t>
            </a:r>
            <a:endParaRPr lang="en-US" sz="1600" dirty="0"/>
          </a:p>
        </p:txBody>
      </p:sp>
      <p:sp>
        <p:nvSpPr>
          <p:cNvPr id="18" name="a5_chip"/>
          <p:cNvSpPr/>
          <p:nvPr/>
        </p:nvSpPr>
        <p:spPr>
          <a:xfrm>
            <a:off x="1691640" y="5897880"/>
            <a:ext cx="1600200" cy="411480"/>
          </a:xfrm>
          <a:prstGeom prst="roundRect">
            <a:avLst>
              <a:gd name="adj" fmla="val 48889"/>
            </a:avLst>
          </a:prstGeom>
          <a:solidFill>
            <a:srgbClr val="FFFFFF"/>
          </a:solidFill>
          <a:ln/>
        </p:spPr>
      </p:sp>
      <p:pic>
        <p:nvPicPr>
          <p:cNvPr id="19" name="a5_store" descr="store">    </p:cNvPr>
          <p:cNvPicPr>
            <a:picLocks noChangeAspect="1"/>
          </p:cNvPicPr>
          <p:nvPr/>
        </p:nvPicPr>
        <p:blipFill>
          <a:blip r:embed="rId5"/>
          <a:stretch>
            <a:fillRect/>
          </a:stretch>
        </p:blipFill>
        <p:spPr>
          <a:xfrm>
            <a:off x="1828800" y="5989320"/>
            <a:ext cx="228600" cy="228600"/>
          </a:xfrm>
          <a:prstGeom prst="rect">
            <a:avLst/>
          </a:prstGeom>
        </p:spPr>
      </p:pic>
      <p:sp>
        <p:nvSpPr>
          <p:cNvPr id="20" name="a5_chiptext"/>
          <p:cNvSpPr txBox="1"/>
          <p:nvPr/>
        </p:nvSpPr>
        <p:spPr>
          <a:xfrm>
            <a:off x="2103120" y="5897880"/>
            <a:ext cx="1143000" cy="41148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Mercadona</a:t>
            </a:r>
            <a:endParaRPr lang="en-US" sz="1400" dirty="0"/>
          </a:p>
        </p:txBody>
      </p:sp>
      <p:sp>
        <p:nvSpPr>
          <p:cNvPr id="21" name="a5_chip"/>
          <p:cNvSpPr/>
          <p:nvPr/>
        </p:nvSpPr>
        <p:spPr>
          <a:xfrm>
            <a:off x="3429000" y="5897880"/>
            <a:ext cx="1371600" cy="411480"/>
          </a:xfrm>
          <a:prstGeom prst="roundRect">
            <a:avLst>
              <a:gd name="adj" fmla="val 48889"/>
            </a:avLst>
          </a:prstGeom>
          <a:solidFill>
            <a:srgbClr val="FFFFFF"/>
          </a:solidFill>
          <a:ln/>
        </p:spPr>
      </p:sp>
      <p:pic>
        <p:nvPicPr>
          <p:cNvPr id="22" name="a5_store" descr="store">    </p:cNvPr>
          <p:cNvPicPr>
            <a:picLocks noChangeAspect="1"/>
          </p:cNvPicPr>
          <p:nvPr/>
        </p:nvPicPr>
        <p:blipFill>
          <a:blip r:embed="rId6"/>
          <a:stretch>
            <a:fillRect/>
          </a:stretch>
        </p:blipFill>
        <p:spPr>
          <a:xfrm>
            <a:off x="3566160" y="5989320"/>
            <a:ext cx="228600" cy="228600"/>
          </a:xfrm>
          <a:prstGeom prst="rect">
            <a:avLst/>
          </a:prstGeom>
        </p:spPr>
      </p:pic>
      <p:sp>
        <p:nvSpPr>
          <p:cNvPr id="23" name="a5_chiptext"/>
          <p:cNvSpPr txBox="1"/>
          <p:nvPr/>
        </p:nvSpPr>
        <p:spPr>
          <a:xfrm>
            <a:off x="3840480" y="5897880"/>
            <a:ext cx="914400" cy="41148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Walmart</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14</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1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after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P spid="18" grpId="0" animBg="1"/>
      <p:bldP spid="20" grpId="0" animBg="1"/>
      <p:bldP spid="21" grpId="0" animBg="1"/>
      <p:bldP spid="23"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dc:title>
  <dc:subject>PptxGenJS Presentation</dc:subject>
  <dc:creator>Dani, Max, William, Miguel</dc:creator>
  <cp:lastModifiedBy>Dani, Max, William, Miguel</cp:lastModifiedBy>
  <cp:revision>1</cp:revision>
  <dcterms:created xsi:type="dcterms:W3CDTF">2026-10-26T21:12:46Z</dcterms:created>
  <dcterms:modified xsi:type="dcterms:W3CDTF">2026-10-26T21:12:46Z</dcterms:modified>
</cp:coreProperties>
</file>