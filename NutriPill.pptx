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7618d354-20c1-b2da-a740-03744aef400d}">
          <p14:sldIdLst>
            <p14:sldId id="256"/>
          </p14:sldIdLst>
        </p14:section>
        <p14:section name="The idea" id="{9c33d551-94bf-8a37-9215-53f94cbc8e53}">
          <p14:sldIdLst>
            <p14:sldId id="257"/>
            <p14:sldId id="258"/>
            <p14:sldId id="259"/>
            <p14:sldId id="260"/>
          </p14:sldIdLst>
        </p14:section>
        <p14:section name="The business" id="{4ed206d7-a2ad-d083-f884-9ca144e82f40}">
          <p14:sldIdLst>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Dani, Max, William and Miguel, and today we would like to present our business proposal: NutriPill, a product that brings essential nutrients to people with busy lives. Over the next few minutes, we will explain the problem we have identified, our solution, who it is for, and how we plan to turn this idea into a successful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simple question: have you ever been so busy that you simply didn't have time to eat? Most of us have experienced this at some point. Now, imagine a pill that could give your body the essential nutrients it needs on those days when there is no time for a proper meal. That is exactly what NutriPill is: a convenient way to get essential nutrients on the go. It is small, simple, and designed to fit perfectly into a busy lifestyle.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problem? Nowadays, many people have such busy schedules that they don't have enough time to prepare or eat proper meals. Students and workers, in particular, often skip meals because they are always in a hurry. As a result, they suffer from low energy, they find it difficult to concentrate, and, over time, their nutrition becomes poor. Clearly, what these people need is a quick and convenient way to get essential nutrients when there is simply no time to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our solution comes in. NutriPill is an innovative and convenient pill designed to provide essential nutrients when people don't have time to eat. It is small, easy to carry, and perfect for busy students and workers. Our main goal is to help people maintain their energy and get extra nutrients throughout the day. However, we want to be honest: NutriPill does not replace a complete meal. Instead, it offers a practical way to supplement your nutrition when life gets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who exactly is our brand directed to? NutriPill is designed for busy people who don't always have time to eat properly. Our main target audience includes students, who spend long days in class and studying; workers, who often skip lunch because of tight deadlines and meetings; athletes, who need a steady supply of nutrients for their training; and, in general, anyone with a hectic lifestyle. It is especially useful for those who need a quick and convenient way to supplement their nutrition during a busy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on to our action plan. Our business model is built on three key pillars. Firstly, revenue: we will generate income through direct sales of NutriPill, as well as through experiences linked to the product. Secondly, channels: we will build a strong presence on the main social networks, combined with face-to-face experiences, so that people can get to know the brand in person. Finally, pricing: our prices will be affordable but with added value. In other words, NutriPill will be a premium option that remains accessible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having a good product is not enough; we also need a clear growth strategy. It consists of four steps. First of all, we will create inspiring content on social media that shows a real, everyday lifestyle. Next, we will work with local influencers who truly represent our brand's philosophy. After that, we will create memorable experiences, such as events, personalised kits and collaborations. Last but not least, we will actively build a community by inviting our customers to become a real part of the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our proposal. We are looking for brands that want to grow with us. What we propose is a strategic partnership in which our partners gain visibility, a stronger position among young consumers, and a connection with new audiences. With your support, we can develop joint products and experiences, increase our reach through advertising campaigns, and generate greater credibility and growth for both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would like to share what we expect to achieve. In six months, we aim to consolidate an active community around our brand. In twelve months, we hope to increase our digital reach and double our customer base. And in the long term, our goal is to establish ourselves as a leading brand in the local market, with expansion at a national level. To sum up, NutriPill is a simple solution to a very common problem. Thank you very much for your attention. Do you have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nglish-presentaiton-/38e25695-43d6-5158-a0ef-d97df09ff7da/scratchpad/build/assets/logo-dark.png">    </p:cNvPr>
          <p:cNvPicPr>
            <a:picLocks noChangeAspect="1"/>
          </p:cNvPicPr>
          <p:nvPr/>
        </p:nvPicPr>
        <p:blipFill>
          <a:blip r:embed="rId1"/>
          <a:stretch>
            <a:fillRect/>
          </a:stretch>
        </p:blipFill>
        <p:spPr>
          <a:xfrm>
            <a:off x="10378440" y="384048"/>
            <a:ext cx="1316736" cy="365760"/>
          </a:xfrm>
          <a:prstGeom prst="rect">
            <a:avLst/>
          </a:prstGeom>
        </p:spPr>
      </p:pic>
      <p:sp>
        <p:nvSpPr>
          <p:cNvPr id="3" name="Text 0"/>
          <p:cNvSpPr/>
          <p:nvPr>
            <p:ph idx="101" type="body" hasCustomPrompt="1"/>
          </p:nvPr>
        </p:nvSpPr>
        <p:spPr>
          <a:xfrm>
            <a:off x="548640" y="411480"/>
            <a:ext cx="7315200" cy="32004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777240"/>
            <a:ext cx="9509760" cy="868680"/>
          </a:xfrm>
          <a:prstGeom prst="rect">
            <a:avLst/>
          </a:prstGeom>
          <a:noFill/>
          <a:ln/>
        </p:spPr>
        <p:txBody>
          <a:bodyPr wrap="square" rtlCol="0"/>
          <a:lstStyle>
            <a:lvl1pPr algn="l" indent="0" marL="0">
              <a:buNone/>
              <a:defRPr lang="en-US" sz="3600" b="1" dirty="0">
                <a:solidFill>
                  <a:schemeClr val="tx1"/>
                </a:solidFill>
                <a:latin typeface="Arial Black" pitchFamily="34" charset="0"/>
                <a:ea typeface="Arial Black" pitchFamily="34" charset="-122"/>
                <a:cs typeface="Arial Black"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nglish-presentaiton-/38e25695-43d6-5158-a0ef-d97df09ff7da/scratchpad/build/assets/logo-light.png">    </p:cNvPr>
          <p:cNvPicPr>
            <a:picLocks noChangeAspect="1"/>
          </p:cNvPicPr>
          <p:nvPr/>
        </p:nvPicPr>
        <p:blipFill>
          <a:blip r:embed="rId1"/>
          <a:stretch>
            <a:fillRect/>
          </a:stretch>
        </p:blipFill>
        <p:spPr>
          <a:xfrm>
            <a:off x="10378440" y="384048"/>
            <a:ext cx="1316736" cy="365760"/>
          </a:xfrm>
          <a:prstGeom prst="rect">
            <a:avLst/>
          </a:prstGeom>
        </p:spPr>
      </p:pic>
      <p:sp>
        <p:nvSpPr>
          <p:cNvPr id="3" name="Text 0"/>
          <p:cNvSpPr/>
          <p:nvPr>
            <p:ph idx="101" type="body" hasCustomPrompt="1"/>
          </p:nvPr>
        </p:nvSpPr>
        <p:spPr>
          <a:xfrm>
            <a:off x="548640" y="411480"/>
            <a:ext cx="7315200" cy="32004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777240"/>
            <a:ext cx="9509760" cy="868680"/>
          </a:xfrm>
          <a:prstGeom prst="rect">
            <a:avLst/>
          </a:prstGeom>
          <a:noFill/>
          <a:ln/>
        </p:spPr>
        <p:txBody>
          <a:bodyPr wrap="square" rtlCol="0"/>
          <a:lstStyle>
            <a:lvl1pPr algn="l" indent="0" marL="0">
              <a:buNone/>
              <a:defRPr lang="en-US" sz="36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image" Target="../media/image-8-2.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1_hero" descr="NutriPill capsule illustration">    </p:cNvPr>
          <p:cNvPicPr>
            <a:picLocks noChangeAspect="1"/>
          </p:cNvPicPr>
          <p:nvPr/>
        </p:nvPicPr>
        <p:blipFill>
          <a:blip r:embed="rId1"/>
          <a:stretch>
            <a:fillRect/>
          </a:stretch>
        </p:blipFill>
        <p:spPr>
          <a:xfrm>
            <a:off x="6309360" y="320040"/>
            <a:ext cx="6217920" cy="6217920"/>
          </a:xfrm>
          <a:prstGeom prst="rect">
            <a:avLst/>
          </a:prstGeom>
        </p:spPr>
      </p:pic>
      <p:pic>
        <p:nvPicPr>
          <p:cNvPr id="3" name="a2_logo" descr="NutriPill logo">    </p:cNvPr>
          <p:cNvPicPr>
            <a:picLocks noChangeAspect="1"/>
          </p:cNvPicPr>
          <p:nvPr/>
        </p:nvPicPr>
        <p:blipFill>
          <a:blip r:embed="rId2"/>
          <a:stretch>
            <a:fillRect/>
          </a:stretch>
        </p:blipFill>
        <p:spPr>
          <a:xfrm>
            <a:off x="685800" y="594360"/>
            <a:ext cx="2103120" cy="585216"/>
          </a:xfrm>
          <a:prstGeom prst="rect">
            <a:avLst/>
          </a:prstGeom>
        </p:spPr>
      </p:pic>
      <p:sp>
        <p:nvSpPr>
          <p:cNvPr id="4" name="a3_kicker"/>
          <p:cNvSpPr txBox="1"/>
          <p:nvPr/>
        </p:nvSpPr>
        <p:spPr>
          <a:xfrm>
            <a:off x="731520" y="1965960"/>
            <a:ext cx="5943600" cy="320040"/>
          </a:xfrm>
          <a:prstGeom prst="rect">
            <a:avLst/>
          </a:prstGeom>
          <a:noFill/>
          <a:ln/>
        </p:spPr>
        <p:txBody>
          <a:bodyPr wrap="square" lIns="0" tIns="0" rIns="0" bIns="0" rtlCol="0" anchor="t"/>
          <a:lstStyle/>
          <a:p>
            <a:pPr indent="0" marL="0">
              <a:buNone/>
            </a:pPr>
            <a:r>
              <a:rPr lang="en-US" sz="1300" b="1" spc="400" kern="0" dirty="0">
                <a:solidFill>
                  <a:srgbClr val="14C9A1"/>
                </a:solidFill>
                <a:latin typeface="Calibri" pitchFamily="34" charset="0"/>
                <a:ea typeface="Calibri" pitchFamily="34" charset="-122"/>
                <a:cs typeface="Calibri" pitchFamily="34" charset="-120"/>
              </a:rPr>
              <a:t>BUSINESS PROPOSAL</a:t>
            </a:r>
            <a:endParaRPr lang="en-US" sz="1300" dirty="0"/>
          </a:p>
        </p:txBody>
      </p:sp>
      <p:sp>
        <p:nvSpPr>
          <p:cNvPr id="5" name="a4_title"/>
          <p:cNvSpPr txBox="1"/>
          <p:nvPr/>
        </p:nvSpPr>
        <p:spPr>
          <a:xfrm>
            <a:off x="685800" y="2286000"/>
            <a:ext cx="5943600" cy="1371600"/>
          </a:xfrm>
          <a:prstGeom prst="rect">
            <a:avLst/>
          </a:prstGeom>
          <a:noFill/>
          <a:ln/>
        </p:spPr>
        <p:txBody>
          <a:bodyPr wrap="square" lIns="0" tIns="0" rIns="0" bIns="0" rtlCol="0" anchor="t"/>
          <a:lstStyle/>
          <a:p>
            <a:pPr indent="0" marL="0">
              <a:buNone/>
            </a:pPr>
            <a:r>
              <a:rPr lang="en-US" sz="8000" b="1" dirty="0">
                <a:solidFill>
                  <a:srgbClr val="FFFFFF"/>
                </a:solidFill>
                <a:latin typeface="Arial Black" pitchFamily="34" charset="0"/>
                <a:ea typeface="Arial Black" pitchFamily="34" charset="-122"/>
                <a:cs typeface="Arial Black" pitchFamily="34" charset="-120"/>
              </a:rPr>
              <a:t>Nutri</a:t>
            </a:r>
            <a:pPr indent="0" marL="0">
              <a:buNone/>
            </a:pPr>
            <a:r>
              <a:rPr lang="en-US" sz="8000" b="1" dirty="0">
                <a:solidFill>
                  <a:srgbClr val="14C9A1"/>
                </a:solidFill>
                <a:latin typeface="Arial Black" pitchFamily="34" charset="0"/>
                <a:ea typeface="Arial Black" pitchFamily="34" charset="-122"/>
                <a:cs typeface="Arial Black" pitchFamily="34" charset="-120"/>
              </a:rPr>
              <a:t>Pill</a:t>
            </a:r>
            <a:endParaRPr lang="en-US" sz="8000" dirty="0"/>
          </a:p>
        </p:txBody>
      </p:sp>
      <p:sp>
        <p:nvSpPr>
          <p:cNvPr id="6" name="a5_tag"/>
          <p:cNvSpPr txBox="1"/>
          <p:nvPr/>
        </p:nvSpPr>
        <p:spPr>
          <a:xfrm>
            <a:off x="731520" y="3657600"/>
            <a:ext cx="5669280" cy="502920"/>
          </a:xfrm>
          <a:prstGeom prst="rect">
            <a:avLst/>
          </a:prstGeom>
          <a:noFill/>
          <a:ln/>
        </p:spPr>
        <p:txBody>
          <a:bodyPr wrap="square" lIns="0" tIns="0" rIns="0" bIns="0" rtlCol="0" anchor="t"/>
          <a:lstStyle/>
          <a:p>
            <a:pPr indent="0" marL="0">
              <a:buNone/>
            </a:pPr>
            <a:r>
              <a:rPr lang="en-US" sz="2400" i="1" dirty="0">
                <a:solidFill>
                  <a:srgbClr val="FFFFFF"/>
                </a:solidFill>
                <a:latin typeface="Calibri" pitchFamily="34" charset="0"/>
                <a:ea typeface="Calibri" pitchFamily="34" charset="-122"/>
                <a:cs typeface="Calibri" pitchFamily="34" charset="-120"/>
              </a:rPr>
              <a:t>Essential nutrients for busy lives</a:t>
            </a:r>
            <a:endParaRPr lang="en-US" sz="2400" dirty="0"/>
          </a:p>
        </p:txBody>
      </p:sp>
      <p:sp>
        <p:nvSpPr>
          <p:cNvPr id="7" name="a6_pill"/>
          <p:cNvSpPr/>
          <p:nvPr/>
        </p:nvSpPr>
        <p:spPr>
          <a:xfrm>
            <a:off x="731520" y="4800600"/>
            <a:ext cx="4480560" cy="548640"/>
          </a:xfrm>
          <a:prstGeom prst="roundRect">
            <a:avLst>
              <a:gd name="adj" fmla="val 50000"/>
            </a:avLst>
          </a:prstGeom>
          <a:solidFill>
            <a:srgbClr val="FFFFFF">
              <a:alpha val="12000"/>
            </a:srgbClr>
          </a:solidFill>
          <a:ln w="12700">
            <a:solidFill>
              <a:srgbClr val="FFFFFF">
                <a:alpha val="30000"/>
              </a:srgbClr>
            </a:solidFill>
            <a:prstDash val="solid"/>
          </a:ln>
        </p:spPr>
      </p:sp>
      <p:sp>
        <p:nvSpPr>
          <p:cNvPr id="8" name="a6_names"/>
          <p:cNvSpPr txBox="1"/>
          <p:nvPr/>
        </p:nvSpPr>
        <p:spPr>
          <a:xfrm>
            <a:off x="731520" y="4800600"/>
            <a:ext cx="448056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By Dani, Max, William &amp; Miguel</a:t>
            </a:r>
            <a:endParaRPr 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8"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01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Arial Black" pitchFamily="34" charset="0"/>
                <a:ea typeface="Arial Black" pitchFamily="34" charset="-122"/>
                <a:cs typeface="Arial Black" pitchFamily="34" charset="-120"/>
              </a:rPr>
              <a:t>Introduction</a:t>
            </a:r>
            <a:endParaRPr lang="en-US" sz="3600" dirty="0"/>
          </a:p>
        </p:txBody>
      </p:sp>
      <p:pic>
        <p:nvPicPr>
          <p:cNvPr id="4" name="a1_art" descr="Capsule illustration">    </p:cNvPr>
          <p:cNvPicPr>
            <a:picLocks noChangeAspect="1"/>
          </p:cNvPicPr>
          <p:nvPr/>
        </p:nvPicPr>
        <p:blipFill>
          <a:blip r:embed="rId1"/>
          <a:stretch>
            <a:fillRect/>
          </a:stretch>
        </p:blipFill>
        <p:spPr>
          <a:xfrm>
            <a:off x="7452360" y="1874520"/>
            <a:ext cx="4206240" cy="4206240"/>
          </a:xfrm>
          <a:prstGeom prst="rect">
            <a:avLst/>
          </a:prstGeom>
        </p:spPr>
      </p:pic>
      <p:sp>
        <p:nvSpPr>
          <p:cNvPr id="5" name="a2_q"/>
          <p:cNvSpPr txBox="1"/>
          <p:nvPr/>
        </p:nvSpPr>
        <p:spPr>
          <a:xfrm>
            <a:off x="548640" y="1874520"/>
            <a:ext cx="6400800" cy="91440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Have you ever been so busy that you simply didn't have time to eat?</a:t>
            </a:r>
            <a:endParaRPr lang="en-US" sz="2400" dirty="0"/>
          </a:p>
        </p:txBody>
      </p:sp>
      <p:sp>
        <p:nvSpPr>
          <p:cNvPr id="6" name="a2_text"/>
          <p:cNvSpPr txBox="1"/>
          <p:nvPr/>
        </p:nvSpPr>
        <p:spPr>
          <a:xfrm>
            <a:off x="548640" y="2788920"/>
            <a:ext cx="6400800" cy="822960"/>
          </a:xfrm>
          <a:prstGeom prst="rect">
            <a:avLst/>
          </a:prstGeom>
          <a:noFill/>
          <a:ln/>
        </p:spPr>
        <p:txBody>
          <a:bodyPr wrap="square" lIns="0" tIns="0" rIns="0" bIns="0" rtlCol="0" anchor="t"/>
          <a:lstStyle/>
          <a:p>
            <a:pPr indent="0" marL="0">
              <a:buNone/>
            </a:pPr>
            <a:r>
              <a:rPr lang="en-US" sz="1800" dirty="0">
                <a:solidFill>
                  <a:srgbClr val="5B6B80"/>
                </a:solidFill>
                <a:latin typeface="Calibri" pitchFamily="34" charset="0"/>
                <a:ea typeface="Calibri" pitchFamily="34" charset="-122"/>
                <a:cs typeface="Calibri" pitchFamily="34" charset="-120"/>
              </a:rPr>
              <a:t>Imagine a pill that could give your body the essential nutrients it needs on those days when there is no time for a proper meal.</a:t>
            </a:r>
            <a:endParaRPr lang="en-US" sz="1800" dirty="0"/>
          </a:p>
        </p:txBody>
      </p:sp>
      <p:sp>
        <p:nvSpPr>
          <p:cNvPr id="7" name="a3_card"/>
          <p:cNvSpPr/>
          <p:nvPr/>
        </p:nvSpPr>
        <p:spPr>
          <a:xfrm>
            <a:off x="548640" y="3840480"/>
            <a:ext cx="6400800" cy="2286000"/>
          </a:xfrm>
          <a:prstGeom prst="roundRect">
            <a:avLst>
              <a:gd name="adj" fmla="val 7200"/>
            </a:avLst>
          </a:prstGeom>
          <a:solidFill>
            <a:srgbClr val="FFFFFF"/>
          </a:solidFill>
          <a:ln/>
          <a:effectLst>
            <a:outerShdw sx="100000" sy="100000" kx="0" ky="0" algn="bl" rotWithShape="0" blurRad="228600" dist="76200" dir="5400000">
              <a:srgbClr val="0B1F3A">
                <a:alpha val="12000"/>
              </a:srgbClr>
            </a:outerShdw>
          </a:effectLst>
        </p:spPr>
      </p:sp>
      <p:pic>
        <p:nvPicPr>
          <p:cNvPr id="8" name="a3_logo" descr="NutriPill logo">    </p:cNvPr>
          <p:cNvPicPr>
            <a:picLocks noChangeAspect="1"/>
          </p:cNvPicPr>
          <p:nvPr/>
        </p:nvPicPr>
        <p:blipFill>
          <a:blip r:embed="rId2"/>
          <a:stretch>
            <a:fillRect/>
          </a:stretch>
        </p:blipFill>
        <p:spPr>
          <a:xfrm>
            <a:off x="868680" y="4069080"/>
            <a:ext cx="1975104" cy="548640"/>
          </a:xfrm>
          <a:prstGeom prst="rect">
            <a:avLst/>
          </a:prstGeom>
        </p:spPr>
      </p:pic>
      <p:sp>
        <p:nvSpPr>
          <p:cNvPr id="9" name="a3_text"/>
          <p:cNvSpPr txBox="1"/>
          <p:nvPr/>
        </p:nvSpPr>
        <p:spPr>
          <a:xfrm>
            <a:off x="868680" y="4663440"/>
            <a:ext cx="5806440" cy="731520"/>
          </a:xfrm>
          <a:prstGeom prst="rect">
            <a:avLst/>
          </a:prstGeom>
          <a:noFill/>
          <a:ln/>
        </p:spPr>
        <p:txBody>
          <a:bodyPr wrap="square" lIns="0" tIns="0" rIns="0" bIns="0" rtlCol="0" anchor="t"/>
          <a:lstStyle/>
          <a:p>
            <a:pPr indent="0" marL="0">
              <a:buNone/>
            </a:pPr>
            <a:r>
              <a:rPr lang="en-US" sz="1500" dirty="0">
                <a:solidFill>
                  <a:srgbClr val="5B6B80"/>
                </a:solidFill>
                <a:latin typeface="Calibri" pitchFamily="34" charset="0"/>
                <a:ea typeface="Calibri" pitchFamily="34" charset="-122"/>
                <a:cs typeface="Calibri" pitchFamily="34" charset="-120"/>
              </a:rPr>
              <a:t>Meet NutriPill: a convenient way to get essential nutrients on the go. Small, simple, and designed to fit perfectly into your busy lifestyle.</a:t>
            </a:r>
            <a:endParaRPr lang="en-US" sz="1500" dirty="0"/>
          </a:p>
        </p:txBody>
      </p:sp>
      <p:sp>
        <p:nvSpPr>
          <p:cNvPr id="10" name="a4_chip"/>
          <p:cNvSpPr/>
          <p:nvPr/>
        </p:nvSpPr>
        <p:spPr>
          <a:xfrm>
            <a:off x="868680" y="5486400"/>
            <a:ext cx="1234440" cy="411480"/>
          </a:xfrm>
          <a:prstGeom prst="roundRect">
            <a:avLst>
              <a:gd name="adj" fmla="val 48889"/>
            </a:avLst>
          </a:prstGeom>
          <a:solidFill>
            <a:srgbClr val="E3FAF4"/>
          </a:solidFill>
          <a:ln/>
        </p:spPr>
      </p:sp>
      <p:sp>
        <p:nvSpPr>
          <p:cNvPr id="11" name="a4_chiptext"/>
          <p:cNvSpPr txBox="1"/>
          <p:nvPr/>
        </p:nvSpPr>
        <p:spPr>
          <a:xfrm>
            <a:off x="868680" y="5486400"/>
            <a:ext cx="1234440" cy="411480"/>
          </a:xfrm>
          <a:prstGeom prst="rect">
            <a:avLst/>
          </a:prstGeom>
          <a:noFill/>
          <a:ln/>
        </p:spPr>
        <p:txBody>
          <a:bodyPr wrap="square" lIns="0" tIns="0" rIns="0" bIns="0" rtlCol="0" anchor="ctr"/>
          <a:lstStyle/>
          <a:p>
            <a:pPr algn="ctr" indent="0" marL="0">
              <a:buNone/>
            </a:pPr>
            <a:r>
              <a:rPr lang="en-US" sz="1400" b="1" dirty="0">
                <a:solidFill>
                  <a:srgbClr val="0FA888"/>
                </a:solidFill>
                <a:latin typeface="Calibri" pitchFamily="34" charset="0"/>
                <a:ea typeface="Calibri" pitchFamily="34" charset="-122"/>
                <a:cs typeface="Calibri" pitchFamily="34" charset="-120"/>
              </a:rPr>
              <a:t>Small</a:t>
            </a:r>
            <a:endParaRPr lang="en-US" sz="1400" dirty="0"/>
          </a:p>
        </p:txBody>
      </p:sp>
      <p:sp>
        <p:nvSpPr>
          <p:cNvPr id="12" name="a5_chip"/>
          <p:cNvSpPr/>
          <p:nvPr/>
        </p:nvSpPr>
        <p:spPr>
          <a:xfrm>
            <a:off x="2240280" y="5486400"/>
            <a:ext cx="1234440" cy="411480"/>
          </a:xfrm>
          <a:prstGeom prst="roundRect">
            <a:avLst>
              <a:gd name="adj" fmla="val 48889"/>
            </a:avLst>
          </a:prstGeom>
          <a:solidFill>
            <a:srgbClr val="E3FAF4"/>
          </a:solidFill>
          <a:ln/>
        </p:spPr>
      </p:sp>
      <p:sp>
        <p:nvSpPr>
          <p:cNvPr id="13" name="a5_chiptext"/>
          <p:cNvSpPr txBox="1"/>
          <p:nvPr/>
        </p:nvSpPr>
        <p:spPr>
          <a:xfrm>
            <a:off x="2240280" y="5486400"/>
            <a:ext cx="1234440" cy="411480"/>
          </a:xfrm>
          <a:prstGeom prst="rect">
            <a:avLst/>
          </a:prstGeom>
          <a:noFill/>
          <a:ln/>
        </p:spPr>
        <p:txBody>
          <a:bodyPr wrap="square" lIns="0" tIns="0" rIns="0" bIns="0" rtlCol="0" anchor="ctr"/>
          <a:lstStyle/>
          <a:p>
            <a:pPr algn="ctr" indent="0" marL="0">
              <a:buNone/>
            </a:pPr>
            <a:r>
              <a:rPr lang="en-US" sz="1400" b="1" dirty="0">
                <a:solidFill>
                  <a:srgbClr val="0FA888"/>
                </a:solidFill>
                <a:latin typeface="Calibri" pitchFamily="34" charset="0"/>
                <a:ea typeface="Calibri" pitchFamily="34" charset="-122"/>
                <a:cs typeface="Calibri" pitchFamily="34" charset="-120"/>
              </a:rPr>
              <a:t>Simple</a:t>
            </a:r>
            <a:endParaRPr lang="en-US" sz="1400" dirty="0"/>
          </a:p>
        </p:txBody>
      </p:sp>
      <p:sp>
        <p:nvSpPr>
          <p:cNvPr id="14" name="a6_chip"/>
          <p:cNvSpPr/>
          <p:nvPr/>
        </p:nvSpPr>
        <p:spPr>
          <a:xfrm>
            <a:off x="3611880" y="5486400"/>
            <a:ext cx="1234440" cy="411480"/>
          </a:xfrm>
          <a:prstGeom prst="roundRect">
            <a:avLst>
              <a:gd name="adj" fmla="val 48889"/>
            </a:avLst>
          </a:prstGeom>
          <a:solidFill>
            <a:srgbClr val="E3FAF4"/>
          </a:solidFill>
          <a:ln/>
        </p:spPr>
      </p:sp>
      <p:sp>
        <p:nvSpPr>
          <p:cNvPr id="15" name="a6_chiptext"/>
          <p:cNvSpPr txBox="1"/>
          <p:nvPr/>
        </p:nvSpPr>
        <p:spPr>
          <a:xfrm>
            <a:off x="3611880" y="5486400"/>
            <a:ext cx="1234440" cy="411480"/>
          </a:xfrm>
          <a:prstGeom prst="rect">
            <a:avLst/>
          </a:prstGeom>
          <a:noFill/>
          <a:ln/>
        </p:spPr>
        <p:txBody>
          <a:bodyPr wrap="square" lIns="0" tIns="0" rIns="0" bIns="0" rtlCol="0" anchor="ctr"/>
          <a:lstStyle/>
          <a:p>
            <a:pPr algn="ctr" indent="0" marL="0">
              <a:buNone/>
            </a:pPr>
            <a:r>
              <a:rPr lang="en-US" sz="1400" b="1" dirty="0">
                <a:solidFill>
                  <a:srgbClr val="0FA888"/>
                </a:solidFill>
                <a:latin typeface="Calibri" pitchFamily="34" charset="0"/>
                <a:ea typeface="Calibri" pitchFamily="34" charset="-122"/>
                <a:cs typeface="Calibri" pitchFamily="34" charset="-120"/>
              </a:rPr>
              <a:t>On the go</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2</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02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Black" pitchFamily="34" charset="0"/>
                <a:ea typeface="Arial Black" pitchFamily="34" charset="-122"/>
                <a:cs typeface="Arial Black" pitchFamily="34" charset="-120"/>
              </a:rPr>
              <a:t>The Problem</a:t>
            </a:r>
            <a:endParaRPr lang="en-US" sz="3600" dirty="0"/>
          </a:p>
        </p:txBody>
      </p:sp>
      <p:sp>
        <p:nvSpPr>
          <p:cNvPr id="4" name="a1_text"/>
          <p:cNvSpPr txBox="1"/>
          <p:nvPr/>
        </p:nvSpPr>
        <p:spPr>
          <a:xfrm>
            <a:off x="548640" y="1783080"/>
            <a:ext cx="10515600" cy="960120"/>
          </a:xfrm>
          <a:prstGeom prst="rect">
            <a:avLst/>
          </a:prstGeom>
          <a:noFill/>
          <a:ln/>
        </p:spPr>
        <p:txBody>
          <a:bodyPr wrap="square" lIns="0" tIns="0" rIns="0" bIns="0" rtlCol="0" anchor="t"/>
          <a:lstStyle/>
          <a:p>
            <a:pPr indent="0" marL="0">
              <a:buNone/>
            </a:pPr>
            <a:r>
              <a:rPr lang="en-US" sz="1800" dirty="0">
                <a:solidFill>
                  <a:srgbClr val="B8C7D9"/>
                </a:solidFill>
                <a:latin typeface="Calibri" pitchFamily="34" charset="0"/>
                <a:ea typeface="Calibri" pitchFamily="34" charset="-122"/>
                <a:cs typeface="Calibri" pitchFamily="34" charset="-120"/>
              </a:rPr>
              <a:t>Nowadays, many people have such busy schedules that they don't have enough time to prepare or eat proper meals. Students and workers, in particular, often skip meals because they are always in a hurry.</a:t>
            </a:r>
            <a:endParaRPr lang="en-US" sz="1800" dirty="0"/>
          </a:p>
        </p:txBody>
      </p:sp>
      <p:sp>
        <p:nvSpPr>
          <p:cNvPr id="5" name="a2_card"/>
          <p:cNvSpPr/>
          <p:nvPr/>
        </p:nvSpPr>
        <p:spPr>
          <a:xfrm>
            <a:off x="548640" y="2971800"/>
            <a:ext cx="3474720" cy="2331720"/>
          </a:xfrm>
          <a:prstGeom prst="roundRect">
            <a:avLst>
              <a:gd name="adj" fmla="val 7059"/>
            </a:avLst>
          </a:prstGeom>
          <a:solidFill>
            <a:srgbClr val="FFFFFF">
              <a:alpha val="8000"/>
            </a:srgbClr>
          </a:solidFill>
          <a:ln w="12700">
            <a:solidFill>
              <a:srgbClr val="FFFFFF">
                <a:alpha val="20000"/>
              </a:srgbClr>
            </a:solidFill>
            <a:prstDash val="solid"/>
          </a:ln>
        </p:spPr>
      </p:sp>
      <p:sp>
        <p:nvSpPr>
          <p:cNvPr id="6" name="a2_circle"/>
          <p:cNvSpPr/>
          <p:nvPr/>
        </p:nvSpPr>
        <p:spPr>
          <a:xfrm>
            <a:off x="868680" y="3200400"/>
            <a:ext cx="731520" cy="731520"/>
          </a:xfrm>
          <a:prstGeom prst="ellipse">
            <a:avLst/>
          </a:prstGeom>
          <a:solidFill>
            <a:srgbClr val="FF6B4A"/>
          </a:solidFill>
          <a:ln/>
        </p:spPr>
      </p:sp>
      <p:pic>
        <p:nvPicPr>
          <p:cNvPr id="7" name="a2_icon" descr="battery">    </p:cNvPr>
          <p:cNvPicPr>
            <a:picLocks noChangeAspect="1"/>
          </p:cNvPicPr>
          <p:nvPr/>
        </p:nvPicPr>
        <p:blipFill>
          <a:blip r:embed="rId1"/>
          <a:stretch>
            <a:fillRect/>
          </a:stretch>
        </p:blipFill>
        <p:spPr>
          <a:xfrm>
            <a:off x="1066190" y="3397910"/>
            <a:ext cx="336499" cy="336499"/>
          </a:xfrm>
          <a:prstGeom prst="rect">
            <a:avLst/>
          </a:prstGeom>
        </p:spPr>
      </p:pic>
      <p:sp>
        <p:nvSpPr>
          <p:cNvPr id="8" name="a2_h"/>
          <p:cNvSpPr txBox="1"/>
          <p:nvPr/>
        </p:nvSpPr>
        <p:spPr>
          <a:xfrm>
            <a:off x="868680" y="4069080"/>
            <a:ext cx="2926080" cy="4114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Low energy</a:t>
            </a:r>
            <a:endParaRPr lang="en-US" sz="1900" dirty="0"/>
          </a:p>
        </p:txBody>
      </p:sp>
      <p:sp>
        <p:nvSpPr>
          <p:cNvPr id="9" name="a2_d"/>
          <p:cNvSpPr txBox="1"/>
          <p:nvPr/>
        </p:nvSpPr>
        <p:spPr>
          <a:xfrm>
            <a:off x="868680" y="4480560"/>
            <a:ext cx="2880360" cy="73152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Without regular meals, the body runs out of fuel long before the day is over.</a:t>
            </a:r>
            <a:endParaRPr lang="en-US" sz="1400" dirty="0"/>
          </a:p>
        </p:txBody>
      </p:sp>
      <p:sp>
        <p:nvSpPr>
          <p:cNvPr id="10" name="a3_card"/>
          <p:cNvSpPr/>
          <p:nvPr/>
        </p:nvSpPr>
        <p:spPr>
          <a:xfrm>
            <a:off x="4297680" y="2971800"/>
            <a:ext cx="3474720" cy="2331720"/>
          </a:xfrm>
          <a:prstGeom prst="roundRect">
            <a:avLst>
              <a:gd name="adj" fmla="val 7059"/>
            </a:avLst>
          </a:prstGeom>
          <a:solidFill>
            <a:srgbClr val="FFFFFF">
              <a:alpha val="8000"/>
            </a:srgbClr>
          </a:solidFill>
          <a:ln w="12700">
            <a:solidFill>
              <a:srgbClr val="FFFFFF">
                <a:alpha val="20000"/>
              </a:srgbClr>
            </a:solidFill>
            <a:prstDash val="solid"/>
          </a:ln>
        </p:spPr>
      </p:sp>
      <p:sp>
        <p:nvSpPr>
          <p:cNvPr id="11" name="a3_circle"/>
          <p:cNvSpPr/>
          <p:nvPr/>
        </p:nvSpPr>
        <p:spPr>
          <a:xfrm>
            <a:off x="4617720" y="3200400"/>
            <a:ext cx="731520" cy="731520"/>
          </a:xfrm>
          <a:prstGeom prst="ellipse">
            <a:avLst/>
          </a:prstGeom>
          <a:solidFill>
            <a:srgbClr val="FF6B4A"/>
          </a:solidFill>
          <a:ln/>
        </p:spPr>
      </p:sp>
      <p:pic>
        <p:nvPicPr>
          <p:cNvPr id="12" name="a3_icon" descr="brain">    </p:cNvPr>
          <p:cNvPicPr>
            <a:picLocks noChangeAspect="1"/>
          </p:cNvPicPr>
          <p:nvPr/>
        </p:nvPicPr>
        <p:blipFill>
          <a:blip r:embed="rId2"/>
          <a:stretch>
            <a:fillRect/>
          </a:stretch>
        </p:blipFill>
        <p:spPr>
          <a:xfrm>
            <a:off x="4815230" y="3397910"/>
            <a:ext cx="336499" cy="336499"/>
          </a:xfrm>
          <a:prstGeom prst="rect">
            <a:avLst/>
          </a:prstGeom>
        </p:spPr>
      </p:pic>
      <p:sp>
        <p:nvSpPr>
          <p:cNvPr id="13" name="a3_h"/>
          <p:cNvSpPr txBox="1"/>
          <p:nvPr/>
        </p:nvSpPr>
        <p:spPr>
          <a:xfrm>
            <a:off x="4617720" y="4069080"/>
            <a:ext cx="2926080" cy="4114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Difficulty concentrating</a:t>
            </a:r>
            <a:endParaRPr lang="en-US" sz="1900" dirty="0"/>
          </a:p>
        </p:txBody>
      </p:sp>
      <p:sp>
        <p:nvSpPr>
          <p:cNvPr id="14" name="a3_d"/>
          <p:cNvSpPr txBox="1"/>
          <p:nvPr/>
        </p:nvSpPr>
        <p:spPr>
          <a:xfrm>
            <a:off x="4617720" y="4480560"/>
            <a:ext cx="2880360" cy="73152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Skipping meals makes it much harder to stay focused in class or at work.</a:t>
            </a:r>
            <a:endParaRPr lang="en-US" sz="1400" dirty="0"/>
          </a:p>
        </p:txBody>
      </p:sp>
      <p:sp>
        <p:nvSpPr>
          <p:cNvPr id="15" name="a4_card"/>
          <p:cNvSpPr/>
          <p:nvPr/>
        </p:nvSpPr>
        <p:spPr>
          <a:xfrm>
            <a:off x="8046720" y="2971800"/>
            <a:ext cx="3474720" cy="2331720"/>
          </a:xfrm>
          <a:prstGeom prst="roundRect">
            <a:avLst>
              <a:gd name="adj" fmla="val 7059"/>
            </a:avLst>
          </a:prstGeom>
          <a:solidFill>
            <a:srgbClr val="FFFFFF">
              <a:alpha val="8000"/>
            </a:srgbClr>
          </a:solidFill>
          <a:ln w="12700">
            <a:solidFill>
              <a:srgbClr val="FFFFFF">
                <a:alpha val="20000"/>
              </a:srgbClr>
            </a:solidFill>
            <a:prstDash val="solid"/>
          </a:ln>
        </p:spPr>
      </p:sp>
      <p:sp>
        <p:nvSpPr>
          <p:cNvPr id="16" name="a4_circle"/>
          <p:cNvSpPr/>
          <p:nvPr/>
        </p:nvSpPr>
        <p:spPr>
          <a:xfrm>
            <a:off x="8366760" y="3200400"/>
            <a:ext cx="731520" cy="731520"/>
          </a:xfrm>
          <a:prstGeom prst="ellipse">
            <a:avLst/>
          </a:prstGeom>
          <a:solidFill>
            <a:srgbClr val="FF6B4A"/>
          </a:solidFill>
          <a:ln/>
        </p:spPr>
      </p:sp>
      <p:pic>
        <p:nvPicPr>
          <p:cNvPr id="17" name="a4_icon" descr="apple">    </p:cNvPr>
          <p:cNvPicPr>
            <a:picLocks noChangeAspect="1"/>
          </p:cNvPicPr>
          <p:nvPr/>
        </p:nvPicPr>
        <p:blipFill>
          <a:blip r:embed="rId3"/>
          <a:stretch>
            <a:fillRect/>
          </a:stretch>
        </p:blipFill>
        <p:spPr>
          <a:xfrm>
            <a:off x="8564270" y="3397910"/>
            <a:ext cx="336499" cy="336499"/>
          </a:xfrm>
          <a:prstGeom prst="rect">
            <a:avLst/>
          </a:prstGeom>
        </p:spPr>
      </p:pic>
      <p:sp>
        <p:nvSpPr>
          <p:cNvPr id="18" name="a4_h"/>
          <p:cNvSpPr txBox="1"/>
          <p:nvPr/>
        </p:nvSpPr>
        <p:spPr>
          <a:xfrm>
            <a:off x="8366760" y="4069080"/>
            <a:ext cx="2926080" cy="4114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Poor nutrition</a:t>
            </a:r>
            <a:endParaRPr lang="en-US" sz="1900" dirty="0"/>
          </a:p>
        </p:txBody>
      </p:sp>
      <p:sp>
        <p:nvSpPr>
          <p:cNvPr id="19" name="a4_d"/>
          <p:cNvSpPr txBox="1"/>
          <p:nvPr/>
        </p:nvSpPr>
        <p:spPr>
          <a:xfrm>
            <a:off x="8366760" y="4480560"/>
            <a:ext cx="2880360" cy="73152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Over time, the body misses out on the nutrients it needs to stay healthy.</a:t>
            </a:r>
            <a:endParaRPr lang="en-US" sz="1400" dirty="0"/>
          </a:p>
        </p:txBody>
      </p:sp>
      <p:sp>
        <p:nvSpPr>
          <p:cNvPr id="20" name="a5_bar"/>
          <p:cNvSpPr/>
          <p:nvPr/>
        </p:nvSpPr>
        <p:spPr>
          <a:xfrm>
            <a:off x="548640" y="5532120"/>
            <a:ext cx="10972800" cy="594360"/>
          </a:xfrm>
          <a:prstGeom prst="roundRect">
            <a:avLst>
              <a:gd name="adj" fmla="val 49231"/>
            </a:avLst>
          </a:prstGeom>
          <a:solidFill>
            <a:srgbClr val="14C9A1"/>
          </a:solidFill>
          <a:ln/>
        </p:spPr>
      </p:sp>
      <p:sp>
        <p:nvSpPr>
          <p:cNvPr id="21" name="a5_bartext"/>
          <p:cNvSpPr txBox="1"/>
          <p:nvPr/>
        </p:nvSpPr>
        <p:spPr>
          <a:xfrm>
            <a:off x="548640" y="5532120"/>
            <a:ext cx="10972800" cy="594360"/>
          </a:xfrm>
          <a:prstGeom prst="rect">
            <a:avLst/>
          </a:prstGeom>
          <a:noFill/>
          <a:ln/>
        </p:spPr>
        <p:txBody>
          <a:bodyPr wrap="square" lIns="0" tIns="0" rIns="0" bIns="0" rtlCol="0" anchor="ctr"/>
          <a:lstStyle/>
          <a:p>
            <a:pPr algn="ctr" indent="0" marL="0">
              <a:buNone/>
            </a:pPr>
            <a:r>
              <a:rPr lang="en-US" sz="1700" b="1" dirty="0">
                <a:solidFill>
                  <a:srgbClr val="0B1F3A"/>
                </a:solidFill>
                <a:latin typeface="Calibri" pitchFamily="34" charset="0"/>
                <a:ea typeface="Calibri" pitchFamily="34" charset="-122"/>
                <a:cs typeface="Calibri" pitchFamily="34" charset="-120"/>
              </a:rPr>
              <a:t>What they need is a quick and convenient way to get essential nutrients when there is no time to eat.</a:t>
            </a:r>
            <a:endParaRPr lang="en-US" sz="17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3</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anim calcmode="lin" valueType="num">
                                      <p:cBhvr>
                                        <p:cTn id="82"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p:cTn id="87"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600"/>
                                        <p:tgtEl>
                                          <p:spTgt spid="20"/>
                                        </p:tgtEl>
                                      </p:cBhvr>
                                    </p:animEffect>
                                    <p:anim calcmode="lin" valueType="num">
                                      <p:cBhvr>
                                        <p:cTn id="97"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600"/>
                                        <p:tgtEl>
                                          <p:spTgt spid="21"/>
                                        </p:tgtEl>
                                      </p:cBhvr>
                                    </p:animEffect>
                                    <p:anim calcmode="lin" valueType="num">
                                      <p:cBhvr>
                                        <p:cTn id="102" dur="600" decel="100000" fill="hold"/>
                                        <p:tgtEl>
                                          <p:spTgt spid="2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03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Arial Black" pitchFamily="34" charset="0"/>
                <a:ea typeface="Arial Black" pitchFamily="34" charset="-122"/>
                <a:cs typeface="Arial Black" pitchFamily="34" charset="-120"/>
              </a:rPr>
              <a:t>Our Solution</a:t>
            </a:r>
            <a:endParaRPr lang="en-US" sz="3600" dirty="0"/>
          </a:p>
        </p:txBody>
      </p:sp>
      <p:pic>
        <p:nvPicPr>
          <p:cNvPr id="4" name="a1_art" descr="Capsule illustration">    </p:cNvPr>
          <p:cNvPicPr>
            <a:picLocks noChangeAspect="1"/>
          </p:cNvPicPr>
          <p:nvPr/>
        </p:nvPicPr>
        <p:blipFill>
          <a:blip r:embed="rId1"/>
          <a:stretch>
            <a:fillRect/>
          </a:stretch>
        </p:blipFill>
        <p:spPr>
          <a:xfrm>
            <a:off x="411480" y="1828800"/>
            <a:ext cx="4023360" cy="4023360"/>
          </a:xfrm>
          <a:prstGeom prst="rect">
            <a:avLst/>
          </a:prstGeom>
        </p:spPr>
      </p:pic>
      <p:sp>
        <p:nvSpPr>
          <p:cNvPr id="5" name="a2_card"/>
          <p:cNvSpPr/>
          <p:nvPr/>
        </p:nvSpPr>
        <p:spPr>
          <a:xfrm>
            <a:off x="4846320" y="1874520"/>
            <a:ext cx="3200400" cy="1463040"/>
          </a:xfrm>
          <a:prstGeom prst="roundRect">
            <a:avLst>
              <a:gd name="adj" fmla="val 11250"/>
            </a:avLst>
          </a:prstGeom>
          <a:solidFill>
            <a:srgbClr val="FFFFFF"/>
          </a:solidFill>
          <a:ln/>
          <a:effectLst>
            <a:outerShdw sx="100000" sy="100000" kx="0" ky="0" algn="bl" rotWithShape="0" blurRad="228600" dist="76200" dir="5400000">
              <a:srgbClr val="0B1F3A">
                <a:alpha val="12000"/>
              </a:srgbClr>
            </a:outerShdw>
          </a:effectLst>
        </p:spPr>
      </p:sp>
      <p:sp>
        <p:nvSpPr>
          <p:cNvPr id="6" name="a2_circle"/>
          <p:cNvSpPr/>
          <p:nvPr/>
        </p:nvSpPr>
        <p:spPr>
          <a:xfrm>
            <a:off x="5074920" y="2148840"/>
            <a:ext cx="640080" cy="640080"/>
          </a:xfrm>
          <a:prstGeom prst="ellipse">
            <a:avLst/>
          </a:prstGeom>
          <a:solidFill>
            <a:srgbClr val="E3FAF4"/>
          </a:solidFill>
          <a:ln/>
        </p:spPr>
      </p:sp>
      <p:pic>
        <p:nvPicPr>
          <p:cNvPr id="7" name="a2_icon" descr="lightbulb">    </p:cNvPr>
          <p:cNvPicPr>
            <a:picLocks noChangeAspect="1"/>
          </p:cNvPicPr>
          <p:nvPr/>
        </p:nvPicPr>
        <p:blipFill>
          <a:blip r:embed="rId2"/>
          <a:stretch>
            <a:fillRect/>
          </a:stretch>
        </p:blipFill>
        <p:spPr>
          <a:xfrm>
            <a:off x="5247742" y="2321662"/>
            <a:ext cx="294437" cy="294437"/>
          </a:xfrm>
          <a:prstGeom prst="rect">
            <a:avLst/>
          </a:prstGeom>
        </p:spPr>
      </p:pic>
      <p:sp>
        <p:nvSpPr>
          <p:cNvPr id="8" name="a2_h"/>
          <p:cNvSpPr txBox="1"/>
          <p:nvPr/>
        </p:nvSpPr>
        <p:spPr>
          <a:xfrm>
            <a:off x="5897880" y="2057400"/>
            <a:ext cx="2057400" cy="41148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Innovative</a:t>
            </a:r>
            <a:endParaRPr lang="en-US" sz="1500" dirty="0"/>
          </a:p>
        </p:txBody>
      </p:sp>
      <p:sp>
        <p:nvSpPr>
          <p:cNvPr id="9" name="a2_d"/>
          <p:cNvSpPr txBox="1"/>
          <p:nvPr/>
        </p:nvSpPr>
        <p:spPr>
          <a:xfrm>
            <a:off x="5897880" y="2468880"/>
            <a:ext cx="2011680" cy="73152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A brand-new way of getting essential nutrients in seconds.</a:t>
            </a:r>
            <a:endParaRPr lang="en-US" sz="1400" dirty="0"/>
          </a:p>
        </p:txBody>
      </p:sp>
      <p:sp>
        <p:nvSpPr>
          <p:cNvPr id="10" name="a3_card"/>
          <p:cNvSpPr/>
          <p:nvPr/>
        </p:nvSpPr>
        <p:spPr>
          <a:xfrm>
            <a:off x="8321040" y="1874520"/>
            <a:ext cx="3200400" cy="1463040"/>
          </a:xfrm>
          <a:prstGeom prst="roundRect">
            <a:avLst>
              <a:gd name="adj" fmla="val 11250"/>
            </a:avLst>
          </a:prstGeom>
          <a:solidFill>
            <a:srgbClr val="FFFFFF"/>
          </a:solidFill>
          <a:ln/>
          <a:effectLst>
            <a:outerShdw sx="100000" sy="100000" kx="0" ky="0" algn="bl" rotWithShape="0" blurRad="228600" dist="76200" dir="5400000">
              <a:srgbClr val="0B1F3A">
                <a:alpha val="12000"/>
              </a:srgbClr>
            </a:outerShdw>
          </a:effectLst>
        </p:spPr>
      </p:sp>
      <p:sp>
        <p:nvSpPr>
          <p:cNvPr id="11" name="a3_circle"/>
          <p:cNvSpPr/>
          <p:nvPr/>
        </p:nvSpPr>
        <p:spPr>
          <a:xfrm>
            <a:off x="8549640" y="2148840"/>
            <a:ext cx="640080" cy="640080"/>
          </a:xfrm>
          <a:prstGeom prst="ellipse">
            <a:avLst/>
          </a:prstGeom>
          <a:solidFill>
            <a:srgbClr val="E3FAF4"/>
          </a:solidFill>
          <a:ln/>
        </p:spPr>
      </p:sp>
      <p:pic>
        <p:nvPicPr>
          <p:cNvPr id="12" name="a3_icon" descr="suitcase">    </p:cNvPr>
          <p:cNvPicPr>
            <a:picLocks noChangeAspect="1"/>
          </p:cNvPicPr>
          <p:nvPr/>
        </p:nvPicPr>
        <p:blipFill>
          <a:blip r:embed="rId3"/>
          <a:stretch>
            <a:fillRect/>
          </a:stretch>
        </p:blipFill>
        <p:spPr>
          <a:xfrm>
            <a:off x="8722462" y="2321662"/>
            <a:ext cx="294437" cy="294437"/>
          </a:xfrm>
          <a:prstGeom prst="rect">
            <a:avLst/>
          </a:prstGeom>
        </p:spPr>
      </p:pic>
      <p:sp>
        <p:nvSpPr>
          <p:cNvPr id="13" name="a3_h"/>
          <p:cNvSpPr txBox="1"/>
          <p:nvPr/>
        </p:nvSpPr>
        <p:spPr>
          <a:xfrm>
            <a:off x="9372600" y="2057400"/>
            <a:ext cx="2057400" cy="41148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Small and easy to carry</a:t>
            </a:r>
            <a:endParaRPr lang="en-US" sz="1500" dirty="0"/>
          </a:p>
        </p:txBody>
      </p:sp>
      <p:sp>
        <p:nvSpPr>
          <p:cNvPr id="14" name="a3_d"/>
          <p:cNvSpPr txBox="1"/>
          <p:nvPr/>
        </p:nvSpPr>
        <p:spPr>
          <a:xfrm>
            <a:off x="9372600" y="2468880"/>
            <a:ext cx="2011680" cy="73152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It fits easily into a pocket, backpack or bag.</a:t>
            </a:r>
            <a:endParaRPr lang="en-US" sz="1400" dirty="0"/>
          </a:p>
        </p:txBody>
      </p:sp>
      <p:sp>
        <p:nvSpPr>
          <p:cNvPr id="15" name="a4_card"/>
          <p:cNvSpPr/>
          <p:nvPr/>
        </p:nvSpPr>
        <p:spPr>
          <a:xfrm>
            <a:off x="4846320" y="3566160"/>
            <a:ext cx="3200400" cy="1463040"/>
          </a:xfrm>
          <a:prstGeom prst="roundRect">
            <a:avLst>
              <a:gd name="adj" fmla="val 11250"/>
            </a:avLst>
          </a:prstGeom>
          <a:solidFill>
            <a:srgbClr val="FFFFFF"/>
          </a:solidFill>
          <a:ln/>
          <a:effectLst>
            <a:outerShdw sx="100000" sy="100000" kx="0" ky="0" algn="bl" rotWithShape="0" blurRad="228600" dist="76200" dir="5400000">
              <a:srgbClr val="0B1F3A">
                <a:alpha val="12000"/>
              </a:srgbClr>
            </a:outerShdw>
          </a:effectLst>
        </p:spPr>
      </p:sp>
      <p:sp>
        <p:nvSpPr>
          <p:cNvPr id="16" name="a4_circle"/>
          <p:cNvSpPr/>
          <p:nvPr/>
        </p:nvSpPr>
        <p:spPr>
          <a:xfrm>
            <a:off x="5074920" y="3840480"/>
            <a:ext cx="640080" cy="640080"/>
          </a:xfrm>
          <a:prstGeom prst="ellipse">
            <a:avLst/>
          </a:prstGeom>
          <a:solidFill>
            <a:srgbClr val="E3FAF4"/>
          </a:solidFill>
          <a:ln/>
        </p:spPr>
      </p:sp>
      <p:pic>
        <p:nvPicPr>
          <p:cNvPr id="17" name="a4_icon" descr="bolt">    </p:cNvPr>
          <p:cNvPicPr>
            <a:picLocks noChangeAspect="1"/>
          </p:cNvPicPr>
          <p:nvPr/>
        </p:nvPicPr>
        <p:blipFill>
          <a:blip r:embed="rId4"/>
          <a:stretch>
            <a:fillRect/>
          </a:stretch>
        </p:blipFill>
        <p:spPr>
          <a:xfrm>
            <a:off x="5247742" y="4013302"/>
            <a:ext cx="294437" cy="294437"/>
          </a:xfrm>
          <a:prstGeom prst="rect">
            <a:avLst/>
          </a:prstGeom>
        </p:spPr>
      </p:pic>
      <p:sp>
        <p:nvSpPr>
          <p:cNvPr id="18" name="a4_h"/>
          <p:cNvSpPr txBox="1"/>
          <p:nvPr/>
        </p:nvSpPr>
        <p:spPr>
          <a:xfrm>
            <a:off x="5897880" y="3749040"/>
            <a:ext cx="2057400" cy="41148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Keeps your energy up</a:t>
            </a:r>
            <a:endParaRPr lang="en-US" sz="1500" dirty="0"/>
          </a:p>
        </p:txBody>
      </p:sp>
      <p:sp>
        <p:nvSpPr>
          <p:cNvPr id="19" name="a4_d"/>
          <p:cNvSpPr txBox="1"/>
          <p:nvPr/>
        </p:nvSpPr>
        <p:spPr>
          <a:xfrm>
            <a:off x="5897880" y="4160520"/>
            <a:ext cx="2011680" cy="73152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It helps you maintain your energy throughout the day.</a:t>
            </a:r>
            <a:endParaRPr lang="en-US" sz="1400" dirty="0"/>
          </a:p>
        </p:txBody>
      </p:sp>
      <p:sp>
        <p:nvSpPr>
          <p:cNvPr id="20" name="a5_card"/>
          <p:cNvSpPr/>
          <p:nvPr/>
        </p:nvSpPr>
        <p:spPr>
          <a:xfrm>
            <a:off x="8321040" y="3566160"/>
            <a:ext cx="3200400" cy="1463040"/>
          </a:xfrm>
          <a:prstGeom prst="roundRect">
            <a:avLst>
              <a:gd name="adj" fmla="val 11250"/>
            </a:avLst>
          </a:prstGeom>
          <a:solidFill>
            <a:srgbClr val="FFFFFF"/>
          </a:solidFill>
          <a:ln/>
          <a:effectLst>
            <a:outerShdw sx="100000" sy="100000" kx="0" ky="0" algn="bl" rotWithShape="0" blurRad="228600" dist="76200" dir="5400000">
              <a:srgbClr val="0B1F3A">
                <a:alpha val="12000"/>
              </a:srgbClr>
            </a:outerShdw>
          </a:effectLst>
        </p:spPr>
      </p:sp>
      <p:sp>
        <p:nvSpPr>
          <p:cNvPr id="21" name="a5_circle"/>
          <p:cNvSpPr/>
          <p:nvPr/>
        </p:nvSpPr>
        <p:spPr>
          <a:xfrm>
            <a:off x="8549640" y="3840480"/>
            <a:ext cx="640080" cy="640080"/>
          </a:xfrm>
          <a:prstGeom prst="ellipse">
            <a:avLst/>
          </a:prstGeom>
          <a:solidFill>
            <a:srgbClr val="E3FAF4"/>
          </a:solidFill>
          <a:ln/>
        </p:spPr>
      </p:sp>
      <p:pic>
        <p:nvPicPr>
          <p:cNvPr id="22" name="a5_icon" descr="heart">    </p:cNvPr>
          <p:cNvPicPr>
            <a:picLocks noChangeAspect="1"/>
          </p:cNvPicPr>
          <p:nvPr/>
        </p:nvPicPr>
        <p:blipFill>
          <a:blip r:embed="rId5"/>
          <a:stretch>
            <a:fillRect/>
          </a:stretch>
        </p:blipFill>
        <p:spPr>
          <a:xfrm>
            <a:off x="8722462" y="4013302"/>
            <a:ext cx="294437" cy="294437"/>
          </a:xfrm>
          <a:prstGeom prst="rect">
            <a:avLst/>
          </a:prstGeom>
        </p:spPr>
      </p:pic>
      <p:sp>
        <p:nvSpPr>
          <p:cNvPr id="23" name="a5_h"/>
          <p:cNvSpPr txBox="1"/>
          <p:nvPr/>
        </p:nvSpPr>
        <p:spPr>
          <a:xfrm>
            <a:off x="9372600" y="3749040"/>
            <a:ext cx="2057400" cy="41148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Perfect for busy people</a:t>
            </a:r>
            <a:endParaRPr lang="en-US" sz="1500" dirty="0"/>
          </a:p>
        </p:txBody>
      </p:sp>
      <p:sp>
        <p:nvSpPr>
          <p:cNvPr id="24" name="a5_d"/>
          <p:cNvSpPr txBox="1"/>
          <p:nvPr/>
        </p:nvSpPr>
        <p:spPr>
          <a:xfrm>
            <a:off x="9372600" y="4160520"/>
            <a:ext cx="2011680" cy="731520"/>
          </a:xfrm>
          <a:prstGeom prst="rect">
            <a:avLst/>
          </a:prstGeom>
          <a:noFill/>
          <a:ln/>
        </p:spPr>
        <p:txBody>
          <a:bodyPr wrap="square" lIns="0" tIns="0" rIns="0" bIns="0" rtlCol="0" anchor="t"/>
          <a:lstStyle/>
          <a:p>
            <a:pPr indent="0" marL="0">
              <a:buNone/>
            </a:pPr>
            <a:r>
              <a:rPr lang="en-US" sz="1400" dirty="0">
                <a:solidFill>
                  <a:srgbClr val="5B6B80"/>
                </a:solidFill>
                <a:latin typeface="Calibri" pitchFamily="34" charset="0"/>
                <a:ea typeface="Calibri" pitchFamily="34" charset="-122"/>
                <a:cs typeface="Calibri" pitchFamily="34" charset="-120"/>
              </a:rPr>
              <a:t>Ideal for students and workers with demanding schedules.</a:t>
            </a:r>
            <a:endParaRPr lang="en-US" sz="1400" dirty="0"/>
          </a:p>
        </p:txBody>
      </p:sp>
      <p:sp>
        <p:nvSpPr>
          <p:cNvPr id="25" name="a6_note"/>
          <p:cNvSpPr/>
          <p:nvPr/>
        </p:nvSpPr>
        <p:spPr>
          <a:xfrm>
            <a:off x="4846320" y="5349240"/>
            <a:ext cx="6675120" cy="777240"/>
          </a:xfrm>
          <a:prstGeom prst="roundRect">
            <a:avLst>
              <a:gd name="adj" fmla="val 17647"/>
            </a:avLst>
          </a:prstGeom>
          <a:solidFill>
            <a:srgbClr val="FFF0EC"/>
          </a:solidFill>
          <a:ln/>
        </p:spPr>
      </p:sp>
      <p:sp>
        <p:nvSpPr>
          <p:cNvPr id="26" name="a6_notetext"/>
          <p:cNvSpPr txBox="1"/>
          <p:nvPr/>
        </p:nvSpPr>
        <p:spPr>
          <a:xfrm>
            <a:off x="5074920" y="5349240"/>
            <a:ext cx="6309360" cy="777240"/>
          </a:xfrm>
          <a:prstGeom prst="rect">
            <a:avLst/>
          </a:prstGeom>
          <a:noFill/>
          <a:ln/>
        </p:spPr>
        <p:txBody>
          <a:bodyPr wrap="square" lIns="0" tIns="0" rIns="0" bIns="0" rtlCol="0" anchor="ctr"/>
          <a:lstStyle/>
          <a:p>
            <a:pPr indent="0" marL="0">
              <a:buNone/>
            </a:pPr>
            <a:r>
              <a:rPr lang="en-US" sz="1400" b="1" dirty="0">
                <a:solidFill>
                  <a:srgbClr val="FF6B4A"/>
                </a:solidFill>
                <a:latin typeface="Calibri" pitchFamily="34" charset="0"/>
                <a:ea typeface="Calibri" pitchFamily="34" charset="-122"/>
                <a:cs typeface="Calibri" pitchFamily="34" charset="-120"/>
              </a:rPr>
              <a:t>Please note: </a:t>
            </a:r>
            <a:pPr indent="0" marL="0">
              <a:buNone/>
            </a:pPr>
            <a:r>
              <a:rPr lang="en-US" sz="1400" dirty="0">
                <a:solidFill>
                  <a:srgbClr val="0B1F3A"/>
                </a:solidFill>
                <a:latin typeface="Calibri" pitchFamily="34" charset="0"/>
                <a:ea typeface="Calibri" pitchFamily="34" charset="-122"/>
                <a:cs typeface="Calibri" pitchFamily="34" charset="-120"/>
              </a:rPr>
              <a:t>although NutriPill does not replace a complete meal, it offers a practical way to supplement your nutrition when life gets busy.</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4</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128"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anim calcmode="lin" valueType="num">
                                      <p:cBhvr>
                                        <p:cTn id="82"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p:cTn id="87"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600"/>
                                        <p:tgtEl>
                                          <p:spTgt spid="20"/>
                                        </p:tgtEl>
                                      </p:cBhvr>
                                    </p:animEffect>
                                    <p:anim calcmode="lin" valueType="num">
                                      <p:cBhvr>
                                        <p:cTn id="97"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600"/>
                                        <p:tgtEl>
                                          <p:spTgt spid="21"/>
                                        </p:tgtEl>
                                      </p:cBhvr>
                                    </p:animEffect>
                                    <p:anim calcmode="lin" valueType="num">
                                      <p:cBhvr>
                                        <p:cTn id="102" dur="600" decel="100000" fill="hold"/>
                                        <p:tgtEl>
                                          <p:spTgt spid="21"/>
                                        </p:tgtEl>
                                        <p:attrNameLst>
                                          <p:attrName>ppt_y</p:attrName>
                                        </p:attrNameLst>
                                      </p:cBhvr>
                                      <p:tavLst>
                                        <p:tav tm="0">
                                          <p:val>
                                            <p:strVal val="#ppt_y+0.04"/>
                                          </p:val>
                                        </p:tav>
                                        <p:tav tm="100000">
                                          <p:val>
                                            <p:strVal val="#ppt_y"/>
                                          </p:val>
                                        </p:tav>
                                      </p:tavLst>
                                    </p:anim>
                                  </p:childTnLst>
                                </p:cTn>
                              </p:par>
                            </p:childTnLst>
                          </p:cTn>
                        </p:par>
                        <p:par>
                          <p:cTn id="103" fill="hold">
                            <p:stCondLst>
                              <p:cond delay="0"/>
                            </p:stCondLst>
                            <p:childTnLst>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600"/>
                                        <p:tgtEl>
                                          <p:spTgt spid="22"/>
                                        </p:tgtEl>
                                      </p:cBhvr>
                                    </p:animEffect>
                                    <p:anim calcmode="lin" valueType="num">
                                      <p:cBhvr>
                                        <p:cTn id="107" dur="600" decel="100000" fill="hold"/>
                                        <p:tgtEl>
                                          <p:spTgt spid="22"/>
                                        </p:tgtEl>
                                        <p:attrNameLst>
                                          <p:attrName>ppt_y</p:attrName>
                                        </p:attrNameLst>
                                      </p:cBhvr>
                                      <p:tavLst>
                                        <p:tav tm="0">
                                          <p:val>
                                            <p:strVal val="#ppt_y+0.04"/>
                                          </p:val>
                                        </p:tav>
                                        <p:tav tm="100000">
                                          <p:val>
                                            <p:strVal val="#ppt_y"/>
                                          </p:val>
                                        </p:tav>
                                      </p:tavLst>
                                    </p:anim>
                                  </p:childTnLst>
                                </p:cTn>
                              </p:par>
                            </p:childTnLst>
                          </p:cTn>
                        </p:par>
                        <p:par>
                          <p:cTn id="108" fill="hold">
                            <p:stCondLst>
                              <p:cond delay="0"/>
                            </p:stCondLst>
                            <p:childTnLst>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600"/>
                                        <p:tgtEl>
                                          <p:spTgt spid="23"/>
                                        </p:tgtEl>
                                      </p:cBhvr>
                                    </p:animEffect>
                                    <p:anim calcmode="lin" valueType="num">
                                      <p:cBhvr>
                                        <p:cTn id="112" dur="600" decel="100000" fill="hold"/>
                                        <p:tgtEl>
                                          <p:spTgt spid="23"/>
                                        </p:tgtEl>
                                        <p:attrNameLst>
                                          <p:attrName>ppt_y</p:attrName>
                                        </p:attrNameLst>
                                      </p:cBhvr>
                                      <p:tavLst>
                                        <p:tav tm="0">
                                          <p:val>
                                            <p:strVal val="#ppt_y+0.04"/>
                                          </p:val>
                                        </p:tav>
                                        <p:tav tm="100000">
                                          <p:val>
                                            <p:strVal val="#ppt_y"/>
                                          </p:val>
                                        </p:tav>
                                      </p:tavLst>
                                    </p:anim>
                                  </p:childTnLst>
                                </p:cTn>
                              </p:par>
                            </p:childTnLst>
                          </p:cTn>
                        </p:par>
                        <p:par>
                          <p:cTn id="113" fill="hold">
                            <p:stCondLst>
                              <p:cond delay="0"/>
                            </p:stCondLst>
                            <p:childTnLst>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600"/>
                                        <p:tgtEl>
                                          <p:spTgt spid="24"/>
                                        </p:tgtEl>
                                      </p:cBhvr>
                                    </p:animEffect>
                                    <p:anim calcmode="lin" valueType="num">
                                      <p:cBhvr>
                                        <p:cTn id="117" dur="600" decel="100000" fill="hold"/>
                                        <p:tgtEl>
                                          <p:spTgt spid="24"/>
                                        </p:tgtEl>
                                        <p:attrNameLst>
                                          <p:attrName>ppt_y</p:attrName>
                                        </p:attrNameLst>
                                      </p:cBhvr>
                                      <p:tavLst>
                                        <p:tav tm="0">
                                          <p:val>
                                            <p:strVal val="#ppt_y+0.04"/>
                                          </p:val>
                                        </p:tav>
                                        <p:tav tm="100000">
                                          <p:val>
                                            <p:strVal val="#ppt_y"/>
                                          </p:val>
                                        </p:tav>
                                      </p:tavLst>
                                    </p:anim>
                                  </p:childTnLst>
                                </p:cTn>
                              </p:par>
                            </p:childTnLst>
                          </p:cTn>
                        </p:par>
                        <p:par>
                          <p:cTn id="118" fill="hold">
                            <p:stCondLst>
                              <p:cond delay="0"/>
                            </p:stCondLst>
                            <p:childTnLst>
                              <p:par>
                                <p:cTn id="119" presetID="42" presetClass="entr" presetSubtype="0" fill="hold" grpId="0" nodeType="after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600"/>
                                        <p:tgtEl>
                                          <p:spTgt spid="25"/>
                                        </p:tgtEl>
                                      </p:cBhvr>
                                    </p:animEffect>
                                    <p:anim calcmode="lin" valueType="num">
                                      <p:cBhvr>
                                        <p:cTn id="122" dur="600" decel="100000" fill="hold"/>
                                        <p:tgtEl>
                                          <p:spTgt spid="25"/>
                                        </p:tgtEl>
                                        <p:attrNameLst>
                                          <p:attrName>ppt_y</p:attrName>
                                        </p:attrNameLst>
                                      </p:cBhvr>
                                      <p:tavLst>
                                        <p:tav tm="0">
                                          <p:val>
                                            <p:strVal val="#ppt_y+0.04"/>
                                          </p:val>
                                        </p:tav>
                                        <p:tav tm="100000">
                                          <p:val>
                                            <p:strVal val="#ppt_y"/>
                                          </p:val>
                                        </p:tav>
                                      </p:tavLst>
                                    </p:anim>
                                  </p:childTnLst>
                                </p:cTn>
                              </p:par>
                            </p:childTnLst>
                          </p:cTn>
                        </p:par>
                        <p:par>
                          <p:cTn id="123" fill="hold">
                            <p:stCondLst>
                              <p:cond delay="0"/>
                            </p:stCondLst>
                            <p:childTnLst>
                              <p:par>
                                <p:cTn id="124" presetID="42" presetClass="entr" presetSubtype="0" fill="hold" grpId="0" nodeType="with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fade">
                                      <p:cBhvr>
                                        <p:cTn id="126" dur="600"/>
                                        <p:tgtEl>
                                          <p:spTgt spid="26"/>
                                        </p:tgtEl>
                                      </p:cBhvr>
                                    </p:animEffect>
                                    <p:anim calcmode="lin" valueType="num">
                                      <p:cBhvr>
                                        <p:cTn id="127" dur="600" decel="100000" fill="hold"/>
                                        <p:tgtEl>
                                          <p:spTgt spid="2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04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Black" pitchFamily="34" charset="0"/>
                <a:ea typeface="Arial Black" pitchFamily="34" charset="-122"/>
                <a:cs typeface="Arial Black" pitchFamily="34" charset="-120"/>
              </a:rPr>
              <a:t>Who Is Our Brand Directed To?</a:t>
            </a:r>
            <a:endParaRPr lang="en-US" sz="3600" dirty="0"/>
          </a:p>
        </p:txBody>
      </p:sp>
      <p:sp>
        <p:nvSpPr>
          <p:cNvPr id="4" name="a1_text"/>
          <p:cNvSpPr txBox="1"/>
          <p:nvPr/>
        </p:nvSpPr>
        <p:spPr>
          <a:xfrm>
            <a:off x="548640" y="1783080"/>
            <a:ext cx="10515600" cy="777240"/>
          </a:xfrm>
          <a:prstGeom prst="rect">
            <a:avLst/>
          </a:prstGeom>
          <a:noFill/>
          <a:ln/>
        </p:spPr>
        <p:txBody>
          <a:bodyPr wrap="square" lIns="0" tIns="0" rIns="0" bIns="0" rtlCol="0" anchor="t"/>
          <a:lstStyle/>
          <a:p>
            <a:pPr indent="0" marL="0">
              <a:buNone/>
            </a:pPr>
            <a:r>
              <a:rPr lang="en-US" sz="1800" dirty="0">
                <a:solidFill>
                  <a:srgbClr val="B8C7D9"/>
                </a:solidFill>
                <a:latin typeface="Calibri" pitchFamily="34" charset="0"/>
                <a:ea typeface="Calibri" pitchFamily="34" charset="-122"/>
                <a:cs typeface="Calibri" pitchFamily="34" charset="-120"/>
              </a:rPr>
              <a:t>NutriPill is designed for busy people who don't always have time to eat properly, especially those who need a quick and convenient way to supplement their nutrition during a hectic day.</a:t>
            </a:r>
            <a:endParaRPr lang="en-US" sz="1800" dirty="0"/>
          </a:p>
        </p:txBody>
      </p:sp>
      <p:sp>
        <p:nvSpPr>
          <p:cNvPr id="5" name="a2_card"/>
          <p:cNvSpPr/>
          <p:nvPr/>
        </p:nvSpPr>
        <p:spPr>
          <a:xfrm>
            <a:off x="548640" y="2788920"/>
            <a:ext cx="2560320" cy="3337560"/>
          </a:xfrm>
          <a:prstGeom prst="roundRect">
            <a:avLst>
              <a:gd name="adj" fmla="val 6429"/>
            </a:avLst>
          </a:prstGeom>
          <a:solidFill>
            <a:srgbClr val="FFFFFF"/>
          </a:solidFill>
          <a:ln/>
          <a:effectLst>
            <a:outerShdw sx="100000" sy="100000" kx="0" ky="0" algn="bl" rotWithShape="0" blurRad="228600" dist="76200" dir="5400000">
              <a:srgbClr val="0B1F3A">
                <a:alpha val="12000"/>
              </a:srgbClr>
            </a:outerShdw>
          </a:effectLst>
        </p:spPr>
      </p:sp>
      <p:sp>
        <p:nvSpPr>
          <p:cNvPr id="6" name="a2_circle"/>
          <p:cNvSpPr/>
          <p:nvPr/>
        </p:nvSpPr>
        <p:spPr>
          <a:xfrm>
            <a:off x="1325880" y="3063240"/>
            <a:ext cx="1005840" cy="1005840"/>
          </a:xfrm>
          <a:prstGeom prst="ellipse">
            <a:avLst/>
          </a:prstGeom>
          <a:solidFill>
            <a:srgbClr val="14C9A1"/>
          </a:solidFill>
          <a:ln/>
        </p:spPr>
      </p:sp>
      <p:pic>
        <p:nvPicPr>
          <p:cNvPr id="7" name="a2_icon" descr="grad">    </p:cNvPr>
          <p:cNvPicPr>
            <a:picLocks noChangeAspect="1"/>
          </p:cNvPicPr>
          <p:nvPr/>
        </p:nvPicPr>
        <p:blipFill>
          <a:blip r:embed="rId1"/>
          <a:stretch>
            <a:fillRect/>
          </a:stretch>
        </p:blipFill>
        <p:spPr>
          <a:xfrm>
            <a:off x="1597457" y="3334817"/>
            <a:ext cx="462686" cy="462686"/>
          </a:xfrm>
          <a:prstGeom prst="rect">
            <a:avLst/>
          </a:prstGeom>
        </p:spPr>
      </p:pic>
      <p:sp>
        <p:nvSpPr>
          <p:cNvPr id="8" name="a2_h"/>
          <p:cNvSpPr txBox="1"/>
          <p:nvPr/>
        </p:nvSpPr>
        <p:spPr>
          <a:xfrm>
            <a:off x="731520" y="4251960"/>
            <a:ext cx="2194560" cy="457200"/>
          </a:xfrm>
          <a:prstGeom prst="rect">
            <a:avLst/>
          </a:prstGeom>
          <a:noFill/>
          <a:ln/>
        </p:spPr>
        <p:txBody>
          <a:bodyPr wrap="square" lIns="0" tIns="0" rIns="0" bIns="0" rtlCol="0" anchor="t"/>
          <a:lstStyle/>
          <a:p>
            <a:pPr algn="ctr" indent="0" marL="0">
              <a:buNone/>
            </a:pPr>
            <a:r>
              <a:rPr lang="en-US" sz="1900" b="1" dirty="0">
                <a:solidFill>
                  <a:srgbClr val="0B1F3A"/>
                </a:solidFill>
                <a:latin typeface="Calibri" pitchFamily="34" charset="0"/>
                <a:ea typeface="Calibri" pitchFamily="34" charset="-122"/>
                <a:cs typeface="Calibri" pitchFamily="34" charset="-120"/>
              </a:rPr>
              <a:t>Students</a:t>
            </a:r>
            <a:endParaRPr lang="en-US" sz="1900" dirty="0"/>
          </a:p>
        </p:txBody>
      </p:sp>
      <p:sp>
        <p:nvSpPr>
          <p:cNvPr id="9" name="a2_d"/>
          <p:cNvSpPr txBox="1"/>
          <p:nvPr/>
        </p:nvSpPr>
        <p:spPr>
          <a:xfrm>
            <a:off x="749808" y="4709160"/>
            <a:ext cx="2157984" cy="1188720"/>
          </a:xfrm>
          <a:prstGeom prst="rect">
            <a:avLst/>
          </a:prstGeom>
          <a:noFill/>
          <a:ln/>
        </p:spPr>
        <p:txBody>
          <a:bodyPr wrap="square" lIns="0" tIns="0" rIns="0" bIns="0" rtlCol="0" anchor="t"/>
          <a:lstStyle/>
          <a:p>
            <a:pPr algn="ctr" indent="0" marL="0">
              <a:buNone/>
            </a:pPr>
            <a:r>
              <a:rPr lang="en-US" sz="1400" dirty="0">
                <a:solidFill>
                  <a:srgbClr val="5B6B80"/>
                </a:solidFill>
                <a:latin typeface="Calibri" pitchFamily="34" charset="0"/>
                <a:ea typeface="Calibri" pitchFamily="34" charset="-122"/>
                <a:cs typeface="Calibri" pitchFamily="34" charset="-120"/>
              </a:rPr>
              <a:t>Long days of classes, exams and homework often leave little time for lunch.</a:t>
            </a:r>
            <a:endParaRPr lang="en-US" sz="1400" dirty="0"/>
          </a:p>
        </p:txBody>
      </p:sp>
      <p:sp>
        <p:nvSpPr>
          <p:cNvPr id="10" name="a3_card"/>
          <p:cNvSpPr/>
          <p:nvPr/>
        </p:nvSpPr>
        <p:spPr>
          <a:xfrm>
            <a:off x="3364992" y="2788920"/>
            <a:ext cx="2560320" cy="3337560"/>
          </a:xfrm>
          <a:prstGeom prst="roundRect">
            <a:avLst>
              <a:gd name="adj" fmla="val 6429"/>
            </a:avLst>
          </a:prstGeom>
          <a:solidFill>
            <a:srgbClr val="FFFFFF"/>
          </a:solidFill>
          <a:ln/>
          <a:effectLst>
            <a:outerShdw sx="100000" sy="100000" kx="0" ky="0" algn="bl" rotWithShape="0" blurRad="228600" dist="76200" dir="5400000">
              <a:srgbClr val="0B1F3A">
                <a:alpha val="12000"/>
              </a:srgbClr>
            </a:outerShdw>
          </a:effectLst>
        </p:spPr>
      </p:sp>
      <p:sp>
        <p:nvSpPr>
          <p:cNvPr id="11" name="a3_circle"/>
          <p:cNvSpPr/>
          <p:nvPr/>
        </p:nvSpPr>
        <p:spPr>
          <a:xfrm>
            <a:off x="4142232" y="3063240"/>
            <a:ext cx="1005840" cy="1005840"/>
          </a:xfrm>
          <a:prstGeom prst="ellipse">
            <a:avLst/>
          </a:prstGeom>
          <a:solidFill>
            <a:srgbClr val="14C9A1"/>
          </a:solidFill>
          <a:ln/>
        </p:spPr>
      </p:sp>
      <p:pic>
        <p:nvPicPr>
          <p:cNvPr id="12" name="a3_icon" descr="briefcase">    </p:cNvPr>
          <p:cNvPicPr>
            <a:picLocks noChangeAspect="1"/>
          </p:cNvPicPr>
          <p:nvPr/>
        </p:nvPicPr>
        <p:blipFill>
          <a:blip r:embed="rId2"/>
          <a:stretch>
            <a:fillRect/>
          </a:stretch>
        </p:blipFill>
        <p:spPr>
          <a:xfrm>
            <a:off x="4413809" y="3334817"/>
            <a:ext cx="462686" cy="462686"/>
          </a:xfrm>
          <a:prstGeom prst="rect">
            <a:avLst/>
          </a:prstGeom>
        </p:spPr>
      </p:pic>
      <p:sp>
        <p:nvSpPr>
          <p:cNvPr id="13" name="a3_h"/>
          <p:cNvSpPr txBox="1"/>
          <p:nvPr/>
        </p:nvSpPr>
        <p:spPr>
          <a:xfrm>
            <a:off x="3547872" y="4251960"/>
            <a:ext cx="2194560" cy="457200"/>
          </a:xfrm>
          <a:prstGeom prst="rect">
            <a:avLst/>
          </a:prstGeom>
          <a:noFill/>
          <a:ln/>
        </p:spPr>
        <p:txBody>
          <a:bodyPr wrap="square" lIns="0" tIns="0" rIns="0" bIns="0" rtlCol="0" anchor="t"/>
          <a:lstStyle/>
          <a:p>
            <a:pPr algn="ctr" indent="0" marL="0">
              <a:buNone/>
            </a:pPr>
            <a:r>
              <a:rPr lang="en-US" sz="1900" b="1" dirty="0">
                <a:solidFill>
                  <a:srgbClr val="0B1F3A"/>
                </a:solidFill>
                <a:latin typeface="Calibri" pitchFamily="34" charset="0"/>
                <a:ea typeface="Calibri" pitchFamily="34" charset="-122"/>
                <a:cs typeface="Calibri" pitchFamily="34" charset="-120"/>
              </a:rPr>
              <a:t>Workers</a:t>
            </a:r>
            <a:endParaRPr lang="en-US" sz="1900" dirty="0"/>
          </a:p>
        </p:txBody>
      </p:sp>
      <p:sp>
        <p:nvSpPr>
          <p:cNvPr id="14" name="a3_d"/>
          <p:cNvSpPr txBox="1"/>
          <p:nvPr/>
        </p:nvSpPr>
        <p:spPr>
          <a:xfrm>
            <a:off x="3566160" y="4709160"/>
            <a:ext cx="2157984" cy="1188720"/>
          </a:xfrm>
          <a:prstGeom prst="rect">
            <a:avLst/>
          </a:prstGeom>
          <a:noFill/>
          <a:ln/>
        </p:spPr>
        <p:txBody>
          <a:bodyPr wrap="square" lIns="0" tIns="0" rIns="0" bIns="0" rtlCol="0" anchor="t"/>
          <a:lstStyle/>
          <a:p>
            <a:pPr algn="ctr" indent="0" marL="0">
              <a:buNone/>
            </a:pPr>
            <a:r>
              <a:rPr lang="en-US" sz="1400" dirty="0">
                <a:solidFill>
                  <a:srgbClr val="5B6B80"/>
                </a:solidFill>
                <a:latin typeface="Calibri" pitchFamily="34" charset="0"/>
                <a:ea typeface="Calibri" pitchFamily="34" charset="-122"/>
                <a:cs typeface="Calibri" pitchFamily="34" charset="-120"/>
              </a:rPr>
              <a:t>Tight deadlines and back-to-back meetings mean meals are often skipped.</a:t>
            </a:r>
            <a:endParaRPr lang="en-US" sz="1400" dirty="0"/>
          </a:p>
        </p:txBody>
      </p:sp>
      <p:sp>
        <p:nvSpPr>
          <p:cNvPr id="15" name="a4_card"/>
          <p:cNvSpPr/>
          <p:nvPr/>
        </p:nvSpPr>
        <p:spPr>
          <a:xfrm>
            <a:off x="6181344" y="2788920"/>
            <a:ext cx="2560320" cy="3337560"/>
          </a:xfrm>
          <a:prstGeom prst="roundRect">
            <a:avLst>
              <a:gd name="adj" fmla="val 6429"/>
            </a:avLst>
          </a:prstGeom>
          <a:solidFill>
            <a:srgbClr val="FFFFFF"/>
          </a:solidFill>
          <a:ln/>
          <a:effectLst>
            <a:outerShdw sx="100000" sy="100000" kx="0" ky="0" algn="bl" rotWithShape="0" blurRad="228600" dist="76200" dir="5400000">
              <a:srgbClr val="0B1F3A">
                <a:alpha val="12000"/>
              </a:srgbClr>
            </a:outerShdw>
          </a:effectLst>
        </p:spPr>
      </p:sp>
      <p:sp>
        <p:nvSpPr>
          <p:cNvPr id="16" name="a4_circle"/>
          <p:cNvSpPr/>
          <p:nvPr/>
        </p:nvSpPr>
        <p:spPr>
          <a:xfrm>
            <a:off x="6958584" y="3063240"/>
            <a:ext cx="1005840" cy="1005840"/>
          </a:xfrm>
          <a:prstGeom prst="ellipse">
            <a:avLst/>
          </a:prstGeom>
          <a:solidFill>
            <a:srgbClr val="14C9A1"/>
          </a:solidFill>
          <a:ln/>
        </p:spPr>
      </p:sp>
      <p:pic>
        <p:nvPicPr>
          <p:cNvPr id="17" name="a4_icon" descr="run">    </p:cNvPr>
          <p:cNvPicPr>
            <a:picLocks noChangeAspect="1"/>
          </p:cNvPicPr>
          <p:nvPr/>
        </p:nvPicPr>
        <p:blipFill>
          <a:blip r:embed="rId3"/>
          <a:stretch>
            <a:fillRect/>
          </a:stretch>
        </p:blipFill>
        <p:spPr>
          <a:xfrm>
            <a:off x="7230161" y="3334817"/>
            <a:ext cx="462686" cy="462686"/>
          </a:xfrm>
          <a:prstGeom prst="rect">
            <a:avLst/>
          </a:prstGeom>
        </p:spPr>
      </p:pic>
      <p:sp>
        <p:nvSpPr>
          <p:cNvPr id="18" name="a4_h"/>
          <p:cNvSpPr txBox="1"/>
          <p:nvPr/>
        </p:nvSpPr>
        <p:spPr>
          <a:xfrm>
            <a:off x="6364224" y="4251960"/>
            <a:ext cx="2194560" cy="457200"/>
          </a:xfrm>
          <a:prstGeom prst="rect">
            <a:avLst/>
          </a:prstGeom>
          <a:noFill/>
          <a:ln/>
        </p:spPr>
        <p:txBody>
          <a:bodyPr wrap="square" lIns="0" tIns="0" rIns="0" bIns="0" rtlCol="0" anchor="t"/>
          <a:lstStyle/>
          <a:p>
            <a:pPr algn="ctr" indent="0" marL="0">
              <a:buNone/>
            </a:pPr>
            <a:r>
              <a:rPr lang="en-US" sz="1900" b="1" dirty="0">
                <a:solidFill>
                  <a:srgbClr val="0B1F3A"/>
                </a:solidFill>
                <a:latin typeface="Calibri" pitchFamily="34" charset="0"/>
                <a:ea typeface="Calibri" pitchFamily="34" charset="-122"/>
                <a:cs typeface="Calibri" pitchFamily="34" charset="-120"/>
              </a:rPr>
              <a:t>Athletes</a:t>
            </a:r>
            <a:endParaRPr lang="en-US" sz="1900" dirty="0"/>
          </a:p>
        </p:txBody>
      </p:sp>
      <p:sp>
        <p:nvSpPr>
          <p:cNvPr id="19" name="a4_d"/>
          <p:cNvSpPr txBox="1"/>
          <p:nvPr/>
        </p:nvSpPr>
        <p:spPr>
          <a:xfrm>
            <a:off x="6382512" y="4709160"/>
            <a:ext cx="2157984" cy="1188720"/>
          </a:xfrm>
          <a:prstGeom prst="rect">
            <a:avLst/>
          </a:prstGeom>
          <a:noFill/>
          <a:ln/>
        </p:spPr>
        <p:txBody>
          <a:bodyPr wrap="square" lIns="0" tIns="0" rIns="0" bIns="0" rtlCol="0" anchor="t"/>
          <a:lstStyle/>
          <a:p>
            <a:pPr algn="ctr" indent="0" marL="0">
              <a:buNone/>
            </a:pPr>
            <a:r>
              <a:rPr lang="en-US" sz="1400" dirty="0">
                <a:solidFill>
                  <a:srgbClr val="5B6B80"/>
                </a:solidFill>
                <a:latin typeface="Calibri" pitchFamily="34" charset="0"/>
                <a:ea typeface="Calibri" pitchFamily="34" charset="-122"/>
                <a:cs typeface="Calibri" pitchFamily="34" charset="-120"/>
              </a:rPr>
              <a:t>Intense training requires a steady supply of essential nutrients.</a:t>
            </a:r>
            <a:endParaRPr lang="en-US" sz="1400" dirty="0"/>
          </a:p>
        </p:txBody>
      </p:sp>
      <p:sp>
        <p:nvSpPr>
          <p:cNvPr id="20" name="a5_card"/>
          <p:cNvSpPr/>
          <p:nvPr/>
        </p:nvSpPr>
        <p:spPr>
          <a:xfrm>
            <a:off x="8997696" y="2788920"/>
            <a:ext cx="2560320" cy="3337560"/>
          </a:xfrm>
          <a:prstGeom prst="roundRect">
            <a:avLst>
              <a:gd name="adj" fmla="val 6429"/>
            </a:avLst>
          </a:prstGeom>
          <a:solidFill>
            <a:srgbClr val="FFFFFF"/>
          </a:solidFill>
          <a:ln/>
          <a:effectLst>
            <a:outerShdw sx="100000" sy="100000" kx="0" ky="0" algn="bl" rotWithShape="0" blurRad="228600" dist="76200" dir="5400000">
              <a:srgbClr val="0B1F3A">
                <a:alpha val="12000"/>
              </a:srgbClr>
            </a:outerShdw>
          </a:effectLst>
        </p:spPr>
      </p:sp>
      <p:sp>
        <p:nvSpPr>
          <p:cNvPr id="21" name="a5_circle"/>
          <p:cNvSpPr/>
          <p:nvPr/>
        </p:nvSpPr>
        <p:spPr>
          <a:xfrm>
            <a:off x="9774936" y="3063240"/>
            <a:ext cx="1005840" cy="1005840"/>
          </a:xfrm>
          <a:prstGeom prst="ellipse">
            <a:avLst/>
          </a:prstGeom>
          <a:solidFill>
            <a:srgbClr val="14C9A1"/>
          </a:solidFill>
          <a:ln/>
        </p:spPr>
      </p:sp>
      <p:pic>
        <p:nvPicPr>
          <p:cNvPr id="22" name="a5_icon" descr="clock">    </p:cNvPr>
          <p:cNvPicPr>
            <a:picLocks noChangeAspect="1"/>
          </p:cNvPicPr>
          <p:nvPr/>
        </p:nvPicPr>
        <p:blipFill>
          <a:blip r:embed="rId4"/>
          <a:stretch>
            <a:fillRect/>
          </a:stretch>
        </p:blipFill>
        <p:spPr>
          <a:xfrm>
            <a:off x="10046513" y="3334817"/>
            <a:ext cx="462686" cy="462686"/>
          </a:xfrm>
          <a:prstGeom prst="rect">
            <a:avLst/>
          </a:prstGeom>
        </p:spPr>
      </p:pic>
      <p:sp>
        <p:nvSpPr>
          <p:cNvPr id="23" name="a5_h"/>
          <p:cNvSpPr txBox="1"/>
          <p:nvPr/>
        </p:nvSpPr>
        <p:spPr>
          <a:xfrm>
            <a:off x="9180576" y="4251960"/>
            <a:ext cx="2194560" cy="457200"/>
          </a:xfrm>
          <a:prstGeom prst="rect">
            <a:avLst/>
          </a:prstGeom>
          <a:noFill/>
          <a:ln/>
        </p:spPr>
        <p:txBody>
          <a:bodyPr wrap="square" lIns="0" tIns="0" rIns="0" bIns="0" rtlCol="0" anchor="t"/>
          <a:lstStyle/>
          <a:p>
            <a:pPr algn="ctr" indent="0" marL="0">
              <a:buNone/>
            </a:pPr>
            <a:r>
              <a:rPr lang="en-US" sz="1900" b="1" dirty="0">
                <a:solidFill>
                  <a:srgbClr val="0B1F3A"/>
                </a:solidFill>
                <a:latin typeface="Calibri" pitchFamily="34" charset="0"/>
                <a:ea typeface="Calibri" pitchFamily="34" charset="-122"/>
                <a:cs typeface="Calibri" pitchFamily="34" charset="-120"/>
              </a:rPr>
              <a:t>Hectic lifestyles</a:t>
            </a:r>
            <a:endParaRPr lang="en-US" sz="1900" dirty="0"/>
          </a:p>
        </p:txBody>
      </p:sp>
      <p:sp>
        <p:nvSpPr>
          <p:cNvPr id="24" name="a5_d"/>
          <p:cNvSpPr txBox="1"/>
          <p:nvPr/>
        </p:nvSpPr>
        <p:spPr>
          <a:xfrm>
            <a:off x="9198864" y="4709160"/>
            <a:ext cx="2157984" cy="1188720"/>
          </a:xfrm>
          <a:prstGeom prst="rect">
            <a:avLst/>
          </a:prstGeom>
          <a:noFill/>
          <a:ln/>
        </p:spPr>
        <p:txBody>
          <a:bodyPr wrap="square" lIns="0" tIns="0" rIns="0" bIns="0" rtlCol="0" anchor="t"/>
          <a:lstStyle/>
          <a:p>
            <a:pPr algn="ctr" indent="0" marL="0">
              <a:buNone/>
            </a:pPr>
            <a:r>
              <a:rPr lang="en-US" sz="1400" dirty="0">
                <a:solidFill>
                  <a:srgbClr val="5B6B80"/>
                </a:solidFill>
                <a:latin typeface="Calibri" pitchFamily="34" charset="0"/>
                <a:ea typeface="Calibri" pitchFamily="34" charset="-122"/>
                <a:cs typeface="Calibri" pitchFamily="34" charset="-120"/>
              </a:rPr>
              <a:t>Anyone who is constantly on the move and short on time.</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5</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18"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anim calcmode="lin" valueType="num">
                                      <p:cBhvr>
                                        <p:cTn id="82"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p:cTn id="87"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600"/>
                                        <p:tgtEl>
                                          <p:spTgt spid="20"/>
                                        </p:tgtEl>
                                      </p:cBhvr>
                                    </p:animEffect>
                                    <p:anim calcmode="lin" valueType="num">
                                      <p:cBhvr>
                                        <p:cTn id="97"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600"/>
                                        <p:tgtEl>
                                          <p:spTgt spid="21"/>
                                        </p:tgtEl>
                                      </p:cBhvr>
                                    </p:animEffect>
                                    <p:anim calcmode="lin" valueType="num">
                                      <p:cBhvr>
                                        <p:cTn id="102" dur="600" decel="100000" fill="hold"/>
                                        <p:tgtEl>
                                          <p:spTgt spid="21"/>
                                        </p:tgtEl>
                                        <p:attrNameLst>
                                          <p:attrName>ppt_y</p:attrName>
                                        </p:attrNameLst>
                                      </p:cBhvr>
                                      <p:tavLst>
                                        <p:tav tm="0">
                                          <p:val>
                                            <p:strVal val="#ppt_y+0.04"/>
                                          </p:val>
                                        </p:tav>
                                        <p:tav tm="100000">
                                          <p:val>
                                            <p:strVal val="#ppt_y"/>
                                          </p:val>
                                        </p:tav>
                                      </p:tavLst>
                                    </p:anim>
                                  </p:childTnLst>
                                </p:cTn>
                              </p:par>
                            </p:childTnLst>
                          </p:cTn>
                        </p:par>
                        <p:par>
                          <p:cTn id="103" fill="hold">
                            <p:stCondLst>
                              <p:cond delay="0"/>
                            </p:stCondLst>
                            <p:childTnLst>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600"/>
                                        <p:tgtEl>
                                          <p:spTgt spid="22"/>
                                        </p:tgtEl>
                                      </p:cBhvr>
                                    </p:animEffect>
                                    <p:anim calcmode="lin" valueType="num">
                                      <p:cBhvr>
                                        <p:cTn id="107" dur="600" decel="100000" fill="hold"/>
                                        <p:tgtEl>
                                          <p:spTgt spid="22"/>
                                        </p:tgtEl>
                                        <p:attrNameLst>
                                          <p:attrName>ppt_y</p:attrName>
                                        </p:attrNameLst>
                                      </p:cBhvr>
                                      <p:tavLst>
                                        <p:tav tm="0">
                                          <p:val>
                                            <p:strVal val="#ppt_y+0.04"/>
                                          </p:val>
                                        </p:tav>
                                        <p:tav tm="100000">
                                          <p:val>
                                            <p:strVal val="#ppt_y"/>
                                          </p:val>
                                        </p:tav>
                                      </p:tavLst>
                                    </p:anim>
                                  </p:childTnLst>
                                </p:cTn>
                              </p:par>
                            </p:childTnLst>
                          </p:cTn>
                        </p:par>
                        <p:par>
                          <p:cTn id="108" fill="hold">
                            <p:stCondLst>
                              <p:cond delay="0"/>
                            </p:stCondLst>
                            <p:childTnLst>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600"/>
                                        <p:tgtEl>
                                          <p:spTgt spid="23"/>
                                        </p:tgtEl>
                                      </p:cBhvr>
                                    </p:animEffect>
                                    <p:anim calcmode="lin" valueType="num">
                                      <p:cBhvr>
                                        <p:cTn id="112" dur="600" decel="100000" fill="hold"/>
                                        <p:tgtEl>
                                          <p:spTgt spid="23"/>
                                        </p:tgtEl>
                                        <p:attrNameLst>
                                          <p:attrName>ppt_y</p:attrName>
                                        </p:attrNameLst>
                                      </p:cBhvr>
                                      <p:tavLst>
                                        <p:tav tm="0">
                                          <p:val>
                                            <p:strVal val="#ppt_y+0.04"/>
                                          </p:val>
                                        </p:tav>
                                        <p:tav tm="100000">
                                          <p:val>
                                            <p:strVal val="#ppt_y"/>
                                          </p:val>
                                        </p:tav>
                                      </p:tavLst>
                                    </p:anim>
                                  </p:childTnLst>
                                </p:cTn>
                              </p:par>
                            </p:childTnLst>
                          </p:cTn>
                        </p:par>
                        <p:par>
                          <p:cTn id="113" fill="hold">
                            <p:stCondLst>
                              <p:cond delay="0"/>
                            </p:stCondLst>
                            <p:childTnLst>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600"/>
                                        <p:tgtEl>
                                          <p:spTgt spid="24"/>
                                        </p:tgtEl>
                                      </p:cBhvr>
                                    </p:animEffect>
                                    <p:anim calcmode="lin" valueType="num">
                                      <p:cBhvr>
                                        <p:cTn id="117" dur="600" decel="100000" fill="hold"/>
                                        <p:tgtEl>
                                          <p:spTgt spid="24"/>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05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Arial Black" pitchFamily="34" charset="0"/>
                <a:ea typeface="Arial Black" pitchFamily="34" charset="-122"/>
                <a:cs typeface="Arial Black" pitchFamily="34" charset="-120"/>
              </a:rPr>
              <a:t>Action Plan</a:t>
            </a:r>
            <a:endParaRPr lang="en-US" sz="3600" dirty="0"/>
          </a:p>
        </p:txBody>
      </p:sp>
      <p:sp>
        <p:nvSpPr>
          <p:cNvPr id="4" name="a1_sub"/>
          <p:cNvSpPr txBox="1"/>
          <p:nvPr/>
        </p:nvSpPr>
        <p:spPr>
          <a:xfrm>
            <a:off x="548640" y="1691640"/>
            <a:ext cx="10058400" cy="411480"/>
          </a:xfrm>
          <a:prstGeom prst="rect">
            <a:avLst/>
          </a:prstGeom>
          <a:noFill/>
          <a:ln/>
        </p:spPr>
        <p:txBody>
          <a:bodyPr wrap="square" lIns="0" tIns="0" rIns="0" bIns="0" rtlCol="0" anchor="t"/>
          <a:lstStyle/>
          <a:p>
            <a:pPr indent="0" marL="0">
              <a:buNone/>
            </a:pPr>
            <a:r>
              <a:rPr lang="en-US" sz="1800" dirty="0">
                <a:solidFill>
                  <a:srgbClr val="5B6B80"/>
                </a:solidFill>
                <a:latin typeface="Calibri" pitchFamily="34" charset="0"/>
                <a:ea typeface="Calibri" pitchFamily="34" charset="-122"/>
                <a:cs typeface="Calibri" pitchFamily="34" charset="-120"/>
              </a:rPr>
              <a:t>Our business model is built on three key pillars:</a:t>
            </a:r>
            <a:endParaRPr lang="en-US" sz="1800" dirty="0"/>
          </a:p>
        </p:txBody>
      </p:sp>
      <p:sp>
        <p:nvSpPr>
          <p:cNvPr id="5" name="a2_card"/>
          <p:cNvSpPr/>
          <p:nvPr/>
        </p:nvSpPr>
        <p:spPr>
          <a:xfrm>
            <a:off x="548640" y="2286000"/>
            <a:ext cx="3474720" cy="3840480"/>
          </a:xfrm>
          <a:prstGeom prst="roundRect">
            <a:avLst>
              <a:gd name="adj" fmla="val 4737"/>
            </a:avLst>
          </a:prstGeom>
          <a:solidFill>
            <a:srgbClr val="FFFFFF"/>
          </a:solidFill>
          <a:ln/>
          <a:effectLst>
            <a:outerShdw sx="100000" sy="100000" kx="0" ky="0" algn="bl" rotWithShape="0" blurRad="228600" dist="76200" dir="5400000">
              <a:srgbClr val="0B1F3A">
                <a:alpha val="12000"/>
              </a:srgbClr>
            </a:outerShdw>
          </a:effectLst>
        </p:spPr>
      </p:sp>
      <p:sp>
        <p:nvSpPr>
          <p:cNvPr id="6" name="a2_num"/>
          <p:cNvSpPr txBox="1"/>
          <p:nvPr/>
        </p:nvSpPr>
        <p:spPr>
          <a:xfrm>
            <a:off x="2743200" y="2468880"/>
            <a:ext cx="1097280" cy="731520"/>
          </a:xfrm>
          <a:prstGeom prst="rect">
            <a:avLst/>
          </a:prstGeom>
          <a:noFill/>
          <a:ln/>
        </p:spPr>
        <p:txBody>
          <a:bodyPr wrap="square" lIns="0" tIns="0" rIns="0" bIns="0" rtlCol="0" anchor="t"/>
          <a:lstStyle/>
          <a:p>
            <a:pPr algn="r" indent="0" marL="0">
              <a:buNone/>
            </a:pPr>
            <a:r>
              <a:rPr lang="en-US" sz="4000" dirty="0">
                <a:solidFill>
                  <a:srgbClr val="C8F0E5"/>
                </a:solidFill>
                <a:latin typeface="Arial Black" pitchFamily="34" charset="0"/>
                <a:ea typeface="Arial Black" pitchFamily="34" charset="-122"/>
                <a:cs typeface="Arial Black" pitchFamily="34" charset="-120"/>
              </a:rPr>
              <a:t>01</a:t>
            </a:r>
            <a:endParaRPr lang="en-US" sz="4000" dirty="0"/>
          </a:p>
        </p:txBody>
      </p:sp>
      <p:sp>
        <p:nvSpPr>
          <p:cNvPr id="7" name="a2_circle"/>
          <p:cNvSpPr/>
          <p:nvPr/>
        </p:nvSpPr>
        <p:spPr>
          <a:xfrm>
            <a:off x="914400" y="2560320"/>
            <a:ext cx="914400" cy="914400"/>
          </a:xfrm>
          <a:prstGeom prst="ellipse">
            <a:avLst/>
          </a:prstGeom>
          <a:solidFill>
            <a:srgbClr val="0B1F3A"/>
          </a:solidFill>
          <a:ln/>
        </p:spPr>
      </p:sp>
      <p:pic>
        <p:nvPicPr>
          <p:cNvPr id="8" name="a2_icon" descr="coins">    </p:cNvPr>
          <p:cNvPicPr>
            <a:picLocks noChangeAspect="1"/>
          </p:cNvPicPr>
          <p:nvPr/>
        </p:nvPicPr>
        <p:blipFill>
          <a:blip r:embed="rId1"/>
          <a:stretch>
            <a:fillRect/>
          </a:stretch>
        </p:blipFill>
        <p:spPr>
          <a:xfrm>
            <a:off x="1161288" y="2807208"/>
            <a:ext cx="420624" cy="420624"/>
          </a:xfrm>
          <a:prstGeom prst="rect">
            <a:avLst/>
          </a:prstGeom>
        </p:spPr>
      </p:pic>
      <p:sp>
        <p:nvSpPr>
          <p:cNvPr id="9" name="a2_h"/>
          <p:cNvSpPr txBox="1"/>
          <p:nvPr/>
        </p:nvSpPr>
        <p:spPr>
          <a:xfrm>
            <a:off x="914400" y="3657600"/>
            <a:ext cx="2743200" cy="50292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Revenue</a:t>
            </a:r>
            <a:endParaRPr lang="en-US" sz="2400" dirty="0"/>
          </a:p>
        </p:txBody>
      </p:sp>
      <p:sp>
        <p:nvSpPr>
          <p:cNvPr id="10" name="a2_d"/>
          <p:cNvSpPr txBox="1"/>
          <p:nvPr/>
        </p:nvSpPr>
        <p:spPr>
          <a:xfrm>
            <a:off x="914400" y="4160520"/>
            <a:ext cx="2788920" cy="1234440"/>
          </a:xfrm>
          <a:prstGeom prst="rect">
            <a:avLst/>
          </a:prstGeom>
          <a:noFill/>
          <a:ln/>
        </p:spPr>
        <p:txBody>
          <a:bodyPr wrap="square" lIns="0" tIns="0" rIns="0" bIns="0" rtlCol="0" anchor="t"/>
          <a:lstStyle/>
          <a:p>
            <a:pPr indent="0" marL="0">
              <a:buNone/>
            </a:pPr>
            <a:r>
              <a:rPr lang="en-US" sz="1600" dirty="0">
                <a:solidFill>
                  <a:srgbClr val="5B6B80"/>
                </a:solidFill>
                <a:latin typeface="Calibri" pitchFamily="34" charset="0"/>
                <a:ea typeface="Calibri" pitchFamily="34" charset="-122"/>
                <a:cs typeface="Calibri" pitchFamily="34" charset="-120"/>
              </a:rPr>
              <a:t>We will generate income through direct sales of NutriPill, as well as experiences linked to the product.</a:t>
            </a:r>
            <a:endParaRPr lang="en-US" sz="1600" dirty="0"/>
          </a:p>
        </p:txBody>
      </p:sp>
      <p:sp>
        <p:nvSpPr>
          <p:cNvPr id="11" name="a3_card"/>
          <p:cNvSpPr/>
          <p:nvPr/>
        </p:nvSpPr>
        <p:spPr>
          <a:xfrm>
            <a:off x="4297680" y="2286000"/>
            <a:ext cx="3474720" cy="3840480"/>
          </a:xfrm>
          <a:prstGeom prst="roundRect">
            <a:avLst>
              <a:gd name="adj" fmla="val 4737"/>
            </a:avLst>
          </a:prstGeom>
          <a:solidFill>
            <a:srgbClr val="FFFFFF"/>
          </a:solidFill>
          <a:ln/>
          <a:effectLst>
            <a:outerShdw sx="100000" sy="100000" kx="0" ky="0" algn="bl" rotWithShape="0" blurRad="228600" dist="76200" dir="5400000">
              <a:srgbClr val="0B1F3A">
                <a:alpha val="12000"/>
              </a:srgbClr>
            </a:outerShdw>
          </a:effectLst>
        </p:spPr>
      </p:sp>
      <p:sp>
        <p:nvSpPr>
          <p:cNvPr id="12" name="a3_num"/>
          <p:cNvSpPr txBox="1"/>
          <p:nvPr/>
        </p:nvSpPr>
        <p:spPr>
          <a:xfrm>
            <a:off x="6492240" y="2468880"/>
            <a:ext cx="1097280" cy="731520"/>
          </a:xfrm>
          <a:prstGeom prst="rect">
            <a:avLst/>
          </a:prstGeom>
          <a:noFill/>
          <a:ln/>
        </p:spPr>
        <p:txBody>
          <a:bodyPr wrap="square" lIns="0" tIns="0" rIns="0" bIns="0" rtlCol="0" anchor="t"/>
          <a:lstStyle/>
          <a:p>
            <a:pPr algn="r" indent="0" marL="0">
              <a:buNone/>
            </a:pPr>
            <a:r>
              <a:rPr lang="en-US" sz="4000" dirty="0">
                <a:solidFill>
                  <a:srgbClr val="C8F0E5"/>
                </a:solidFill>
                <a:latin typeface="Arial Black" pitchFamily="34" charset="0"/>
                <a:ea typeface="Arial Black" pitchFamily="34" charset="-122"/>
                <a:cs typeface="Arial Black" pitchFamily="34" charset="-120"/>
              </a:rPr>
              <a:t>02</a:t>
            </a:r>
            <a:endParaRPr lang="en-US" sz="4000" dirty="0"/>
          </a:p>
        </p:txBody>
      </p:sp>
      <p:sp>
        <p:nvSpPr>
          <p:cNvPr id="13" name="a3_circle"/>
          <p:cNvSpPr/>
          <p:nvPr/>
        </p:nvSpPr>
        <p:spPr>
          <a:xfrm>
            <a:off x="4663440" y="2560320"/>
            <a:ext cx="914400" cy="914400"/>
          </a:xfrm>
          <a:prstGeom prst="ellipse">
            <a:avLst/>
          </a:prstGeom>
          <a:solidFill>
            <a:srgbClr val="0B1F3A"/>
          </a:solidFill>
          <a:ln/>
        </p:spPr>
      </p:sp>
      <p:pic>
        <p:nvPicPr>
          <p:cNvPr id="14" name="a3_icon" descr="share">    </p:cNvPr>
          <p:cNvPicPr>
            <a:picLocks noChangeAspect="1"/>
          </p:cNvPicPr>
          <p:nvPr/>
        </p:nvPicPr>
        <p:blipFill>
          <a:blip r:embed="rId2"/>
          <a:stretch>
            <a:fillRect/>
          </a:stretch>
        </p:blipFill>
        <p:spPr>
          <a:xfrm>
            <a:off x="4910328" y="2807208"/>
            <a:ext cx="420624" cy="420624"/>
          </a:xfrm>
          <a:prstGeom prst="rect">
            <a:avLst/>
          </a:prstGeom>
        </p:spPr>
      </p:pic>
      <p:sp>
        <p:nvSpPr>
          <p:cNvPr id="15" name="a3_h"/>
          <p:cNvSpPr txBox="1"/>
          <p:nvPr/>
        </p:nvSpPr>
        <p:spPr>
          <a:xfrm>
            <a:off x="4663440" y="3657600"/>
            <a:ext cx="2743200" cy="50292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Channels</a:t>
            </a:r>
            <a:endParaRPr lang="en-US" sz="2400" dirty="0"/>
          </a:p>
        </p:txBody>
      </p:sp>
      <p:sp>
        <p:nvSpPr>
          <p:cNvPr id="16" name="a3_d"/>
          <p:cNvSpPr txBox="1"/>
          <p:nvPr/>
        </p:nvSpPr>
        <p:spPr>
          <a:xfrm>
            <a:off x="4663440" y="4160520"/>
            <a:ext cx="2788920" cy="1234440"/>
          </a:xfrm>
          <a:prstGeom prst="rect">
            <a:avLst/>
          </a:prstGeom>
          <a:noFill/>
          <a:ln/>
        </p:spPr>
        <p:txBody>
          <a:bodyPr wrap="square" lIns="0" tIns="0" rIns="0" bIns="0" rtlCol="0" anchor="t"/>
          <a:lstStyle/>
          <a:p>
            <a:pPr indent="0" marL="0">
              <a:buNone/>
            </a:pPr>
            <a:r>
              <a:rPr lang="en-US" sz="1600" dirty="0">
                <a:solidFill>
                  <a:srgbClr val="5B6B80"/>
                </a:solidFill>
                <a:latin typeface="Calibri" pitchFamily="34" charset="0"/>
                <a:ea typeface="Calibri" pitchFamily="34" charset="-122"/>
                <a:cs typeface="Calibri" pitchFamily="34" charset="-120"/>
              </a:rPr>
              <a:t>We will build a strong presence on the main social networks, combined with face-to-face experiences.</a:t>
            </a:r>
            <a:endParaRPr lang="en-US" sz="1600" dirty="0"/>
          </a:p>
        </p:txBody>
      </p:sp>
      <p:sp>
        <p:nvSpPr>
          <p:cNvPr id="17" name="a4_card"/>
          <p:cNvSpPr/>
          <p:nvPr/>
        </p:nvSpPr>
        <p:spPr>
          <a:xfrm>
            <a:off x="8046720" y="2286000"/>
            <a:ext cx="3474720" cy="3840480"/>
          </a:xfrm>
          <a:prstGeom prst="roundRect">
            <a:avLst>
              <a:gd name="adj" fmla="val 4737"/>
            </a:avLst>
          </a:prstGeom>
          <a:solidFill>
            <a:srgbClr val="FFFFFF"/>
          </a:solidFill>
          <a:ln/>
          <a:effectLst>
            <a:outerShdw sx="100000" sy="100000" kx="0" ky="0" algn="bl" rotWithShape="0" blurRad="228600" dist="76200" dir="5400000">
              <a:srgbClr val="0B1F3A">
                <a:alpha val="12000"/>
              </a:srgbClr>
            </a:outerShdw>
          </a:effectLst>
        </p:spPr>
      </p:sp>
      <p:sp>
        <p:nvSpPr>
          <p:cNvPr id="18" name="a4_num"/>
          <p:cNvSpPr txBox="1"/>
          <p:nvPr/>
        </p:nvSpPr>
        <p:spPr>
          <a:xfrm>
            <a:off x="10241280" y="2468880"/>
            <a:ext cx="1097280" cy="731520"/>
          </a:xfrm>
          <a:prstGeom prst="rect">
            <a:avLst/>
          </a:prstGeom>
          <a:noFill/>
          <a:ln/>
        </p:spPr>
        <p:txBody>
          <a:bodyPr wrap="square" lIns="0" tIns="0" rIns="0" bIns="0" rtlCol="0" anchor="t"/>
          <a:lstStyle/>
          <a:p>
            <a:pPr algn="r" indent="0" marL="0">
              <a:buNone/>
            </a:pPr>
            <a:r>
              <a:rPr lang="en-US" sz="4000" dirty="0">
                <a:solidFill>
                  <a:srgbClr val="C8F0E5"/>
                </a:solidFill>
                <a:latin typeface="Arial Black" pitchFamily="34" charset="0"/>
                <a:ea typeface="Arial Black" pitchFamily="34" charset="-122"/>
                <a:cs typeface="Arial Black" pitchFamily="34" charset="-120"/>
              </a:rPr>
              <a:t>03</a:t>
            </a:r>
            <a:endParaRPr lang="en-US" sz="4000" dirty="0"/>
          </a:p>
        </p:txBody>
      </p:sp>
      <p:sp>
        <p:nvSpPr>
          <p:cNvPr id="19" name="a4_circle"/>
          <p:cNvSpPr/>
          <p:nvPr/>
        </p:nvSpPr>
        <p:spPr>
          <a:xfrm>
            <a:off x="8412480" y="2560320"/>
            <a:ext cx="914400" cy="914400"/>
          </a:xfrm>
          <a:prstGeom prst="ellipse">
            <a:avLst/>
          </a:prstGeom>
          <a:solidFill>
            <a:srgbClr val="0B1F3A"/>
          </a:solidFill>
          <a:ln/>
        </p:spPr>
      </p:sp>
      <p:pic>
        <p:nvPicPr>
          <p:cNvPr id="20" name="a4_icon" descr="tag">    </p:cNvPr>
          <p:cNvPicPr>
            <a:picLocks noChangeAspect="1"/>
          </p:cNvPicPr>
          <p:nvPr/>
        </p:nvPicPr>
        <p:blipFill>
          <a:blip r:embed="rId3"/>
          <a:stretch>
            <a:fillRect/>
          </a:stretch>
        </p:blipFill>
        <p:spPr>
          <a:xfrm>
            <a:off x="8659368" y="2807208"/>
            <a:ext cx="420624" cy="420624"/>
          </a:xfrm>
          <a:prstGeom prst="rect">
            <a:avLst/>
          </a:prstGeom>
        </p:spPr>
      </p:pic>
      <p:sp>
        <p:nvSpPr>
          <p:cNvPr id="21" name="a4_h"/>
          <p:cNvSpPr txBox="1"/>
          <p:nvPr/>
        </p:nvSpPr>
        <p:spPr>
          <a:xfrm>
            <a:off x="8412480" y="3657600"/>
            <a:ext cx="2743200" cy="502920"/>
          </a:xfrm>
          <a:prstGeom prst="rect">
            <a:avLst/>
          </a:prstGeom>
          <a:noFill/>
          <a:ln/>
        </p:spPr>
        <p:txBody>
          <a:bodyPr wrap="square" lIns="0" tIns="0" rIns="0" bIns="0" rtlCol="0" anchor="t"/>
          <a:lstStyle/>
          <a:p>
            <a:pPr indent="0" marL="0">
              <a:buNone/>
            </a:pPr>
            <a:r>
              <a:rPr lang="en-US" sz="2400" b="1" dirty="0">
                <a:solidFill>
                  <a:srgbClr val="0B1F3A"/>
                </a:solidFill>
                <a:latin typeface="Calibri" pitchFamily="34" charset="0"/>
                <a:ea typeface="Calibri" pitchFamily="34" charset="-122"/>
                <a:cs typeface="Calibri" pitchFamily="34" charset="-120"/>
              </a:rPr>
              <a:t>Pricing</a:t>
            </a:r>
            <a:endParaRPr lang="en-US" sz="2400" dirty="0"/>
          </a:p>
        </p:txBody>
      </p:sp>
      <p:sp>
        <p:nvSpPr>
          <p:cNvPr id="22" name="a4_d"/>
          <p:cNvSpPr txBox="1"/>
          <p:nvPr/>
        </p:nvSpPr>
        <p:spPr>
          <a:xfrm>
            <a:off x="8412480" y="4160520"/>
            <a:ext cx="2788920" cy="1234440"/>
          </a:xfrm>
          <a:prstGeom prst="rect">
            <a:avLst/>
          </a:prstGeom>
          <a:noFill/>
          <a:ln/>
        </p:spPr>
        <p:txBody>
          <a:bodyPr wrap="square" lIns="0" tIns="0" rIns="0" bIns="0" rtlCol="0" anchor="t"/>
          <a:lstStyle/>
          <a:p>
            <a:pPr indent="0" marL="0">
              <a:buNone/>
            </a:pPr>
            <a:r>
              <a:rPr lang="en-US" sz="1600" dirty="0">
                <a:solidFill>
                  <a:srgbClr val="5B6B80"/>
                </a:solidFill>
                <a:latin typeface="Calibri" pitchFamily="34" charset="0"/>
                <a:ea typeface="Calibri" pitchFamily="34" charset="-122"/>
                <a:cs typeface="Calibri" pitchFamily="34" charset="-120"/>
              </a:rPr>
              <a:t>Our prices will be affordable but with added value: a premium option that remains accessible to everyone.</a:t>
            </a:r>
            <a:endParaRPr lang="en-US" sz="1600" dirty="0"/>
          </a:p>
        </p:txBody>
      </p:sp>
      <p:pic>
        <p:nvPicPr>
          <p:cNvPr id="23" name="a3_social" descr="instagram">    </p:cNvPr>
          <p:cNvPicPr>
            <a:picLocks noChangeAspect="1"/>
          </p:cNvPicPr>
          <p:nvPr/>
        </p:nvPicPr>
        <p:blipFill>
          <a:blip r:embed="rId4"/>
          <a:stretch>
            <a:fillRect/>
          </a:stretch>
        </p:blipFill>
        <p:spPr>
          <a:xfrm>
            <a:off x="4663440" y="5486400"/>
            <a:ext cx="384048" cy="384048"/>
          </a:xfrm>
          <a:prstGeom prst="rect">
            <a:avLst/>
          </a:prstGeom>
        </p:spPr>
      </p:pic>
      <p:pic>
        <p:nvPicPr>
          <p:cNvPr id="24" name="a3_social" descr="tiktok">    </p:cNvPr>
          <p:cNvPicPr>
            <a:picLocks noChangeAspect="1"/>
          </p:cNvPicPr>
          <p:nvPr/>
        </p:nvPicPr>
        <p:blipFill>
          <a:blip r:embed="rId5"/>
          <a:stretch>
            <a:fillRect/>
          </a:stretch>
        </p:blipFill>
        <p:spPr>
          <a:xfrm>
            <a:off x="5257800" y="5486400"/>
            <a:ext cx="384048" cy="384048"/>
          </a:xfrm>
          <a:prstGeom prst="rect">
            <a:avLst/>
          </a:prstGeom>
        </p:spPr>
      </p:pic>
      <p:pic>
        <p:nvPicPr>
          <p:cNvPr id="25" name="a3_social" descr="youtube">    </p:cNvPr>
          <p:cNvPicPr>
            <a:picLocks noChangeAspect="1"/>
          </p:cNvPicPr>
          <p:nvPr/>
        </p:nvPicPr>
        <p:blipFill>
          <a:blip r:embed="rId6"/>
          <a:stretch>
            <a:fillRect/>
          </a:stretch>
        </p:blipFill>
        <p:spPr>
          <a:xfrm>
            <a:off x="5852160" y="5486400"/>
            <a:ext cx="384048" cy="384048"/>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6</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123"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600"/>
                                        <p:tgtEl>
                                          <p:spTgt spid="23"/>
                                        </p:tgtEl>
                                      </p:cBhvr>
                                    </p:animEffect>
                                    <p:anim calcmode="lin" valueType="num">
                                      <p:cBhvr>
                                        <p:cTn id="82" dur="600" decel="100000" fill="hold"/>
                                        <p:tgtEl>
                                          <p:spTgt spid="23"/>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00"/>
                                        <p:tgtEl>
                                          <p:spTgt spid="24"/>
                                        </p:tgtEl>
                                      </p:cBhvr>
                                    </p:animEffect>
                                    <p:anim calcmode="lin" valueType="num">
                                      <p:cBhvr>
                                        <p:cTn id="87" dur="600" decel="100000" fill="hold"/>
                                        <p:tgtEl>
                                          <p:spTgt spid="24"/>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600"/>
                                        <p:tgtEl>
                                          <p:spTgt spid="25"/>
                                        </p:tgtEl>
                                      </p:cBhvr>
                                    </p:animEffect>
                                    <p:anim calcmode="lin" valueType="num">
                                      <p:cBhvr>
                                        <p:cTn id="92" dur="600" decel="100000" fill="hold"/>
                                        <p:tgtEl>
                                          <p:spTgt spid="25"/>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afterEffect">
                                  <p:stCondLst>
                                    <p:cond delay="0"/>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600"/>
                                        <p:tgtEl>
                                          <p:spTgt spid="17"/>
                                        </p:tgtEl>
                                      </p:cBhvr>
                                    </p:animEffect>
                                    <p:anim calcmode="lin" valueType="num">
                                      <p:cBhvr>
                                        <p:cTn id="97"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600"/>
                                        <p:tgtEl>
                                          <p:spTgt spid="18"/>
                                        </p:tgtEl>
                                      </p:cBhvr>
                                    </p:animEffect>
                                    <p:anim calcmode="lin" valueType="num">
                                      <p:cBhvr>
                                        <p:cTn id="102"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103" fill="hold">
                            <p:stCondLst>
                              <p:cond delay="0"/>
                            </p:stCondLst>
                            <p:childTnLst>
                              <p:par>
                                <p:cTn id="104" presetID="42" presetClass="entr" presetSubtype="0" fill="hold" grpId="0" nodeType="withEffect">
                                  <p:stCondLst>
                                    <p:cond delay="0"/>
                                  </p:stCondLst>
                                  <p:childTnLst>
                                    <p:set>
                                      <p:cBhvr>
                                        <p:cTn id="105" dur="1" fill="hold">
                                          <p:stCondLst>
                                            <p:cond delay="0"/>
                                          </p:stCondLst>
                                        </p:cTn>
                                        <p:tgtEl>
                                          <p:spTgt spid="19"/>
                                        </p:tgtEl>
                                        <p:attrNameLst>
                                          <p:attrName>style.visibility</p:attrName>
                                        </p:attrNameLst>
                                      </p:cBhvr>
                                      <p:to>
                                        <p:strVal val="visible"/>
                                      </p:to>
                                    </p:set>
                                    <p:animEffect transition="in" filter="fade">
                                      <p:cBhvr>
                                        <p:cTn id="106" dur="600"/>
                                        <p:tgtEl>
                                          <p:spTgt spid="19"/>
                                        </p:tgtEl>
                                      </p:cBhvr>
                                    </p:animEffect>
                                    <p:anim calcmode="lin" valueType="num">
                                      <p:cBhvr>
                                        <p:cTn id="107"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108" fill="hold">
                            <p:stCondLst>
                              <p:cond delay="0"/>
                            </p:stCondLst>
                            <p:childTnLst>
                              <p:par>
                                <p:cTn id="109" presetID="42" presetClass="entr" presetSubtype="0" fill="hold" grpId="0" nodeType="withEffect">
                                  <p:stCondLst>
                                    <p:cond delay="0"/>
                                  </p:stCondLst>
                                  <p:childTnLst>
                                    <p:set>
                                      <p:cBhvr>
                                        <p:cTn id="110" dur="1" fill="hold">
                                          <p:stCondLst>
                                            <p:cond delay="0"/>
                                          </p:stCondLst>
                                        </p:cTn>
                                        <p:tgtEl>
                                          <p:spTgt spid="20"/>
                                        </p:tgtEl>
                                        <p:attrNameLst>
                                          <p:attrName>style.visibility</p:attrName>
                                        </p:attrNameLst>
                                      </p:cBhvr>
                                      <p:to>
                                        <p:strVal val="visible"/>
                                      </p:to>
                                    </p:set>
                                    <p:animEffect transition="in" filter="fade">
                                      <p:cBhvr>
                                        <p:cTn id="111" dur="600"/>
                                        <p:tgtEl>
                                          <p:spTgt spid="20"/>
                                        </p:tgtEl>
                                      </p:cBhvr>
                                    </p:animEffect>
                                    <p:anim calcmode="lin" valueType="num">
                                      <p:cBhvr>
                                        <p:cTn id="112"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113" fill="hold">
                            <p:stCondLst>
                              <p:cond delay="0"/>
                            </p:stCondLst>
                            <p:childTnLst>
                              <p:par>
                                <p:cTn id="114" presetID="42" presetClass="entr" presetSubtype="0" fill="hold" grpId="0" nodeType="withEffect">
                                  <p:stCondLst>
                                    <p:cond delay="0"/>
                                  </p:stCondLst>
                                  <p:childTnLst>
                                    <p:set>
                                      <p:cBhvr>
                                        <p:cTn id="115" dur="1" fill="hold">
                                          <p:stCondLst>
                                            <p:cond delay="0"/>
                                          </p:stCondLst>
                                        </p:cTn>
                                        <p:tgtEl>
                                          <p:spTgt spid="21"/>
                                        </p:tgtEl>
                                        <p:attrNameLst>
                                          <p:attrName>style.visibility</p:attrName>
                                        </p:attrNameLst>
                                      </p:cBhvr>
                                      <p:to>
                                        <p:strVal val="visible"/>
                                      </p:to>
                                    </p:set>
                                    <p:animEffect transition="in" filter="fade">
                                      <p:cBhvr>
                                        <p:cTn id="116" dur="600"/>
                                        <p:tgtEl>
                                          <p:spTgt spid="21"/>
                                        </p:tgtEl>
                                      </p:cBhvr>
                                    </p:animEffect>
                                    <p:anim calcmode="lin" valueType="num">
                                      <p:cBhvr>
                                        <p:cTn id="117" dur="600" decel="100000" fill="hold"/>
                                        <p:tgtEl>
                                          <p:spTgt spid="21"/>
                                        </p:tgtEl>
                                        <p:attrNameLst>
                                          <p:attrName>ppt_y</p:attrName>
                                        </p:attrNameLst>
                                      </p:cBhvr>
                                      <p:tavLst>
                                        <p:tav tm="0">
                                          <p:val>
                                            <p:strVal val="#ppt_y+0.04"/>
                                          </p:val>
                                        </p:tav>
                                        <p:tav tm="100000">
                                          <p:val>
                                            <p:strVal val="#ppt_y"/>
                                          </p:val>
                                        </p:tav>
                                      </p:tavLst>
                                    </p:anim>
                                  </p:childTnLst>
                                </p:cTn>
                              </p:par>
                            </p:childTnLst>
                          </p:cTn>
                        </p:par>
                        <p:par>
                          <p:cTn id="118" fill="hold">
                            <p:stCondLst>
                              <p:cond delay="0"/>
                            </p:stCondLst>
                            <p:childTnLst>
                              <p:par>
                                <p:cTn id="119" presetID="42" presetClass="entr" presetSubtype="0" fill="hold" grpId="0" nodeType="withEffect">
                                  <p:stCondLst>
                                    <p:cond delay="0"/>
                                  </p:stCondLst>
                                  <p:childTnLst>
                                    <p:set>
                                      <p:cBhvr>
                                        <p:cTn id="120" dur="1" fill="hold">
                                          <p:stCondLst>
                                            <p:cond delay="0"/>
                                          </p:stCondLst>
                                        </p:cTn>
                                        <p:tgtEl>
                                          <p:spTgt spid="22"/>
                                        </p:tgtEl>
                                        <p:attrNameLst>
                                          <p:attrName>style.visibility</p:attrName>
                                        </p:attrNameLst>
                                      </p:cBhvr>
                                      <p:to>
                                        <p:strVal val="visible"/>
                                      </p:to>
                                    </p:set>
                                    <p:animEffect transition="in" filter="fade">
                                      <p:cBhvr>
                                        <p:cTn id="121" dur="600"/>
                                        <p:tgtEl>
                                          <p:spTgt spid="22"/>
                                        </p:tgtEl>
                                      </p:cBhvr>
                                    </p:animEffect>
                                    <p:anim calcmode="lin" valueType="num">
                                      <p:cBhvr>
                                        <p:cTn id="122" dur="600" decel="100000" fill="hold"/>
                                        <p:tgtEl>
                                          <p:spTgt spid="2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06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Black" pitchFamily="34" charset="0"/>
                <a:ea typeface="Arial Black" pitchFamily="34" charset="-122"/>
                <a:cs typeface="Arial Black" pitchFamily="34" charset="-120"/>
              </a:rPr>
              <a:t>Growth Strategy</a:t>
            </a:r>
            <a:endParaRPr lang="en-US" sz="3600" dirty="0"/>
          </a:p>
        </p:txBody>
      </p:sp>
      <p:sp>
        <p:nvSpPr>
          <p:cNvPr id="4" name="a1_line"/>
          <p:cNvSpPr/>
          <p:nvPr/>
        </p:nvSpPr>
        <p:spPr>
          <a:xfrm>
            <a:off x="1097280" y="2606040"/>
            <a:ext cx="9966960" cy="0"/>
          </a:xfrm>
          <a:prstGeom prst="line">
            <a:avLst/>
          </a:prstGeom>
          <a:noFill/>
          <a:ln w="25400">
            <a:solidFill>
              <a:srgbClr val="14C9A1"/>
            </a:solidFill>
            <a:prstDash val="dash"/>
          </a:ln>
        </p:spPr>
      </p:sp>
      <p:sp>
        <p:nvSpPr>
          <p:cNvPr id="5" name="a2_ring"/>
          <p:cNvSpPr/>
          <p:nvPr/>
        </p:nvSpPr>
        <p:spPr>
          <a:xfrm>
            <a:off x="594360" y="2103120"/>
            <a:ext cx="1005840" cy="1005840"/>
          </a:xfrm>
          <a:prstGeom prst="ellipse">
            <a:avLst/>
          </a:prstGeom>
          <a:solidFill>
            <a:srgbClr val="0B1F3A"/>
          </a:solidFill>
          <a:ln w="38100">
            <a:solidFill>
              <a:srgbClr val="14C9A1"/>
            </a:solidFill>
            <a:prstDash val="solid"/>
          </a:ln>
        </p:spPr>
      </p:sp>
      <p:pic>
        <p:nvPicPr>
          <p:cNvPr id="6" name="a2_icon" descr="Create inspiring content">    </p:cNvPr>
          <p:cNvPicPr>
            <a:picLocks noChangeAspect="1"/>
          </p:cNvPicPr>
          <p:nvPr/>
        </p:nvPicPr>
        <p:blipFill>
          <a:blip r:embed="rId1"/>
          <a:stretch>
            <a:fillRect/>
          </a:stretch>
        </p:blipFill>
        <p:spPr>
          <a:xfrm>
            <a:off x="850392" y="2359152"/>
            <a:ext cx="493776" cy="493776"/>
          </a:xfrm>
          <a:prstGeom prst="rect">
            <a:avLst/>
          </a:prstGeom>
        </p:spPr>
      </p:pic>
      <p:sp>
        <p:nvSpPr>
          <p:cNvPr id="7" name="a2_num"/>
          <p:cNvSpPr txBox="1"/>
          <p:nvPr/>
        </p:nvSpPr>
        <p:spPr>
          <a:xfrm>
            <a:off x="548640" y="3383280"/>
            <a:ext cx="2560320" cy="457200"/>
          </a:xfrm>
          <a:prstGeom prst="rect">
            <a:avLst/>
          </a:prstGeom>
          <a:noFill/>
          <a:ln/>
        </p:spPr>
        <p:txBody>
          <a:bodyPr wrap="square" lIns="0" tIns="0" rIns="0" bIns="0" rtlCol="0" anchor="t"/>
          <a:lstStyle/>
          <a:p>
            <a:pPr indent="0" marL="0">
              <a:buNone/>
            </a:pPr>
            <a:r>
              <a:rPr lang="en-US" sz="2200" dirty="0">
                <a:solidFill>
                  <a:srgbClr val="FF6B4A"/>
                </a:solidFill>
                <a:latin typeface="Arial Black" pitchFamily="34" charset="0"/>
                <a:ea typeface="Arial Black" pitchFamily="34" charset="-122"/>
                <a:cs typeface="Arial Black" pitchFamily="34" charset="-120"/>
              </a:rPr>
              <a:t>01</a:t>
            </a:r>
            <a:endParaRPr lang="en-US" sz="2200" dirty="0"/>
          </a:p>
        </p:txBody>
      </p:sp>
      <p:sp>
        <p:nvSpPr>
          <p:cNvPr id="8" name="a2_h"/>
          <p:cNvSpPr txBox="1"/>
          <p:nvPr/>
        </p:nvSpPr>
        <p:spPr>
          <a:xfrm>
            <a:off x="548640" y="3840480"/>
            <a:ext cx="2606040" cy="77724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Create inspiring content</a:t>
            </a:r>
            <a:endParaRPr lang="en-US" sz="1900" dirty="0"/>
          </a:p>
        </p:txBody>
      </p:sp>
      <p:sp>
        <p:nvSpPr>
          <p:cNvPr id="9" name="a2_d"/>
          <p:cNvSpPr txBox="1"/>
          <p:nvPr/>
        </p:nvSpPr>
        <p:spPr>
          <a:xfrm>
            <a:off x="548640" y="4663440"/>
            <a:ext cx="2560320" cy="118872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We will share content on social media that shows a real, everyday lifestyle.</a:t>
            </a:r>
            <a:endParaRPr lang="en-US" sz="1500" dirty="0"/>
          </a:p>
        </p:txBody>
      </p:sp>
      <p:sp>
        <p:nvSpPr>
          <p:cNvPr id="10" name="a3_ring"/>
          <p:cNvSpPr/>
          <p:nvPr/>
        </p:nvSpPr>
        <p:spPr>
          <a:xfrm>
            <a:off x="3429000" y="2103120"/>
            <a:ext cx="1005840" cy="1005840"/>
          </a:xfrm>
          <a:prstGeom prst="ellipse">
            <a:avLst/>
          </a:prstGeom>
          <a:solidFill>
            <a:srgbClr val="0B1F3A"/>
          </a:solidFill>
          <a:ln w="38100">
            <a:solidFill>
              <a:srgbClr val="14C9A1"/>
            </a:solidFill>
            <a:prstDash val="solid"/>
          </a:ln>
        </p:spPr>
      </p:sp>
      <p:pic>
        <p:nvPicPr>
          <p:cNvPr id="11" name="a3_icon" descr="Work with local influencers">    </p:cNvPr>
          <p:cNvPicPr>
            <a:picLocks noChangeAspect="1"/>
          </p:cNvPicPr>
          <p:nvPr/>
        </p:nvPicPr>
        <p:blipFill>
          <a:blip r:embed="rId2"/>
          <a:stretch>
            <a:fillRect/>
          </a:stretch>
        </p:blipFill>
        <p:spPr>
          <a:xfrm>
            <a:off x="3685032" y="2359152"/>
            <a:ext cx="493776" cy="493776"/>
          </a:xfrm>
          <a:prstGeom prst="rect">
            <a:avLst/>
          </a:prstGeom>
        </p:spPr>
      </p:pic>
      <p:sp>
        <p:nvSpPr>
          <p:cNvPr id="12" name="a3_num"/>
          <p:cNvSpPr txBox="1"/>
          <p:nvPr/>
        </p:nvSpPr>
        <p:spPr>
          <a:xfrm>
            <a:off x="3383280" y="3383280"/>
            <a:ext cx="2560320" cy="457200"/>
          </a:xfrm>
          <a:prstGeom prst="rect">
            <a:avLst/>
          </a:prstGeom>
          <a:noFill/>
          <a:ln/>
        </p:spPr>
        <p:txBody>
          <a:bodyPr wrap="square" lIns="0" tIns="0" rIns="0" bIns="0" rtlCol="0" anchor="t"/>
          <a:lstStyle/>
          <a:p>
            <a:pPr indent="0" marL="0">
              <a:buNone/>
            </a:pPr>
            <a:r>
              <a:rPr lang="en-US" sz="2200" dirty="0">
                <a:solidFill>
                  <a:srgbClr val="FF6B4A"/>
                </a:solidFill>
                <a:latin typeface="Arial Black" pitchFamily="34" charset="0"/>
                <a:ea typeface="Arial Black" pitchFamily="34" charset="-122"/>
                <a:cs typeface="Arial Black" pitchFamily="34" charset="-120"/>
              </a:rPr>
              <a:t>02</a:t>
            </a:r>
            <a:endParaRPr lang="en-US" sz="2200" dirty="0"/>
          </a:p>
        </p:txBody>
      </p:sp>
      <p:sp>
        <p:nvSpPr>
          <p:cNvPr id="13" name="a3_h"/>
          <p:cNvSpPr txBox="1"/>
          <p:nvPr/>
        </p:nvSpPr>
        <p:spPr>
          <a:xfrm>
            <a:off x="3383280" y="3840480"/>
            <a:ext cx="2606040" cy="77724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Work with local influencers</a:t>
            </a:r>
            <a:endParaRPr lang="en-US" sz="1900" dirty="0"/>
          </a:p>
        </p:txBody>
      </p:sp>
      <p:sp>
        <p:nvSpPr>
          <p:cNvPr id="14" name="a3_d"/>
          <p:cNvSpPr txBox="1"/>
          <p:nvPr/>
        </p:nvSpPr>
        <p:spPr>
          <a:xfrm>
            <a:off x="3383280" y="4663440"/>
            <a:ext cx="2560320" cy="118872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We will partner with influencers who truly represent our brand's philosophy.</a:t>
            </a:r>
            <a:endParaRPr lang="en-US" sz="1500" dirty="0"/>
          </a:p>
        </p:txBody>
      </p:sp>
      <p:sp>
        <p:nvSpPr>
          <p:cNvPr id="15" name="a4_ring"/>
          <p:cNvSpPr/>
          <p:nvPr/>
        </p:nvSpPr>
        <p:spPr>
          <a:xfrm>
            <a:off x="6263640" y="2103120"/>
            <a:ext cx="1005840" cy="1005840"/>
          </a:xfrm>
          <a:prstGeom prst="ellipse">
            <a:avLst/>
          </a:prstGeom>
          <a:solidFill>
            <a:srgbClr val="0B1F3A"/>
          </a:solidFill>
          <a:ln w="38100">
            <a:solidFill>
              <a:srgbClr val="14C9A1"/>
            </a:solidFill>
            <a:prstDash val="solid"/>
          </a:ln>
        </p:spPr>
      </p:sp>
      <p:pic>
        <p:nvPicPr>
          <p:cNvPr id="16" name="a4_icon" descr="Create memorable experiences">    </p:cNvPr>
          <p:cNvPicPr>
            <a:picLocks noChangeAspect="1"/>
          </p:cNvPicPr>
          <p:nvPr/>
        </p:nvPicPr>
        <p:blipFill>
          <a:blip r:embed="rId3"/>
          <a:stretch>
            <a:fillRect/>
          </a:stretch>
        </p:blipFill>
        <p:spPr>
          <a:xfrm>
            <a:off x="6519672" y="2359152"/>
            <a:ext cx="493776" cy="493776"/>
          </a:xfrm>
          <a:prstGeom prst="rect">
            <a:avLst/>
          </a:prstGeom>
        </p:spPr>
      </p:pic>
      <p:sp>
        <p:nvSpPr>
          <p:cNvPr id="17" name="a4_num"/>
          <p:cNvSpPr txBox="1"/>
          <p:nvPr/>
        </p:nvSpPr>
        <p:spPr>
          <a:xfrm>
            <a:off x="6217920" y="3383280"/>
            <a:ext cx="2560320" cy="457200"/>
          </a:xfrm>
          <a:prstGeom prst="rect">
            <a:avLst/>
          </a:prstGeom>
          <a:noFill/>
          <a:ln/>
        </p:spPr>
        <p:txBody>
          <a:bodyPr wrap="square" lIns="0" tIns="0" rIns="0" bIns="0" rtlCol="0" anchor="t"/>
          <a:lstStyle/>
          <a:p>
            <a:pPr indent="0" marL="0">
              <a:buNone/>
            </a:pPr>
            <a:r>
              <a:rPr lang="en-US" sz="2200" dirty="0">
                <a:solidFill>
                  <a:srgbClr val="FF6B4A"/>
                </a:solidFill>
                <a:latin typeface="Arial Black" pitchFamily="34" charset="0"/>
                <a:ea typeface="Arial Black" pitchFamily="34" charset="-122"/>
                <a:cs typeface="Arial Black" pitchFamily="34" charset="-120"/>
              </a:rPr>
              <a:t>03</a:t>
            </a:r>
            <a:endParaRPr lang="en-US" sz="2200" dirty="0"/>
          </a:p>
        </p:txBody>
      </p:sp>
      <p:sp>
        <p:nvSpPr>
          <p:cNvPr id="18" name="a4_h"/>
          <p:cNvSpPr txBox="1"/>
          <p:nvPr/>
        </p:nvSpPr>
        <p:spPr>
          <a:xfrm>
            <a:off x="6217920" y="3840480"/>
            <a:ext cx="2606040" cy="77724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Create memorable experiences</a:t>
            </a:r>
            <a:endParaRPr lang="en-US" sz="1900" dirty="0"/>
          </a:p>
        </p:txBody>
      </p:sp>
      <p:sp>
        <p:nvSpPr>
          <p:cNvPr id="19" name="a4_d"/>
          <p:cNvSpPr txBox="1"/>
          <p:nvPr/>
        </p:nvSpPr>
        <p:spPr>
          <a:xfrm>
            <a:off x="6217920" y="4663440"/>
            <a:ext cx="2560320" cy="118872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We will organise events, offer personalised kits and develop collaborations.</a:t>
            </a:r>
            <a:endParaRPr lang="en-US" sz="1500" dirty="0"/>
          </a:p>
        </p:txBody>
      </p:sp>
      <p:sp>
        <p:nvSpPr>
          <p:cNvPr id="20" name="a5_ring"/>
          <p:cNvSpPr/>
          <p:nvPr/>
        </p:nvSpPr>
        <p:spPr>
          <a:xfrm>
            <a:off x="9098280" y="2103120"/>
            <a:ext cx="1005840" cy="1005840"/>
          </a:xfrm>
          <a:prstGeom prst="ellipse">
            <a:avLst/>
          </a:prstGeom>
          <a:solidFill>
            <a:srgbClr val="0B1F3A"/>
          </a:solidFill>
          <a:ln w="38100">
            <a:solidFill>
              <a:srgbClr val="14C9A1"/>
            </a:solidFill>
            <a:prstDash val="solid"/>
          </a:ln>
        </p:spPr>
      </p:sp>
      <p:pic>
        <p:nvPicPr>
          <p:cNvPr id="21" name="a5_icon" descr="Actively build a community">    </p:cNvPr>
          <p:cNvPicPr>
            <a:picLocks noChangeAspect="1"/>
          </p:cNvPicPr>
          <p:nvPr/>
        </p:nvPicPr>
        <p:blipFill>
          <a:blip r:embed="rId4"/>
          <a:stretch>
            <a:fillRect/>
          </a:stretch>
        </p:blipFill>
        <p:spPr>
          <a:xfrm>
            <a:off x="9354312" y="2359152"/>
            <a:ext cx="493776" cy="493776"/>
          </a:xfrm>
          <a:prstGeom prst="rect">
            <a:avLst/>
          </a:prstGeom>
        </p:spPr>
      </p:pic>
      <p:sp>
        <p:nvSpPr>
          <p:cNvPr id="22" name="a5_num"/>
          <p:cNvSpPr txBox="1"/>
          <p:nvPr/>
        </p:nvSpPr>
        <p:spPr>
          <a:xfrm>
            <a:off x="9052560" y="3383280"/>
            <a:ext cx="2560320" cy="457200"/>
          </a:xfrm>
          <a:prstGeom prst="rect">
            <a:avLst/>
          </a:prstGeom>
          <a:noFill/>
          <a:ln/>
        </p:spPr>
        <p:txBody>
          <a:bodyPr wrap="square" lIns="0" tIns="0" rIns="0" bIns="0" rtlCol="0" anchor="t"/>
          <a:lstStyle/>
          <a:p>
            <a:pPr indent="0" marL="0">
              <a:buNone/>
            </a:pPr>
            <a:r>
              <a:rPr lang="en-US" sz="2200" dirty="0">
                <a:solidFill>
                  <a:srgbClr val="FF6B4A"/>
                </a:solidFill>
                <a:latin typeface="Arial Black" pitchFamily="34" charset="0"/>
                <a:ea typeface="Arial Black" pitchFamily="34" charset="-122"/>
                <a:cs typeface="Arial Black" pitchFamily="34" charset="-120"/>
              </a:rPr>
              <a:t>04</a:t>
            </a:r>
            <a:endParaRPr lang="en-US" sz="2200" dirty="0"/>
          </a:p>
        </p:txBody>
      </p:sp>
      <p:sp>
        <p:nvSpPr>
          <p:cNvPr id="23" name="a5_h"/>
          <p:cNvSpPr txBox="1"/>
          <p:nvPr/>
        </p:nvSpPr>
        <p:spPr>
          <a:xfrm>
            <a:off x="9052560" y="3840480"/>
            <a:ext cx="2606040" cy="77724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Actively build a community</a:t>
            </a:r>
            <a:endParaRPr lang="en-US" sz="1900" dirty="0"/>
          </a:p>
        </p:txBody>
      </p:sp>
      <p:sp>
        <p:nvSpPr>
          <p:cNvPr id="24" name="a5_d"/>
          <p:cNvSpPr txBox="1"/>
          <p:nvPr/>
        </p:nvSpPr>
        <p:spPr>
          <a:xfrm>
            <a:off x="9052560" y="4663440"/>
            <a:ext cx="2560320" cy="118872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We will invite our customers to become a real part of the brand.</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7</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18"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anim calcmode="lin" valueType="num">
                                      <p:cBhvr>
                                        <p:cTn id="82"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p:cTn id="87"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p:cTn id="92"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600"/>
                                        <p:tgtEl>
                                          <p:spTgt spid="20"/>
                                        </p:tgtEl>
                                      </p:cBhvr>
                                    </p:animEffect>
                                    <p:anim calcmode="lin" valueType="num">
                                      <p:cBhvr>
                                        <p:cTn id="97"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600"/>
                                        <p:tgtEl>
                                          <p:spTgt spid="21"/>
                                        </p:tgtEl>
                                      </p:cBhvr>
                                    </p:animEffect>
                                    <p:anim calcmode="lin" valueType="num">
                                      <p:cBhvr>
                                        <p:cTn id="102" dur="600" decel="100000" fill="hold"/>
                                        <p:tgtEl>
                                          <p:spTgt spid="21"/>
                                        </p:tgtEl>
                                        <p:attrNameLst>
                                          <p:attrName>ppt_y</p:attrName>
                                        </p:attrNameLst>
                                      </p:cBhvr>
                                      <p:tavLst>
                                        <p:tav tm="0">
                                          <p:val>
                                            <p:strVal val="#ppt_y+0.04"/>
                                          </p:val>
                                        </p:tav>
                                        <p:tav tm="100000">
                                          <p:val>
                                            <p:strVal val="#ppt_y"/>
                                          </p:val>
                                        </p:tav>
                                      </p:tavLst>
                                    </p:anim>
                                  </p:childTnLst>
                                </p:cTn>
                              </p:par>
                            </p:childTnLst>
                          </p:cTn>
                        </p:par>
                        <p:par>
                          <p:cTn id="103" fill="hold">
                            <p:stCondLst>
                              <p:cond delay="0"/>
                            </p:stCondLst>
                            <p:childTnLst>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600"/>
                                        <p:tgtEl>
                                          <p:spTgt spid="22"/>
                                        </p:tgtEl>
                                      </p:cBhvr>
                                    </p:animEffect>
                                    <p:anim calcmode="lin" valueType="num">
                                      <p:cBhvr>
                                        <p:cTn id="107" dur="600" decel="100000" fill="hold"/>
                                        <p:tgtEl>
                                          <p:spTgt spid="22"/>
                                        </p:tgtEl>
                                        <p:attrNameLst>
                                          <p:attrName>ppt_y</p:attrName>
                                        </p:attrNameLst>
                                      </p:cBhvr>
                                      <p:tavLst>
                                        <p:tav tm="0">
                                          <p:val>
                                            <p:strVal val="#ppt_y+0.04"/>
                                          </p:val>
                                        </p:tav>
                                        <p:tav tm="100000">
                                          <p:val>
                                            <p:strVal val="#ppt_y"/>
                                          </p:val>
                                        </p:tav>
                                      </p:tavLst>
                                    </p:anim>
                                  </p:childTnLst>
                                </p:cTn>
                              </p:par>
                            </p:childTnLst>
                          </p:cTn>
                        </p:par>
                        <p:par>
                          <p:cTn id="108" fill="hold">
                            <p:stCondLst>
                              <p:cond delay="0"/>
                            </p:stCondLst>
                            <p:childTnLst>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600"/>
                                        <p:tgtEl>
                                          <p:spTgt spid="23"/>
                                        </p:tgtEl>
                                      </p:cBhvr>
                                    </p:animEffect>
                                    <p:anim calcmode="lin" valueType="num">
                                      <p:cBhvr>
                                        <p:cTn id="112" dur="600" decel="100000" fill="hold"/>
                                        <p:tgtEl>
                                          <p:spTgt spid="23"/>
                                        </p:tgtEl>
                                        <p:attrNameLst>
                                          <p:attrName>ppt_y</p:attrName>
                                        </p:attrNameLst>
                                      </p:cBhvr>
                                      <p:tavLst>
                                        <p:tav tm="0">
                                          <p:val>
                                            <p:strVal val="#ppt_y+0.04"/>
                                          </p:val>
                                        </p:tav>
                                        <p:tav tm="100000">
                                          <p:val>
                                            <p:strVal val="#ppt_y"/>
                                          </p:val>
                                        </p:tav>
                                      </p:tavLst>
                                    </p:anim>
                                  </p:childTnLst>
                                </p:cTn>
                              </p:par>
                            </p:childTnLst>
                          </p:cTn>
                        </p:par>
                        <p:par>
                          <p:cTn id="113" fill="hold">
                            <p:stCondLst>
                              <p:cond delay="0"/>
                            </p:stCondLst>
                            <p:childTnLst>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600"/>
                                        <p:tgtEl>
                                          <p:spTgt spid="24"/>
                                        </p:tgtEl>
                                      </p:cBhvr>
                                    </p:animEffect>
                                    <p:anim calcmode="lin" valueType="num">
                                      <p:cBhvr>
                                        <p:cTn id="117" dur="600" decel="100000" fill="hold"/>
                                        <p:tgtEl>
                                          <p:spTgt spid="24"/>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07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Arial Black" pitchFamily="34" charset="0"/>
                <a:ea typeface="Arial Black" pitchFamily="34" charset="-122"/>
                <a:cs typeface="Arial Black" pitchFamily="34" charset="-120"/>
              </a:rPr>
              <a:t>Our Proposal</a:t>
            </a:r>
            <a:endParaRPr lang="en-US" sz="3600" dirty="0"/>
          </a:p>
        </p:txBody>
      </p:sp>
      <p:sp>
        <p:nvSpPr>
          <p:cNvPr id="4" name="a1_circle"/>
          <p:cNvSpPr/>
          <p:nvPr/>
        </p:nvSpPr>
        <p:spPr>
          <a:xfrm>
            <a:off x="548640" y="1920240"/>
            <a:ext cx="1097280" cy="1097280"/>
          </a:xfrm>
          <a:prstGeom prst="ellipse">
            <a:avLst/>
          </a:prstGeom>
          <a:solidFill>
            <a:srgbClr val="14C9A1"/>
          </a:solidFill>
          <a:ln/>
        </p:spPr>
      </p:sp>
      <p:pic>
        <p:nvPicPr>
          <p:cNvPr id="5" name="a1_icon" descr="handshake">    </p:cNvPr>
          <p:cNvPicPr>
            <a:picLocks noChangeAspect="1"/>
          </p:cNvPicPr>
          <p:nvPr/>
        </p:nvPicPr>
        <p:blipFill>
          <a:blip r:embed="rId1"/>
          <a:stretch>
            <a:fillRect/>
          </a:stretch>
        </p:blipFill>
        <p:spPr>
          <a:xfrm>
            <a:off x="844906" y="2216506"/>
            <a:ext cx="504749" cy="504749"/>
          </a:xfrm>
          <a:prstGeom prst="rect">
            <a:avLst/>
          </a:prstGeom>
        </p:spPr>
      </p:pic>
      <p:sp>
        <p:nvSpPr>
          <p:cNvPr id="6" name="a2_lead"/>
          <p:cNvSpPr txBox="1"/>
          <p:nvPr/>
        </p:nvSpPr>
        <p:spPr>
          <a:xfrm>
            <a:off x="548640" y="3246120"/>
            <a:ext cx="5120640" cy="822960"/>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We are looking for brands that want to grow with us.</a:t>
            </a:r>
            <a:endParaRPr lang="en-US" sz="2200" dirty="0"/>
          </a:p>
        </p:txBody>
      </p:sp>
      <p:sp>
        <p:nvSpPr>
          <p:cNvPr id="7" name="a2_text"/>
          <p:cNvSpPr txBox="1"/>
          <p:nvPr/>
        </p:nvSpPr>
        <p:spPr>
          <a:xfrm>
            <a:off x="548640" y="4114800"/>
            <a:ext cx="5120640" cy="1280160"/>
          </a:xfrm>
          <a:prstGeom prst="rect">
            <a:avLst/>
          </a:prstGeom>
          <a:noFill/>
          <a:ln/>
        </p:spPr>
        <p:txBody>
          <a:bodyPr wrap="square" lIns="0" tIns="0" rIns="0" bIns="0" rtlCol="0" anchor="t"/>
          <a:lstStyle/>
          <a:p>
            <a:pPr indent="0" marL="0">
              <a:buNone/>
            </a:pPr>
            <a:r>
              <a:rPr lang="en-US" sz="1800" dirty="0">
                <a:solidFill>
                  <a:srgbClr val="5B6B80"/>
                </a:solidFill>
                <a:latin typeface="Calibri" pitchFamily="34" charset="0"/>
                <a:ea typeface="Calibri" pitchFamily="34" charset="-122"/>
                <a:cs typeface="Calibri" pitchFamily="34" charset="-120"/>
              </a:rPr>
              <a:t>What we propose is a strategic partnership in which you gain visibility, a stronger position among young consumers and a connection with new audiences.</a:t>
            </a:r>
            <a:endParaRPr lang="en-US" sz="1800" dirty="0"/>
          </a:p>
        </p:txBody>
      </p:sp>
      <p:sp>
        <p:nvSpPr>
          <p:cNvPr id="8" name="a3_card"/>
          <p:cNvSpPr/>
          <p:nvPr/>
        </p:nvSpPr>
        <p:spPr>
          <a:xfrm>
            <a:off x="6172200" y="1920240"/>
            <a:ext cx="5349240" cy="4206240"/>
          </a:xfrm>
          <a:prstGeom prst="roundRect">
            <a:avLst>
              <a:gd name="adj" fmla="val 3913"/>
            </a:avLst>
          </a:prstGeom>
          <a:solidFill>
            <a:srgbClr val="0B1F3A"/>
          </a:solidFill>
          <a:ln/>
          <a:effectLst>
            <a:outerShdw sx="100000" sy="100000" kx="0" ky="0" algn="bl" rotWithShape="0" blurRad="228600" dist="76200" dir="5400000">
              <a:srgbClr val="0B1F3A">
                <a:alpha val="12000"/>
              </a:srgbClr>
            </a:outerShdw>
          </a:effectLst>
        </p:spPr>
      </p:sp>
      <p:sp>
        <p:nvSpPr>
          <p:cNvPr id="9" name="a3_h"/>
          <p:cNvSpPr txBox="1"/>
          <p:nvPr/>
        </p:nvSpPr>
        <p:spPr>
          <a:xfrm>
            <a:off x="6583680" y="2240280"/>
            <a:ext cx="4572000" cy="365760"/>
          </a:xfrm>
          <a:prstGeom prst="rect">
            <a:avLst/>
          </a:prstGeom>
          <a:noFill/>
          <a:ln/>
        </p:spPr>
        <p:txBody>
          <a:bodyPr wrap="square" lIns="0" tIns="0" rIns="0" bIns="0" rtlCol="0" anchor="t"/>
          <a:lstStyle/>
          <a:p>
            <a:pPr indent="0" marL="0">
              <a:buNone/>
            </a:pPr>
            <a:r>
              <a:rPr lang="en-US" sz="1400" b="1" spc="300" kern="0" dirty="0">
                <a:solidFill>
                  <a:srgbClr val="14C9A1"/>
                </a:solidFill>
                <a:latin typeface="Calibri" pitchFamily="34" charset="0"/>
                <a:ea typeface="Calibri" pitchFamily="34" charset="-122"/>
                <a:cs typeface="Calibri" pitchFamily="34" charset="-120"/>
              </a:rPr>
              <a:t>WITH YOUR SUPPORT, WE CAN:</a:t>
            </a:r>
            <a:endParaRPr lang="en-US" sz="1400" dirty="0"/>
          </a:p>
        </p:txBody>
      </p:sp>
      <p:sp>
        <p:nvSpPr>
          <p:cNvPr id="10" name="a4_dot"/>
          <p:cNvSpPr/>
          <p:nvPr/>
        </p:nvSpPr>
        <p:spPr>
          <a:xfrm>
            <a:off x="6583680" y="2880360"/>
            <a:ext cx="548640" cy="548640"/>
          </a:xfrm>
          <a:prstGeom prst="ellipse">
            <a:avLst/>
          </a:prstGeom>
          <a:solidFill>
            <a:srgbClr val="14C9A1"/>
          </a:solidFill>
          <a:ln/>
        </p:spPr>
      </p:sp>
      <p:pic>
        <p:nvPicPr>
          <p:cNvPr id="11" name="a4_check" descr="check">    </p:cNvPr>
          <p:cNvPicPr>
            <a:picLocks noChangeAspect="1"/>
          </p:cNvPicPr>
          <p:nvPr/>
        </p:nvPicPr>
        <p:blipFill>
          <a:blip r:embed="rId2"/>
          <a:stretch>
            <a:fillRect/>
          </a:stretch>
        </p:blipFill>
        <p:spPr>
          <a:xfrm>
            <a:off x="6720840" y="3017520"/>
            <a:ext cx="274320" cy="274320"/>
          </a:xfrm>
          <a:prstGeom prst="rect">
            <a:avLst/>
          </a:prstGeom>
        </p:spPr>
      </p:pic>
      <p:sp>
        <p:nvSpPr>
          <p:cNvPr id="12" name="a4_t"/>
          <p:cNvSpPr txBox="1"/>
          <p:nvPr/>
        </p:nvSpPr>
        <p:spPr>
          <a:xfrm>
            <a:off x="7360920" y="2788920"/>
            <a:ext cx="39319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Develop joint products and experiences</a:t>
            </a:r>
            <a:endParaRPr lang="en-US" sz="1800" dirty="0"/>
          </a:p>
        </p:txBody>
      </p:sp>
      <p:sp>
        <p:nvSpPr>
          <p:cNvPr id="13" name="a5_dot"/>
          <p:cNvSpPr/>
          <p:nvPr/>
        </p:nvSpPr>
        <p:spPr>
          <a:xfrm>
            <a:off x="6583680" y="3886200"/>
            <a:ext cx="548640" cy="548640"/>
          </a:xfrm>
          <a:prstGeom prst="ellipse">
            <a:avLst/>
          </a:prstGeom>
          <a:solidFill>
            <a:srgbClr val="14C9A1"/>
          </a:solidFill>
          <a:ln/>
        </p:spPr>
      </p:sp>
      <p:pic>
        <p:nvPicPr>
          <p:cNvPr id="14" name="a5_check" descr="check">    </p:cNvPr>
          <p:cNvPicPr>
            <a:picLocks noChangeAspect="1"/>
          </p:cNvPicPr>
          <p:nvPr/>
        </p:nvPicPr>
        <p:blipFill>
          <a:blip r:embed="rId3"/>
          <a:stretch>
            <a:fillRect/>
          </a:stretch>
        </p:blipFill>
        <p:spPr>
          <a:xfrm>
            <a:off x="6720840" y="4023360"/>
            <a:ext cx="274320" cy="274320"/>
          </a:xfrm>
          <a:prstGeom prst="rect">
            <a:avLst/>
          </a:prstGeom>
        </p:spPr>
      </p:pic>
      <p:sp>
        <p:nvSpPr>
          <p:cNvPr id="15" name="a5_t"/>
          <p:cNvSpPr txBox="1"/>
          <p:nvPr/>
        </p:nvSpPr>
        <p:spPr>
          <a:xfrm>
            <a:off x="7360920" y="3794760"/>
            <a:ext cx="39319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Increase our reach through campaigns</a:t>
            </a:r>
            <a:endParaRPr lang="en-US" sz="1800" dirty="0"/>
          </a:p>
        </p:txBody>
      </p:sp>
      <p:sp>
        <p:nvSpPr>
          <p:cNvPr id="16" name="a6_dot"/>
          <p:cNvSpPr/>
          <p:nvPr/>
        </p:nvSpPr>
        <p:spPr>
          <a:xfrm>
            <a:off x="6583680" y="4892040"/>
            <a:ext cx="548640" cy="548640"/>
          </a:xfrm>
          <a:prstGeom prst="ellipse">
            <a:avLst/>
          </a:prstGeom>
          <a:solidFill>
            <a:srgbClr val="14C9A1"/>
          </a:solidFill>
          <a:ln/>
        </p:spPr>
      </p:sp>
      <p:pic>
        <p:nvPicPr>
          <p:cNvPr id="17" name="a6_check" descr="check">    </p:cNvPr>
          <p:cNvPicPr>
            <a:picLocks noChangeAspect="1"/>
          </p:cNvPicPr>
          <p:nvPr/>
        </p:nvPicPr>
        <p:blipFill>
          <a:blip r:embed="rId4"/>
          <a:stretch>
            <a:fillRect/>
          </a:stretch>
        </p:blipFill>
        <p:spPr>
          <a:xfrm>
            <a:off x="6720840" y="5029200"/>
            <a:ext cx="274320" cy="274320"/>
          </a:xfrm>
          <a:prstGeom prst="rect">
            <a:avLst/>
          </a:prstGeom>
        </p:spPr>
      </p:pic>
      <p:sp>
        <p:nvSpPr>
          <p:cNvPr id="18" name="a6_t"/>
          <p:cNvSpPr txBox="1"/>
          <p:nvPr/>
        </p:nvSpPr>
        <p:spPr>
          <a:xfrm>
            <a:off x="7360920" y="4800600"/>
            <a:ext cx="393192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Generate greater credibility and growth</a:t>
            </a:r>
            <a:endParaRPr lang="en-US" sz="18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8</a:t>
            </a:fld>
            <a:endParaRPr lang="en-US"/>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after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anim calcmode="lin" valueType="num">
                                      <p:cBhvr>
                                        <p:cTn id="82"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p:cTn id="87" dur="600" decel="100000" fill="hold"/>
                                        <p:tgtEl>
                                          <p:spTgt spid="18"/>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0" grpId="0" animBg="1"/>
      <p:bldP spid="12" grpId="0" animBg="1"/>
      <p:bldP spid="13" grpId="0" animBg="1"/>
      <p:bldP spid="15" grpId="0" animBg="1"/>
      <p:bldP spid="16"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08 / 08</a:t>
            </a:r>
            <a:endParaRPr lang="en-US" sz="1300" dirty="0"/>
          </a:p>
        </p:txBody>
      </p:sp>
      <p:sp>
        <p:nvSpPr>
          <p:cNvPr id="3"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Black" pitchFamily="34" charset="0"/>
                <a:ea typeface="Arial Black" pitchFamily="34" charset="-122"/>
                <a:cs typeface="Arial Black" pitchFamily="34" charset="-120"/>
              </a:rPr>
              <a:t>What We Expect to Achieve</a:t>
            </a:r>
            <a:endParaRPr lang="en-US" sz="3600" dirty="0"/>
          </a:p>
        </p:txBody>
      </p:sp>
      <p:pic>
        <p:nvPicPr>
          <p:cNvPr id="4" name="a1_art" descr="Capsule illustration">    </p:cNvPr>
          <p:cNvPicPr>
            <a:picLocks noChangeAspect="1"/>
          </p:cNvPicPr>
          <p:nvPr/>
        </p:nvPicPr>
        <p:blipFill>
          <a:blip r:embed="rId1"/>
          <a:stretch>
            <a:fillRect/>
          </a:stretch>
        </p:blipFill>
        <p:spPr>
          <a:xfrm>
            <a:off x="7589520" y="1828800"/>
            <a:ext cx="4389120" cy="4389120"/>
          </a:xfrm>
          <a:prstGeom prst="rect">
            <a:avLst/>
          </a:prstGeom>
        </p:spPr>
      </p:pic>
      <p:sp>
        <p:nvSpPr>
          <p:cNvPr id="5" name="a1_line"/>
          <p:cNvSpPr/>
          <p:nvPr/>
        </p:nvSpPr>
        <p:spPr>
          <a:xfrm>
            <a:off x="960120" y="2377440"/>
            <a:ext cx="0" cy="3291840"/>
          </a:xfrm>
          <a:prstGeom prst="line">
            <a:avLst/>
          </a:prstGeom>
          <a:noFill/>
          <a:ln w="25400">
            <a:solidFill>
              <a:srgbClr val="14C9A1"/>
            </a:solidFill>
            <a:prstDash val="dash"/>
          </a:ln>
        </p:spPr>
      </p:sp>
      <p:sp>
        <p:nvSpPr>
          <p:cNvPr id="6" name="a2_dot"/>
          <p:cNvSpPr/>
          <p:nvPr/>
        </p:nvSpPr>
        <p:spPr>
          <a:xfrm>
            <a:off x="548640" y="2011680"/>
            <a:ext cx="822960" cy="822960"/>
          </a:xfrm>
          <a:prstGeom prst="ellipse">
            <a:avLst/>
          </a:prstGeom>
          <a:solidFill>
            <a:srgbClr val="14C9A1"/>
          </a:solidFill>
          <a:ln/>
        </p:spPr>
      </p:sp>
      <p:pic>
        <p:nvPicPr>
          <p:cNvPr id="7" name="a2_icon" descr="In 6 months">    </p:cNvPr>
          <p:cNvPicPr>
            <a:picLocks noChangeAspect="1"/>
          </p:cNvPicPr>
          <p:nvPr/>
        </p:nvPicPr>
        <p:blipFill>
          <a:blip r:embed="rId2"/>
          <a:stretch>
            <a:fillRect/>
          </a:stretch>
        </p:blipFill>
        <p:spPr>
          <a:xfrm>
            <a:off x="768096" y="2231136"/>
            <a:ext cx="384048" cy="384048"/>
          </a:xfrm>
          <a:prstGeom prst="rect">
            <a:avLst/>
          </a:prstGeom>
        </p:spPr>
      </p:pic>
      <p:sp>
        <p:nvSpPr>
          <p:cNvPr id="8" name="a2_h"/>
          <p:cNvSpPr txBox="1"/>
          <p:nvPr/>
        </p:nvSpPr>
        <p:spPr>
          <a:xfrm>
            <a:off x="1691640" y="1965960"/>
            <a:ext cx="5486400" cy="4572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In 6 months</a:t>
            </a:r>
            <a:endParaRPr lang="en-US" sz="2200" dirty="0"/>
          </a:p>
        </p:txBody>
      </p:sp>
      <p:sp>
        <p:nvSpPr>
          <p:cNvPr id="9" name="a2_d"/>
          <p:cNvSpPr txBox="1"/>
          <p:nvPr/>
        </p:nvSpPr>
        <p:spPr>
          <a:xfrm>
            <a:off x="1691640" y="2395728"/>
            <a:ext cx="5669280" cy="731520"/>
          </a:xfrm>
          <a:prstGeom prst="rect">
            <a:avLst/>
          </a:prstGeom>
          <a:noFill/>
          <a:ln/>
        </p:spPr>
        <p:txBody>
          <a:bodyPr wrap="square" lIns="0" tIns="0" rIns="0" bIns="0" rtlCol="0" anchor="t"/>
          <a:lstStyle/>
          <a:p>
            <a:pPr indent="0" marL="0">
              <a:buNone/>
            </a:pPr>
            <a:r>
              <a:rPr lang="en-US" sz="1600" dirty="0">
                <a:solidFill>
                  <a:srgbClr val="B8C7D9"/>
                </a:solidFill>
                <a:latin typeface="Calibri" pitchFamily="34" charset="0"/>
                <a:ea typeface="Calibri" pitchFamily="34" charset="-122"/>
                <a:cs typeface="Calibri" pitchFamily="34" charset="-120"/>
              </a:rPr>
              <a:t>Consolidate an active community around our brand.</a:t>
            </a:r>
            <a:endParaRPr lang="en-US" sz="1600" dirty="0"/>
          </a:p>
        </p:txBody>
      </p:sp>
      <p:sp>
        <p:nvSpPr>
          <p:cNvPr id="10" name="a3_dot"/>
          <p:cNvSpPr/>
          <p:nvPr/>
        </p:nvSpPr>
        <p:spPr>
          <a:xfrm>
            <a:off x="548640" y="3474720"/>
            <a:ext cx="822960" cy="822960"/>
          </a:xfrm>
          <a:prstGeom prst="ellipse">
            <a:avLst/>
          </a:prstGeom>
          <a:solidFill>
            <a:srgbClr val="14C9A1"/>
          </a:solidFill>
          <a:ln/>
        </p:spPr>
      </p:sp>
      <p:pic>
        <p:nvPicPr>
          <p:cNvPr id="11" name="a3_icon" descr="In 12 months">    </p:cNvPr>
          <p:cNvPicPr>
            <a:picLocks noChangeAspect="1"/>
          </p:cNvPicPr>
          <p:nvPr/>
        </p:nvPicPr>
        <p:blipFill>
          <a:blip r:embed="rId3"/>
          <a:stretch>
            <a:fillRect/>
          </a:stretch>
        </p:blipFill>
        <p:spPr>
          <a:xfrm>
            <a:off x="768096" y="3694176"/>
            <a:ext cx="384048" cy="384048"/>
          </a:xfrm>
          <a:prstGeom prst="rect">
            <a:avLst/>
          </a:prstGeom>
        </p:spPr>
      </p:pic>
      <p:sp>
        <p:nvSpPr>
          <p:cNvPr id="12" name="a3_h"/>
          <p:cNvSpPr txBox="1"/>
          <p:nvPr/>
        </p:nvSpPr>
        <p:spPr>
          <a:xfrm>
            <a:off x="1691640" y="3429000"/>
            <a:ext cx="5486400" cy="4572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In 12 months</a:t>
            </a:r>
            <a:endParaRPr lang="en-US" sz="2200" dirty="0"/>
          </a:p>
        </p:txBody>
      </p:sp>
      <p:sp>
        <p:nvSpPr>
          <p:cNvPr id="13" name="a3_d"/>
          <p:cNvSpPr txBox="1"/>
          <p:nvPr/>
        </p:nvSpPr>
        <p:spPr>
          <a:xfrm>
            <a:off x="1691640" y="3858768"/>
            <a:ext cx="5669280" cy="731520"/>
          </a:xfrm>
          <a:prstGeom prst="rect">
            <a:avLst/>
          </a:prstGeom>
          <a:noFill/>
          <a:ln/>
        </p:spPr>
        <p:txBody>
          <a:bodyPr wrap="square" lIns="0" tIns="0" rIns="0" bIns="0" rtlCol="0" anchor="t"/>
          <a:lstStyle/>
          <a:p>
            <a:pPr indent="0" marL="0">
              <a:buNone/>
            </a:pPr>
            <a:r>
              <a:rPr lang="en-US" sz="1600" dirty="0">
                <a:solidFill>
                  <a:srgbClr val="B8C7D9"/>
                </a:solidFill>
                <a:latin typeface="Calibri" pitchFamily="34" charset="0"/>
                <a:ea typeface="Calibri" pitchFamily="34" charset="-122"/>
                <a:cs typeface="Calibri" pitchFamily="34" charset="-120"/>
              </a:rPr>
              <a:t>Increase our digital reach and double our customer base.</a:t>
            </a:r>
            <a:endParaRPr lang="en-US" sz="1600" dirty="0"/>
          </a:p>
        </p:txBody>
      </p:sp>
      <p:sp>
        <p:nvSpPr>
          <p:cNvPr id="14" name="a4_dot"/>
          <p:cNvSpPr/>
          <p:nvPr/>
        </p:nvSpPr>
        <p:spPr>
          <a:xfrm>
            <a:off x="548640" y="4937760"/>
            <a:ext cx="822960" cy="822960"/>
          </a:xfrm>
          <a:prstGeom prst="ellipse">
            <a:avLst/>
          </a:prstGeom>
          <a:solidFill>
            <a:srgbClr val="FF6B4A"/>
          </a:solidFill>
          <a:ln/>
        </p:spPr>
      </p:sp>
      <p:pic>
        <p:nvPicPr>
          <p:cNvPr id="15" name="a4_icon" descr="In the long term">    </p:cNvPr>
          <p:cNvPicPr>
            <a:picLocks noChangeAspect="1"/>
          </p:cNvPicPr>
          <p:nvPr/>
        </p:nvPicPr>
        <p:blipFill>
          <a:blip r:embed="rId4"/>
          <a:stretch>
            <a:fillRect/>
          </a:stretch>
        </p:blipFill>
        <p:spPr>
          <a:xfrm>
            <a:off x="768096" y="5157216"/>
            <a:ext cx="384048" cy="384048"/>
          </a:xfrm>
          <a:prstGeom prst="rect">
            <a:avLst/>
          </a:prstGeom>
        </p:spPr>
      </p:pic>
      <p:sp>
        <p:nvSpPr>
          <p:cNvPr id="16" name="a4_h"/>
          <p:cNvSpPr txBox="1"/>
          <p:nvPr/>
        </p:nvSpPr>
        <p:spPr>
          <a:xfrm>
            <a:off x="1691640" y="4892040"/>
            <a:ext cx="5486400" cy="45720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In the long term</a:t>
            </a:r>
            <a:endParaRPr lang="en-US" sz="2200" dirty="0"/>
          </a:p>
        </p:txBody>
      </p:sp>
      <p:sp>
        <p:nvSpPr>
          <p:cNvPr id="17" name="a4_d"/>
          <p:cNvSpPr txBox="1"/>
          <p:nvPr/>
        </p:nvSpPr>
        <p:spPr>
          <a:xfrm>
            <a:off x="1691640" y="5321808"/>
            <a:ext cx="5669280" cy="731520"/>
          </a:xfrm>
          <a:prstGeom prst="rect">
            <a:avLst/>
          </a:prstGeom>
          <a:noFill/>
          <a:ln/>
        </p:spPr>
        <p:txBody>
          <a:bodyPr wrap="square" lIns="0" tIns="0" rIns="0" bIns="0" rtlCol="0" anchor="t"/>
          <a:lstStyle/>
          <a:p>
            <a:pPr indent="0" marL="0">
              <a:buNone/>
            </a:pPr>
            <a:r>
              <a:rPr lang="en-US" sz="1600" dirty="0">
                <a:solidFill>
                  <a:srgbClr val="B8C7D9"/>
                </a:solidFill>
                <a:latin typeface="Calibri" pitchFamily="34" charset="0"/>
                <a:ea typeface="Calibri" pitchFamily="34" charset="-122"/>
                <a:cs typeface="Calibri" pitchFamily="34" charset="-120"/>
              </a:rPr>
              <a:t>Establish ourselves as a leading brand in the local market, with expansion at a national level.</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9</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83"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00"/>
                                        <p:tgtEl>
                                          <p:spTgt spid="5"/>
                                        </p:tgtEl>
                                      </p:cBhvr>
                                    </p:animEffect>
                                    <p:anim calcmode="lin" valueType="num">
                                      <p:cBhvr>
                                        <p:cTn id="22"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p:cTn id="27"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p:cTn id="37"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00"/>
                                        <p:tgtEl>
                                          <p:spTgt spid="9"/>
                                        </p:tgtEl>
                                      </p:cBhvr>
                                    </p:animEffect>
                                    <p:anim calcmode="lin" valueType="num">
                                      <p:cBhvr>
                                        <p:cTn id="42"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600"/>
                                        <p:tgtEl>
                                          <p:spTgt spid="13"/>
                                        </p:tgtEl>
                                      </p:cBhvr>
                                    </p:animEffect>
                                    <p:anim calcmode="lin" valueType="num">
                                      <p:cBhvr>
                                        <p:cTn id="62"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600"/>
                                        <p:tgtEl>
                                          <p:spTgt spid="14"/>
                                        </p:tgtEl>
                                      </p:cBhvr>
                                    </p:animEffect>
                                    <p:anim calcmode="lin" valueType="num">
                                      <p:cBhvr>
                                        <p:cTn id="67"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600"/>
                                        <p:tgtEl>
                                          <p:spTgt spid="15"/>
                                        </p:tgtEl>
                                      </p:cBhvr>
                                    </p:animEffect>
                                    <p:anim calcmode="lin" valueType="num">
                                      <p:cBhvr>
                                        <p:cTn id="72"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600"/>
                                        <p:tgtEl>
                                          <p:spTgt spid="17"/>
                                        </p:tgtEl>
                                      </p:cBhvr>
                                    </p:animEffect>
                                    <p:anim calcmode="lin" valueType="num">
                                      <p:cBhvr>
                                        <p:cTn id="82" dur="600" decel="100000" fill="hold"/>
                                        <p:tgtEl>
                                          <p:spTgt spid="17"/>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Lst>
  </p:timing>
</p:sld>
</file>

<file path=ppt/theme/theme1.xml><?xml version="1.0" encoding="utf-8"?>
<a:theme xmlns:a="http://schemas.openxmlformats.org/drawingml/2006/main" name="NutriPill">
  <a:themeElements>
    <a:clrScheme name="NutriPill">
      <a:dk1>
        <a:srgbClr val="0B1F3A"/>
      </a:dk1>
      <a:lt1>
        <a:srgbClr val="FFFFFF"/>
      </a:lt1>
      <a:dk2>
        <a:srgbClr val="123A6B"/>
      </a:dk2>
      <a:lt2>
        <a:srgbClr val="EEF6F9"/>
      </a:lt2>
      <a:accent1>
        <a:srgbClr val="14C9A1"/>
      </a:accent1>
      <a:accent2>
        <a:srgbClr val="FF6B4A"/>
      </a:accent2>
      <a:accent3>
        <a:srgbClr val="2A6BD1"/>
      </a:accent3>
      <a:accent4>
        <a:srgbClr val="0FA888"/>
      </a:accent4>
      <a:accent5>
        <a:srgbClr val="8FA3B8"/>
      </a:accent5>
      <a:accent6>
        <a:srgbClr val="F4B740"/>
      </a:accent6>
      <a:hlink>
        <a:srgbClr val="2A6BD1"/>
      </a:hlink>
      <a:folHlink>
        <a:srgbClr val="123A6B"/>
      </a:folHlink>
    </a:clrScheme>
    <a:fontScheme name="NutriPill">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NutriPill</dc:title>
  <dc:subject>PptxGenJS Presentation</dc:subject>
  <dc:creator>Dani, Max, William, Miguel</dc:creator>
  <cp:lastModifiedBy>Dani, Max, William, Miguel</cp:lastModifiedBy>
  <cp:revision>1</cp:revision>
  <dcterms:created xsi:type="dcterms:W3CDTF">2026-10-26T20:31:22Z</dcterms:created>
  <dcterms:modified xsi:type="dcterms:W3CDTF">2026-10-26T20:31:22Z</dcterms:modified>
</cp:coreProperties>
</file>