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97b4e0f-b83a-ccbf-4645-4e638564f09e}">
          <p14:sldIdLst>
            <p14:sldId id="256"/>
          </p14:sldIdLst>
        </p14:section>
        <p14:section name="The idea" id="{3b4e8863-c5f9-cf60-c8c7-e04fc08a1ca5}">
          <p14:sldIdLst>
            <p14:sldId id="257"/>
            <p14:sldId id="258"/>
            <p14:sldId id="259"/>
            <p14:sldId id="260"/>
          </p14:sldIdLst>
        </p14:section>
        <p14:section name="The business" id="{545b4e2e-fddf-791b-7c5e-068c4ed03f93}">
          <p14:sldIdLst>
            <p14:sldId id="261"/>
            <p14:sldId id="262"/>
            <p14:sldId id="263"/>
            <p14:sldId id="264"/>
          </p14:sldIdLst>
        </p14:section>
        <p14:section name="Close" id="{f5be6d5e-47af-ae35-376e-fb7d7d1ca0a8}">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We are Dani, Max, William and Miguel, and today we are going to present our business idea: NutriPill. Essential nutrients — anytime,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you ever been too busy to eat? Imagine a pill that gives you essential nutrients when you don't have time for a meal. Meet NutriPill: small, simple, and designed for your busy lifestyle.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Nowadays many people have very busy schedules. Students and workers often skip meals because they are in a hurry. This leads to low energy, difficulty concentrating and poor nutrition. They need a quick and convenient way to get essential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NutriPill is an innovative and convenient pill that provides essential nutrients when people don't have time to eat. It is small, easy to carry, and perfect for busy students and workers. Our goal is to help people keep their energy up. It doesn't replace a complete meal, but it's a practical way to supplement nutrition when life gets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NutriPill is designed for busy people who don't always have time to eat properly. Our main target audience is students, workers, athletes, and people with hectic lifestyles who need a quick way to supplement their nutrition during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business model is based on three pillars. Revenue: direct sales and experiences connected to the product. Channels: a strong presence on social media like Instagram, TikTok and YouTube, plus in-person experiences. Pricing: affordable, but with added value — an accessible premium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grow, we have a four-step strategy. One: create inspiring content on social media showing a real lifestyle. Two: work with local influencers who represent our brand's philosophy. Three: create memorable experiences like events, personalized kits and collaborations. Four: build an active community by inviting customers to be part of the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looking for brands that want to grow with us. We propose a strategic partnership where our partners gain visibility, a strong position with a young audience and connection with new customers. With your support we can develop joint products and experiences, increase our reach through campaigns, and build more credibility and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our goals. In six months, we want to build an active community around NutriPill. In twelve months, we want to grow our digital reach and double our customer base. In the long term, we want to become a leader in the local market and expand nationwide.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NutriPill: essential nutrients, anytime, anywhere. Do you have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2.png"/><Relationship Id="rId4" Type="http://schemas.openxmlformats.org/officeDocument/2006/relationships/image" Target="../media/image-8-2.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a1_hero" descr="NutriPill capsule illustration">    </p:cNvPr>
          <p:cNvPicPr>
            <a:picLocks noChangeAspect="1"/>
          </p:cNvPicPr>
          <p:nvPr/>
        </p:nvPicPr>
        <p:blipFill>
          <a:blip r:embed="rId1"/>
          <a:stretch>
            <a:fillRect/>
          </a:stretch>
        </p:blipFill>
        <p:spPr>
          <a:xfrm>
            <a:off x="6309360" y="320040"/>
            <a:ext cx="6217920" cy="6217920"/>
          </a:xfrm>
          <a:prstGeom prst="rect">
            <a:avLst/>
          </a:prstGeom>
        </p:spPr>
      </p:pic>
      <p:pic>
        <p:nvPicPr>
          <p:cNvPr id="3" name="a2_logo" descr="NutriPill logo">    </p:cNvPr>
          <p:cNvPicPr>
            <a:picLocks noChangeAspect="1"/>
          </p:cNvPicPr>
          <p:nvPr/>
        </p:nvPicPr>
        <p:blipFill>
          <a:blip r:embed="rId2"/>
          <a:stretch>
            <a:fillRect/>
          </a:stretch>
        </p:blipFill>
        <p:spPr>
          <a:xfrm>
            <a:off x="685800" y="594360"/>
            <a:ext cx="2103120" cy="585216"/>
          </a:xfrm>
          <a:prstGeom prst="rect">
            <a:avLst/>
          </a:prstGeom>
        </p:spPr>
      </p:pic>
      <p:sp>
        <p:nvSpPr>
          <p:cNvPr id="4" name="a3_kicker"/>
          <p:cNvSpPr txBox="1"/>
          <p:nvPr/>
        </p:nvSpPr>
        <p:spPr>
          <a:xfrm>
            <a:off x="731520" y="1965960"/>
            <a:ext cx="5943600" cy="320040"/>
          </a:xfrm>
          <a:prstGeom prst="rect">
            <a:avLst/>
          </a:prstGeom>
          <a:noFill/>
          <a:ln/>
        </p:spPr>
        <p:txBody>
          <a:bodyPr wrap="square" lIns="0" tIns="0" rIns="0" bIns="0" rtlCol="0" anchor="ctr"/>
          <a:lstStyle/>
          <a:p>
            <a:pPr indent="0" marL="0">
              <a:buNone/>
            </a:pPr>
            <a:r>
              <a:rPr lang="en-US" sz="1300" b="1" spc="400" kern="0" dirty="0">
                <a:solidFill>
                  <a:srgbClr val="14C9A1"/>
                </a:solidFill>
                <a:latin typeface="Calibri" pitchFamily="34" charset="0"/>
                <a:ea typeface="Calibri" pitchFamily="34" charset="-122"/>
                <a:cs typeface="Calibri" pitchFamily="34" charset="-120"/>
              </a:rPr>
              <a:t>ENGLISH PRESENTATION  ·  BUSINESS PROPOSAL</a:t>
            </a:r>
            <a:endParaRPr lang="en-US" sz="1300" dirty="0"/>
          </a:p>
        </p:txBody>
      </p:sp>
      <p:sp>
        <p:nvSpPr>
          <p:cNvPr id="5" name="a4_title"/>
          <p:cNvSpPr txBox="1"/>
          <p:nvPr/>
        </p:nvSpPr>
        <p:spPr>
          <a:xfrm>
            <a:off x="685800" y="2286000"/>
            <a:ext cx="59436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Black" pitchFamily="34" charset="0"/>
                <a:ea typeface="Arial Black" pitchFamily="34" charset="-122"/>
                <a:cs typeface="Arial Black" pitchFamily="34" charset="-120"/>
              </a:rPr>
              <a:t>Nutri</a:t>
            </a:r>
            <a:pPr indent="0" marL="0">
              <a:buNone/>
            </a:pPr>
            <a:r>
              <a:rPr lang="en-US" sz="8000" b="1" dirty="0">
                <a:solidFill>
                  <a:srgbClr val="14C9A1"/>
                </a:solidFill>
                <a:latin typeface="Arial Black" pitchFamily="34" charset="0"/>
                <a:ea typeface="Arial Black" pitchFamily="34" charset="-122"/>
                <a:cs typeface="Arial Black" pitchFamily="34" charset="-120"/>
              </a:rPr>
              <a:t>Pill</a:t>
            </a:r>
            <a:endParaRPr lang="en-US" sz="8000" dirty="0"/>
          </a:p>
        </p:txBody>
      </p:sp>
      <p:sp>
        <p:nvSpPr>
          <p:cNvPr id="6" name="a5_tag"/>
          <p:cNvSpPr txBox="1"/>
          <p:nvPr/>
        </p:nvSpPr>
        <p:spPr>
          <a:xfrm>
            <a:off x="731520" y="3657600"/>
            <a:ext cx="5669280" cy="5029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Essential nutrients. Anytime. Anywhere.</a:t>
            </a:r>
            <a:endParaRPr lang="en-US" sz="2400" dirty="0"/>
          </a:p>
        </p:txBody>
      </p:sp>
      <p:sp>
        <p:nvSpPr>
          <p:cNvPr id="7" name="a6_pill"/>
          <p:cNvSpPr/>
          <p:nvPr/>
        </p:nvSpPr>
        <p:spPr>
          <a:xfrm>
            <a:off x="731520" y="4800600"/>
            <a:ext cx="4480560" cy="548640"/>
          </a:xfrm>
          <a:prstGeom prst="roundRect">
            <a:avLst>
              <a:gd name="adj" fmla="val 50000"/>
            </a:avLst>
          </a:prstGeom>
          <a:solidFill>
            <a:srgbClr val="FFFFFF">
              <a:alpha val="12000"/>
            </a:srgbClr>
          </a:solidFill>
          <a:ln w="12700">
            <a:solidFill>
              <a:srgbClr val="FFFFFF">
                <a:alpha val="30000"/>
              </a:srgbClr>
            </a:solidFill>
            <a:prstDash val="solid"/>
          </a:ln>
        </p:spPr>
      </p:sp>
      <p:sp>
        <p:nvSpPr>
          <p:cNvPr id="8" name="a6_names"/>
          <p:cNvSpPr txBox="1"/>
          <p:nvPr/>
        </p:nvSpPr>
        <p:spPr>
          <a:xfrm>
            <a:off x="731520" y="4800600"/>
            <a:ext cx="448056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By Dani, Max, William &amp; Miguel</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INTRODUCTION</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Have you ever been too busy to eat?</a:t>
            </a:r>
            <a:endParaRPr lang="en-US" sz="3600" dirty="0"/>
          </a:p>
        </p:txBody>
      </p:sp>
      <p:pic>
        <p:nvPicPr>
          <p:cNvPr id="4" name="a1_art" descr="Capsule illustration">    </p:cNvPr>
          <p:cNvPicPr>
            <a:picLocks noChangeAspect="1"/>
          </p:cNvPicPr>
          <p:nvPr/>
        </p:nvPicPr>
        <p:blipFill>
          <a:blip r:embed="rId1"/>
          <a:stretch>
            <a:fillRect/>
          </a:stretch>
        </p:blipFill>
        <p:spPr>
          <a:xfrm>
            <a:off x="7452360" y="1874520"/>
            <a:ext cx="4206240" cy="4206240"/>
          </a:xfrm>
          <a:prstGeom prst="rect">
            <a:avLst/>
          </a:prstGeom>
        </p:spPr>
      </p:pic>
      <p:sp>
        <p:nvSpPr>
          <p:cNvPr id="5" name="a2_text"/>
          <p:cNvSpPr txBox="1"/>
          <p:nvPr/>
        </p:nvSpPr>
        <p:spPr>
          <a:xfrm>
            <a:off x="548640" y="2057400"/>
            <a:ext cx="6309360" cy="1188720"/>
          </a:xfrm>
          <a:prstGeom prst="rect">
            <a:avLst/>
          </a:prstGeom>
          <a:noFill/>
          <a:ln/>
        </p:spPr>
        <p:txBody>
          <a:bodyPr wrap="square" lIns="0" tIns="0" rIns="0" bIns="0" rtlCol="0" anchor="ctr"/>
          <a:lstStyle/>
          <a:p>
            <a:pPr indent="0" marL="0">
              <a:buNone/>
            </a:pPr>
            <a:r>
              <a:rPr lang="en-US" sz="2400" dirty="0">
                <a:solidFill>
                  <a:srgbClr val="0B1F3A"/>
                </a:solidFill>
                <a:latin typeface="Calibri" pitchFamily="34" charset="0"/>
                <a:ea typeface="Calibri" pitchFamily="34" charset="-122"/>
                <a:cs typeface="Calibri" pitchFamily="34" charset="-120"/>
              </a:rPr>
              <a:t>Imagine a pill that provides essential nutrients when you don't have time for a meal.</a:t>
            </a:r>
            <a:endParaRPr lang="en-US" sz="2400" dirty="0"/>
          </a:p>
        </p:txBody>
      </p:sp>
      <p:sp>
        <p:nvSpPr>
          <p:cNvPr id="6" name="a3_card"/>
          <p:cNvSpPr/>
          <p:nvPr/>
        </p:nvSpPr>
        <p:spPr>
          <a:xfrm>
            <a:off x="548640" y="3611880"/>
            <a:ext cx="6309360" cy="2331720"/>
          </a:xfrm>
          <a:prstGeom prst="roundRect">
            <a:avLst>
              <a:gd name="adj" fmla="val 7059"/>
            </a:avLst>
          </a:prstGeom>
          <a:solidFill>
            <a:srgbClr val="FFFFFF"/>
          </a:solidFill>
          <a:ln/>
          <a:effectLst>
            <a:outerShdw sx="100000" sy="100000" kx="0" ky="0" algn="bl" rotWithShape="0" blurRad="228600" dist="76200" dir="5400000">
              <a:srgbClr val="0B1F3A">
                <a:alpha val="12000"/>
              </a:srgbClr>
            </a:outerShdw>
          </a:effectLst>
        </p:spPr>
      </p:sp>
      <p:pic>
        <p:nvPicPr>
          <p:cNvPr id="7" name="a3_logo" descr="NutriPill logo">    </p:cNvPr>
          <p:cNvPicPr>
            <a:picLocks noChangeAspect="1"/>
          </p:cNvPicPr>
          <p:nvPr/>
        </p:nvPicPr>
        <p:blipFill>
          <a:blip r:embed="rId2"/>
          <a:stretch>
            <a:fillRect/>
          </a:stretch>
        </p:blipFill>
        <p:spPr>
          <a:xfrm>
            <a:off x="868680" y="3886200"/>
            <a:ext cx="1975104" cy="548640"/>
          </a:xfrm>
          <a:prstGeom prst="rect">
            <a:avLst/>
          </a:prstGeom>
        </p:spPr>
      </p:pic>
      <p:sp>
        <p:nvSpPr>
          <p:cNvPr id="8" name="a3_text"/>
          <p:cNvSpPr txBox="1"/>
          <p:nvPr/>
        </p:nvSpPr>
        <p:spPr>
          <a:xfrm>
            <a:off x="868680" y="4526280"/>
            <a:ext cx="5669280" cy="685800"/>
          </a:xfrm>
          <a:prstGeom prst="rect">
            <a:avLst/>
          </a:prstGeom>
          <a:noFill/>
          <a:ln/>
        </p:spPr>
        <p:txBody>
          <a:bodyPr wrap="square" lIns="0" tIns="0" rIns="0" bIns="0" rtlCol="0" anchor="ctr"/>
          <a:lstStyle/>
          <a:p>
            <a:pPr indent="0" marL="0">
              <a:buNone/>
            </a:pPr>
            <a:r>
              <a:rPr lang="en-US" sz="1600" dirty="0">
                <a:solidFill>
                  <a:srgbClr val="5B6B80"/>
                </a:solidFill>
                <a:latin typeface="Calibri" pitchFamily="34" charset="0"/>
                <a:ea typeface="Calibri" pitchFamily="34" charset="-122"/>
                <a:cs typeface="Calibri" pitchFamily="34" charset="-120"/>
              </a:rPr>
              <a:t>A convenient way to get essential nutrients on the go — designed for your busy lifestyle.</a:t>
            </a:r>
            <a:endParaRPr lang="en-US" sz="1600" dirty="0"/>
          </a:p>
        </p:txBody>
      </p:sp>
      <p:sp>
        <p:nvSpPr>
          <p:cNvPr id="9" name="a4_chip"/>
          <p:cNvSpPr/>
          <p:nvPr/>
        </p:nvSpPr>
        <p:spPr>
          <a:xfrm>
            <a:off x="868680" y="5303520"/>
            <a:ext cx="1234440" cy="411480"/>
          </a:xfrm>
          <a:prstGeom prst="roundRect">
            <a:avLst>
              <a:gd name="adj" fmla="val 48889"/>
            </a:avLst>
          </a:prstGeom>
          <a:solidFill>
            <a:srgbClr val="E3FAF4"/>
          </a:solidFill>
          <a:ln/>
        </p:spPr>
      </p:sp>
      <p:sp>
        <p:nvSpPr>
          <p:cNvPr id="10" name="a4_chiptext"/>
          <p:cNvSpPr txBox="1"/>
          <p:nvPr/>
        </p:nvSpPr>
        <p:spPr>
          <a:xfrm>
            <a:off x="868680" y="530352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Small</a:t>
            </a:r>
            <a:endParaRPr lang="en-US" sz="1400" dirty="0"/>
          </a:p>
        </p:txBody>
      </p:sp>
      <p:sp>
        <p:nvSpPr>
          <p:cNvPr id="11" name="a5_chip"/>
          <p:cNvSpPr/>
          <p:nvPr/>
        </p:nvSpPr>
        <p:spPr>
          <a:xfrm>
            <a:off x="2240280" y="5303520"/>
            <a:ext cx="1234440" cy="411480"/>
          </a:xfrm>
          <a:prstGeom prst="roundRect">
            <a:avLst>
              <a:gd name="adj" fmla="val 48889"/>
            </a:avLst>
          </a:prstGeom>
          <a:solidFill>
            <a:srgbClr val="E3FAF4"/>
          </a:solidFill>
          <a:ln/>
        </p:spPr>
      </p:sp>
      <p:sp>
        <p:nvSpPr>
          <p:cNvPr id="12" name="a5_chiptext"/>
          <p:cNvSpPr txBox="1"/>
          <p:nvPr/>
        </p:nvSpPr>
        <p:spPr>
          <a:xfrm>
            <a:off x="2240280" y="530352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Simple</a:t>
            </a:r>
            <a:endParaRPr lang="en-US" sz="1400" dirty="0"/>
          </a:p>
        </p:txBody>
      </p:sp>
      <p:sp>
        <p:nvSpPr>
          <p:cNvPr id="13" name="a6_chip"/>
          <p:cNvSpPr/>
          <p:nvPr/>
        </p:nvSpPr>
        <p:spPr>
          <a:xfrm>
            <a:off x="3611880" y="5303520"/>
            <a:ext cx="1234440" cy="411480"/>
          </a:xfrm>
          <a:prstGeom prst="roundRect">
            <a:avLst>
              <a:gd name="adj" fmla="val 48889"/>
            </a:avLst>
          </a:prstGeom>
          <a:solidFill>
            <a:srgbClr val="E3FAF4"/>
          </a:solidFill>
          <a:ln/>
        </p:spPr>
      </p:sp>
      <p:sp>
        <p:nvSpPr>
          <p:cNvPr id="14" name="a6_chiptext"/>
          <p:cNvSpPr txBox="1"/>
          <p:nvPr/>
        </p:nvSpPr>
        <p:spPr>
          <a:xfrm>
            <a:off x="3611880" y="5303520"/>
            <a:ext cx="1234440" cy="411480"/>
          </a:xfrm>
          <a:prstGeom prst="rect">
            <a:avLst/>
          </a:prstGeom>
          <a:noFill/>
          <a:ln/>
        </p:spPr>
        <p:txBody>
          <a:bodyPr wrap="square" lIns="0" tIns="0" rIns="0" bIns="0" rtlCol="0" anchor="ctr"/>
          <a:lstStyle/>
          <a:p>
            <a:pPr algn="ctr" indent="0" marL="0">
              <a:buNone/>
            </a:pPr>
            <a:r>
              <a:rPr lang="en-US" sz="1400" b="1" dirty="0">
                <a:solidFill>
                  <a:srgbClr val="0FA888"/>
                </a:solidFill>
                <a:latin typeface="Calibri" pitchFamily="34" charset="0"/>
                <a:ea typeface="Calibri" pitchFamily="34" charset="-122"/>
                <a:cs typeface="Calibri" pitchFamily="34" charset="-120"/>
              </a:rPr>
              <a:t>On the go</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2</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6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after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after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2" grpId="0" animBg="1"/>
      <p:bldP spid="13" grpId="0" animBg="1"/>
      <p:bldP spid="1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THE PROBLEM</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No time to eat properly</a:t>
            </a:r>
            <a:endParaRPr lang="en-US" sz="3600" dirty="0"/>
          </a:p>
        </p:txBody>
      </p:sp>
      <p:sp>
        <p:nvSpPr>
          <p:cNvPr id="4" name="a1_text"/>
          <p:cNvSpPr txBox="1"/>
          <p:nvPr/>
        </p:nvSpPr>
        <p:spPr>
          <a:xfrm>
            <a:off x="548640" y="1920240"/>
            <a:ext cx="7772400" cy="822960"/>
          </a:xfrm>
          <a:prstGeom prst="rect">
            <a:avLst/>
          </a:prstGeom>
          <a:noFill/>
          <a:ln/>
        </p:spPr>
        <p:txBody>
          <a:bodyPr wrap="square" lIns="0" tIns="0" rIns="0" bIns="0" rtlCol="0" anchor="ctr"/>
          <a:lstStyle/>
          <a:p>
            <a:pPr indent="0" marL="0">
              <a:buNone/>
            </a:pPr>
            <a:r>
              <a:rPr lang="en-US" sz="2000" dirty="0">
                <a:solidFill>
                  <a:srgbClr val="B8C7D9"/>
                </a:solidFill>
                <a:latin typeface="Calibri" pitchFamily="34" charset="0"/>
                <a:ea typeface="Calibri" pitchFamily="34" charset="-122"/>
                <a:cs typeface="Calibri" pitchFamily="34" charset="-120"/>
              </a:rPr>
              <a:t>Busy schedules mean many students and workers skip meals because they are always in a hurry.</a:t>
            </a:r>
            <a:endParaRPr lang="en-US" sz="2000" dirty="0"/>
          </a:p>
        </p:txBody>
      </p:sp>
      <p:sp>
        <p:nvSpPr>
          <p:cNvPr id="5" name="a2_card"/>
          <p:cNvSpPr/>
          <p:nvPr/>
        </p:nvSpPr>
        <p:spPr>
          <a:xfrm>
            <a:off x="548640" y="3017520"/>
            <a:ext cx="3474720" cy="2240280"/>
          </a:xfrm>
          <a:prstGeom prst="roundRect">
            <a:avLst>
              <a:gd name="adj" fmla="val 7347"/>
            </a:avLst>
          </a:prstGeom>
          <a:solidFill>
            <a:srgbClr val="FFFFFF">
              <a:alpha val="8000"/>
            </a:srgbClr>
          </a:solidFill>
          <a:ln w="12700">
            <a:solidFill>
              <a:srgbClr val="FFFFFF">
                <a:alpha val="20000"/>
              </a:srgbClr>
            </a:solidFill>
            <a:prstDash val="solid"/>
          </a:ln>
        </p:spPr>
      </p:sp>
      <p:sp>
        <p:nvSpPr>
          <p:cNvPr id="6" name="a2_circle"/>
          <p:cNvSpPr/>
          <p:nvPr/>
        </p:nvSpPr>
        <p:spPr>
          <a:xfrm>
            <a:off x="868680" y="3291840"/>
            <a:ext cx="731520" cy="731520"/>
          </a:xfrm>
          <a:prstGeom prst="ellipse">
            <a:avLst/>
          </a:prstGeom>
          <a:solidFill>
            <a:srgbClr val="FF6B4A"/>
          </a:solidFill>
          <a:ln/>
        </p:spPr>
      </p:sp>
      <p:pic>
        <p:nvPicPr>
          <p:cNvPr id="7" name="a2_icon" descr="battery">    </p:cNvPr>
          <p:cNvPicPr>
            <a:picLocks noChangeAspect="1"/>
          </p:cNvPicPr>
          <p:nvPr/>
        </p:nvPicPr>
        <p:blipFill>
          <a:blip r:embed="rId1"/>
          <a:stretch>
            <a:fillRect/>
          </a:stretch>
        </p:blipFill>
        <p:spPr>
          <a:xfrm>
            <a:off x="1066190" y="3489350"/>
            <a:ext cx="336499" cy="336499"/>
          </a:xfrm>
          <a:prstGeom prst="rect">
            <a:avLst/>
          </a:prstGeom>
        </p:spPr>
      </p:pic>
      <p:sp>
        <p:nvSpPr>
          <p:cNvPr id="8" name="a2_h"/>
          <p:cNvSpPr txBox="1"/>
          <p:nvPr/>
        </p:nvSpPr>
        <p:spPr>
          <a:xfrm>
            <a:off x="868680" y="4160520"/>
            <a:ext cx="283464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Low energy</a:t>
            </a:r>
            <a:endParaRPr lang="en-US" sz="2000" dirty="0"/>
          </a:p>
        </p:txBody>
      </p:sp>
      <p:sp>
        <p:nvSpPr>
          <p:cNvPr id="9" name="a2_d"/>
          <p:cNvSpPr txBox="1"/>
          <p:nvPr/>
        </p:nvSpPr>
        <p:spPr>
          <a:xfrm>
            <a:off x="868680" y="4572000"/>
            <a:ext cx="2834640" cy="594360"/>
          </a:xfrm>
          <a:prstGeom prst="rect">
            <a:avLst/>
          </a:prstGeom>
          <a:noFill/>
          <a:ln/>
        </p:spPr>
        <p:txBody>
          <a:bodyPr wrap="square" lIns="0" tIns="0" rIns="0" bIns="0" rtlCol="0" anchor="ctr"/>
          <a:lstStyle/>
          <a:p>
            <a:pPr indent="0" marL="0">
              <a:buNone/>
            </a:pPr>
            <a:r>
              <a:rPr lang="en-US" sz="1400" dirty="0">
                <a:solidFill>
                  <a:srgbClr val="B8C7D9"/>
                </a:solidFill>
                <a:latin typeface="Calibri" pitchFamily="34" charset="0"/>
                <a:ea typeface="Calibri" pitchFamily="34" charset="-122"/>
                <a:cs typeface="Calibri" pitchFamily="34" charset="-120"/>
              </a:rPr>
              <a:t>Skipping meals leaves you tired before the day is over.</a:t>
            </a:r>
            <a:endParaRPr lang="en-US" sz="1400" dirty="0"/>
          </a:p>
        </p:txBody>
      </p:sp>
      <p:sp>
        <p:nvSpPr>
          <p:cNvPr id="10" name="a3_card"/>
          <p:cNvSpPr/>
          <p:nvPr/>
        </p:nvSpPr>
        <p:spPr>
          <a:xfrm>
            <a:off x="4297680" y="3017520"/>
            <a:ext cx="3474720" cy="2240280"/>
          </a:xfrm>
          <a:prstGeom prst="roundRect">
            <a:avLst>
              <a:gd name="adj" fmla="val 7347"/>
            </a:avLst>
          </a:prstGeom>
          <a:solidFill>
            <a:srgbClr val="FFFFFF">
              <a:alpha val="8000"/>
            </a:srgbClr>
          </a:solidFill>
          <a:ln w="12700">
            <a:solidFill>
              <a:srgbClr val="FFFFFF">
                <a:alpha val="20000"/>
              </a:srgbClr>
            </a:solidFill>
            <a:prstDash val="solid"/>
          </a:ln>
        </p:spPr>
      </p:sp>
      <p:sp>
        <p:nvSpPr>
          <p:cNvPr id="11" name="a3_circle"/>
          <p:cNvSpPr/>
          <p:nvPr/>
        </p:nvSpPr>
        <p:spPr>
          <a:xfrm>
            <a:off x="4617720" y="3291840"/>
            <a:ext cx="731520" cy="731520"/>
          </a:xfrm>
          <a:prstGeom prst="ellipse">
            <a:avLst/>
          </a:prstGeom>
          <a:solidFill>
            <a:srgbClr val="FF6B4A"/>
          </a:solidFill>
          <a:ln/>
        </p:spPr>
      </p:sp>
      <p:pic>
        <p:nvPicPr>
          <p:cNvPr id="12" name="a3_icon" descr="brain">    </p:cNvPr>
          <p:cNvPicPr>
            <a:picLocks noChangeAspect="1"/>
          </p:cNvPicPr>
          <p:nvPr/>
        </p:nvPicPr>
        <p:blipFill>
          <a:blip r:embed="rId2"/>
          <a:stretch>
            <a:fillRect/>
          </a:stretch>
        </p:blipFill>
        <p:spPr>
          <a:xfrm>
            <a:off x="4815230" y="3489350"/>
            <a:ext cx="336499" cy="336499"/>
          </a:xfrm>
          <a:prstGeom prst="rect">
            <a:avLst/>
          </a:prstGeom>
        </p:spPr>
      </p:pic>
      <p:sp>
        <p:nvSpPr>
          <p:cNvPr id="13" name="a3_h"/>
          <p:cNvSpPr txBox="1"/>
          <p:nvPr/>
        </p:nvSpPr>
        <p:spPr>
          <a:xfrm>
            <a:off x="4617720" y="4160520"/>
            <a:ext cx="283464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Poor focus</a:t>
            </a:r>
            <a:endParaRPr lang="en-US" sz="2000" dirty="0"/>
          </a:p>
        </p:txBody>
      </p:sp>
      <p:sp>
        <p:nvSpPr>
          <p:cNvPr id="14" name="a3_d"/>
          <p:cNvSpPr txBox="1"/>
          <p:nvPr/>
        </p:nvSpPr>
        <p:spPr>
          <a:xfrm>
            <a:off x="4617720" y="4572000"/>
            <a:ext cx="2834640" cy="594360"/>
          </a:xfrm>
          <a:prstGeom prst="rect">
            <a:avLst/>
          </a:prstGeom>
          <a:noFill/>
          <a:ln/>
        </p:spPr>
        <p:txBody>
          <a:bodyPr wrap="square" lIns="0" tIns="0" rIns="0" bIns="0" rtlCol="0" anchor="ctr"/>
          <a:lstStyle/>
          <a:p>
            <a:pPr indent="0" marL="0">
              <a:buNone/>
            </a:pPr>
            <a:r>
              <a:rPr lang="en-US" sz="1400" dirty="0">
                <a:solidFill>
                  <a:srgbClr val="B8C7D9"/>
                </a:solidFill>
                <a:latin typeface="Calibri" pitchFamily="34" charset="0"/>
                <a:ea typeface="Calibri" pitchFamily="34" charset="-122"/>
                <a:cs typeface="Calibri" pitchFamily="34" charset="-120"/>
              </a:rPr>
              <a:t>It becomes harder to concentrate in class or at work.</a:t>
            </a:r>
            <a:endParaRPr lang="en-US" sz="1400" dirty="0"/>
          </a:p>
        </p:txBody>
      </p:sp>
      <p:sp>
        <p:nvSpPr>
          <p:cNvPr id="15" name="a4_card"/>
          <p:cNvSpPr/>
          <p:nvPr/>
        </p:nvSpPr>
        <p:spPr>
          <a:xfrm>
            <a:off x="8046720" y="3017520"/>
            <a:ext cx="3474720" cy="2240280"/>
          </a:xfrm>
          <a:prstGeom prst="roundRect">
            <a:avLst>
              <a:gd name="adj" fmla="val 7347"/>
            </a:avLst>
          </a:prstGeom>
          <a:solidFill>
            <a:srgbClr val="FFFFFF">
              <a:alpha val="8000"/>
            </a:srgbClr>
          </a:solidFill>
          <a:ln w="12700">
            <a:solidFill>
              <a:srgbClr val="FFFFFF">
                <a:alpha val="20000"/>
              </a:srgbClr>
            </a:solidFill>
            <a:prstDash val="solid"/>
          </a:ln>
        </p:spPr>
      </p:sp>
      <p:sp>
        <p:nvSpPr>
          <p:cNvPr id="16" name="a4_circle"/>
          <p:cNvSpPr/>
          <p:nvPr/>
        </p:nvSpPr>
        <p:spPr>
          <a:xfrm>
            <a:off x="8366760" y="3291840"/>
            <a:ext cx="731520" cy="731520"/>
          </a:xfrm>
          <a:prstGeom prst="ellipse">
            <a:avLst/>
          </a:prstGeom>
          <a:solidFill>
            <a:srgbClr val="FF6B4A"/>
          </a:solidFill>
          <a:ln/>
        </p:spPr>
      </p:sp>
      <p:pic>
        <p:nvPicPr>
          <p:cNvPr id="17" name="a4_icon" descr="apple">    </p:cNvPr>
          <p:cNvPicPr>
            <a:picLocks noChangeAspect="1"/>
          </p:cNvPicPr>
          <p:nvPr/>
        </p:nvPicPr>
        <p:blipFill>
          <a:blip r:embed="rId3"/>
          <a:stretch>
            <a:fillRect/>
          </a:stretch>
        </p:blipFill>
        <p:spPr>
          <a:xfrm>
            <a:off x="8564270" y="3489350"/>
            <a:ext cx="336499" cy="336499"/>
          </a:xfrm>
          <a:prstGeom prst="rect">
            <a:avLst/>
          </a:prstGeom>
        </p:spPr>
      </p:pic>
      <p:sp>
        <p:nvSpPr>
          <p:cNvPr id="18" name="a4_h"/>
          <p:cNvSpPr txBox="1"/>
          <p:nvPr/>
        </p:nvSpPr>
        <p:spPr>
          <a:xfrm>
            <a:off x="8366760" y="4160520"/>
            <a:ext cx="283464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Poor nutrition</a:t>
            </a:r>
            <a:endParaRPr lang="en-US" sz="2000" dirty="0"/>
          </a:p>
        </p:txBody>
      </p:sp>
      <p:sp>
        <p:nvSpPr>
          <p:cNvPr id="19" name="a4_d"/>
          <p:cNvSpPr txBox="1"/>
          <p:nvPr/>
        </p:nvSpPr>
        <p:spPr>
          <a:xfrm>
            <a:off x="8366760" y="4572000"/>
            <a:ext cx="2834640" cy="594360"/>
          </a:xfrm>
          <a:prstGeom prst="rect">
            <a:avLst/>
          </a:prstGeom>
          <a:noFill/>
          <a:ln/>
        </p:spPr>
        <p:txBody>
          <a:bodyPr wrap="square" lIns="0" tIns="0" rIns="0" bIns="0" rtlCol="0" anchor="ctr"/>
          <a:lstStyle/>
          <a:p>
            <a:pPr indent="0" marL="0">
              <a:buNone/>
            </a:pPr>
            <a:r>
              <a:rPr lang="en-US" sz="1400" dirty="0">
                <a:solidFill>
                  <a:srgbClr val="B8C7D9"/>
                </a:solidFill>
                <a:latin typeface="Calibri" pitchFamily="34" charset="0"/>
                <a:ea typeface="Calibri" pitchFamily="34" charset="-122"/>
                <a:cs typeface="Calibri" pitchFamily="34" charset="-120"/>
              </a:rPr>
              <a:t>Your body misses the nutrients it needs every day.</a:t>
            </a:r>
            <a:endParaRPr lang="en-US" sz="1400" dirty="0"/>
          </a:p>
        </p:txBody>
      </p:sp>
      <p:sp>
        <p:nvSpPr>
          <p:cNvPr id="20" name="a5_bar"/>
          <p:cNvSpPr/>
          <p:nvPr/>
        </p:nvSpPr>
        <p:spPr>
          <a:xfrm>
            <a:off x="548640" y="5532120"/>
            <a:ext cx="10972800" cy="594360"/>
          </a:xfrm>
          <a:prstGeom prst="roundRect">
            <a:avLst>
              <a:gd name="adj" fmla="val 49231"/>
            </a:avLst>
          </a:prstGeom>
          <a:solidFill>
            <a:srgbClr val="14C9A1"/>
          </a:solidFill>
          <a:ln/>
        </p:spPr>
      </p:sp>
      <p:sp>
        <p:nvSpPr>
          <p:cNvPr id="21" name="a5_bartext"/>
          <p:cNvSpPr txBox="1"/>
          <p:nvPr/>
        </p:nvSpPr>
        <p:spPr>
          <a:xfrm>
            <a:off x="548640" y="5532120"/>
            <a:ext cx="10972800" cy="594360"/>
          </a:xfrm>
          <a:prstGeom prst="rect">
            <a:avLst/>
          </a:prstGeom>
          <a:noFill/>
          <a:ln/>
        </p:spPr>
        <p:txBody>
          <a:bodyPr wrap="square" lIns="0" tIns="0" rIns="0" bIns="0" rtlCol="0" anchor="ctr"/>
          <a:lstStyle/>
          <a:p>
            <a:pPr algn="ctr" indent="0" marL="0">
              <a:buNone/>
            </a:pPr>
            <a:r>
              <a:rPr lang="en-US" sz="1800" b="1" dirty="0">
                <a:solidFill>
                  <a:srgbClr val="0B1F3A"/>
                </a:solidFill>
                <a:latin typeface="Calibri" pitchFamily="34" charset="0"/>
                <a:ea typeface="Calibri" pitchFamily="34" charset="-122"/>
                <a:cs typeface="Calibri" pitchFamily="34" charset="-120"/>
              </a:rPr>
              <a:t>They need a quick and convenient way to get essential nutrients.</a:t>
            </a:r>
            <a:endParaRPr lang="en-US" sz="18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OUR SOLUTION</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Meet NutriPill</a:t>
            </a:r>
            <a:endParaRPr lang="en-US" sz="3600" dirty="0"/>
          </a:p>
        </p:txBody>
      </p:sp>
      <p:pic>
        <p:nvPicPr>
          <p:cNvPr id="4" name="a1_art" descr="Capsule illustration">    </p:cNvPr>
          <p:cNvPicPr>
            <a:picLocks noChangeAspect="1"/>
          </p:cNvPicPr>
          <p:nvPr/>
        </p:nvPicPr>
        <p:blipFill>
          <a:blip r:embed="rId1"/>
          <a:stretch>
            <a:fillRect/>
          </a:stretch>
        </p:blipFill>
        <p:spPr>
          <a:xfrm>
            <a:off x="411480" y="1828800"/>
            <a:ext cx="4023360" cy="4023360"/>
          </a:xfrm>
          <a:prstGeom prst="rect">
            <a:avLst/>
          </a:prstGeom>
        </p:spPr>
      </p:pic>
      <p:sp>
        <p:nvSpPr>
          <p:cNvPr id="5" name="a2_card"/>
          <p:cNvSpPr/>
          <p:nvPr/>
        </p:nvSpPr>
        <p:spPr>
          <a:xfrm>
            <a:off x="484632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5074920" y="2148840"/>
            <a:ext cx="640080" cy="640080"/>
          </a:xfrm>
          <a:prstGeom prst="ellipse">
            <a:avLst/>
          </a:prstGeom>
          <a:solidFill>
            <a:srgbClr val="E3FAF4"/>
          </a:solidFill>
          <a:ln/>
        </p:spPr>
      </p:sp>
      <p:pic>
        <p:nvPicPr>
          <p:cNvPr id="7" name="a2_icon" descr="lightbulb">    </p:cNvPr>
          <p:cNvPicPr>
            <a:picLocks noChangeAspect="1"/>
          </p:cNvPicPr>
          <p:nvPr/>
        </p:nvPicPr>
        <p:blipFill>
          <a:blip r:embed="rId2"/>
          <a:stretch>
            <a:fillRect/>
          </a:stretch>
        </p:blipFill>
        <p:spPr>
          <a:xfrm>
            <a:off x="5247742" y="2321662"/>
            <a:ext cx="294437" cy="294437"/>
          </a:xfrm>
          <a:prstGeom prst="rect">
            <a:avLst/>
          </a:prstGeom>
        </p:spPr>
      </p:pic>
      <p:sp>
        <p:nvSpPr>
          <p:cNvPr id="8" name="a2_h"/>
          <p:cNvSpPr txBox="1"/>
          <p:nvPr/>
        </p:nvSpPr>
        <p:spPr>
          <a:xfrm>
            <a:off x="5897880" y="2103120"/>
            <a:ext cx="2011680" cy="36576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Innovative</a:t>
            </a:r>
            <a:endParaRPr lang="en-US" sz="1700" dirty="0"/>
          </a:p>
        </p:txBody>
      </p:sp>
      <p:sp>
        <p:nvSpPr>
          <p:cNvPr id="9" name="a2_d"/>
          <p:cNvSpPr txBox="1"/>
          <p:nvPr/>
        </p:nvSpPr>
        <p:spPr>
          <a:xfrm>
            <a:off x="5897880" y="2468880"/>
            <a:ext cx="2011680" cy="685800"/>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A new way to get essential nutrients in seconds.</a:t>
            </a:r>
            <a:endParaRPr lang="en-US" sz="1400" dirty="0"/>
          </a:p>
        </p:txBody>
      </p:sp>
      <p:sp>
        <p:nvSpPr>
          <p:cNvPr id="10" name="a3_card"/>
          <p:cNvSpPr/>
          <p:nvPr/>
        </p:nvSpPr>
        <p:spPr>
          <a:xfrm>
            <a:off x="8321040" y="187452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8549640" y="2148840"/>
            <a:ext cx="640080" cy="640080"/>
          </a:xfrm>
          <a:prstGeom prst="ellipse">
            <a:avLst/>
          </a:prstGeom>
          <a:solidFill>
            <a:srgbClr val="E3FAF4"/>
          </a:solidFill>
          <a:ln/>
        </p:spPr>
      </p:sp>
      <p:pic>
        <p:nvPicPr>
          <p:cNvPr id="12" name="a3_icon" descr="suitcase">    </p:cNvPr>
          <p:cNvPicPr>
            <a:picLocks noChangeAspect="1"/>
          </p:cNvPicPr>
          <p:nvPr/>
        </p:nvPicPr>
        <p:blipFill>
          <a:blip r:embed="rId3"/>
          <a:stretch>
            <a:fillRect/>
          </a:stretch>
        </p:blipFill>
        <p:spPr>
          <a:xfrm>
            <a:off x="8722462" y="2321662"/>
            <a:ext cx="294437" cy="294437"/>
          </a:xfrm>
          <a:prstGeom prst="rect">
            <a:avLst/>
          </a:prstGeom>
        </p:spPr>
      </p:pic>
      <p:sp>
        <p:nvSpPr>
          <p:cNvPr id="13" name="a3_h"/>
          <p:cNvSpPr txBox="1"/>
          <p:nvPr/>
        </p:nvSpPr>
        <p:spPr>
          <a:xfrm>
            <a:off x="9372600" y="2103120"/>
            <a:ext cx="2011680" cy="36576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Small &amp; portable</a:t>
            </a:r>
            <a:endParaRPr lang="en-US" sz="1700" dirty="0"/>
          </a:p>
        </p:txBody>
      </p:sp>
      <p:sp>
        <p:nvSpPr>
          <p:cNvPr id="14" name="a3_d"/>
          <p:cNvSpPr txBox="1"/>
          <p:nvPr/>
        </p:nvSpPr>
        <p:spPr>
          <a:xfrm>
            <a:off x="9372600" y="2468880"/>
            <a:ext cx="2011680" cy="685800"/>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Easy to carry in your bag or pocket.</a:t>
            </a:r>
            <a:endParaRPr lang="en-US" sz="1400" dirty="0"/>
          </a:p>
        </p:txBody>
      </p:sp>
      <p:sp>
        <p:nvSpPr>
          <p:cNvPr id="15" name="a4_card"/>
          <p:cNvSpPr/>
          <p:nvPr/>
        </p:nvSpPr>
        <p:spPr>
          <a:xfrm>
            <a:off x="484632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5074920" y="3840480"/>
            <a:ext cx="640080" cy="640080"/>
          </a:xfrm>
          <a:prstGeom prst="ellipse">
            <a:avLst/>
          </a:prstGeom>
          <a:solidFill>
            <a:srgbClr val="E3FAF4"/>
          </a:solidFill>
          <a:ln/>
        </p:spPr>
      </p:sp>
      <p:pic>
        <p:nvPicPr>
          <p:cNvPr id="17" name="a4_icon" descr="bolt">    </p:cNvPr>
          <p:cNvPicPr>
            <a:picLocks noChangeAspect="1"/>
          </p:cNvPicPr>
          <p:nvPr/>
        </p:nvPicPr>
        <p:blipFill>
          <a:blip r:embed="rId4"/>
          <a:stretch>
            <a:fillRect/>
          </a:stretch>
        </p:blipFill>
        <p:spPr>
          <a:xfrm>
            <a:off x="5247742" y="4013302"/>
            <a:ext cx="294437" cy="294437"/>
          </a:xfrm>
          <a:prstGeom prst="rect">
            <a:avLst/>
          </a:prstGeom>
        </p:spPr>
      </p:pic>
      <p:sp>
        <p:nvSpPr>
          <p:cNvPr id="18" name="a4_h"/>
          <p:cNvSpPr txBox="1"/>
          <p:nvPr/>
        </p:nvSpPr>
        <p:spPr>
          <a:xfrm>
            <a:off x="5897880" y="3794760"/>
            <a:ext cx="2011680" cy="36576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Keeps you going</a:t>
            </a:r>
            <a:endParaRPr lang="en-US" sz="1700" dirty="0"/>
          </a:p>
        </p:txBody>
      </p:sp>
      <p:sp>
        <p:nvSpPr>
          <p:cNvPr id="19" name="a4_d"/>
          <p:cNvSpPr txBox="1"/>
          <p:nvPr/>
        </p:nvSpPr>
        <p:spPr>
          <a:xfrm>
            <a:off x="5897880" y="4160520"/>
            <a:ext cx="2011680" cy="685800"/>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Helps you maintain your energy all day.</a:t>
            </a:r>
            <a:endParaRPr lang="en-US" sz="1400" dirty="0"/>
          </a:p>
        </p:txBody>
      </p:sp>
      <p:sp>
        <p:nvSpPr>
          <p:cNvPr id="20" name="a5_card"/>
          <p:cNvSpPr/>
          <p:nvPr/>
        </p:nvSpPr>
        <p:spPr>
          <a:xfrm>
            <a:off x="8321040" y="3566160"/>
            <a:ext cx="3200400" cy="1463040"/>
          </a:xfrm>
          <a:prstGeom prst="roundRect">
            <a:avLst>
              <a:gd name="adj" fmla="val 11250"/>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8549640" y="3840480"/>
            <a:ext cx="640080" cy="640080"/>
          </a:xfrm>
          <a:prstGeom prst="ellipse">
            <a:avLst/>
          </a:prstGeom>
          <a:solidFill>
            <a:srgbClr val="E3FAF4"/>
          </a:solidFill>
          <a:ln/>
        </p:spPr>
      </p:sp>
      <p:pic>
        <p:nvPicPr>
          <p:cNvPr id="22" name="a5_icon" descr="heart">    </p:cNvPr>
          <p:cNvPicPr>
            <a:picLocks noChangeAspect="1"/>
          </p:cNvPicPr>
          <p:nvPr/>
        </p:nvPicPr>
        <p:blipFill>
          <a:blip r:embed="rId5"/>
          <a:stretch>
            <a:fillRect/>
          </a:stretch>
        </p:blipFill>
        <p:spPr>
          <a:xfrm>
            <a:off x="8722462" y="4013302"/>
            <a:ext cx="294437" cy="294437"/>
          </a:xfrm>
          <a:prstGeom prst="rect">
            <a:avLst/>
          </a:prstGeom>
        </p:spPr>
      </p:pic>
      <p:sp>
        <p:nvSpPr>
          <p:cNvPr id="23" name="a5_h"/>
          <p:cNvSpPr txBox="1"/>
          <p:nvPr/>
        </p:nvSpPr>
        <p:spPr>
          <a:xfrm>
            <a:off x="9372600" y="3794760"/>
            <a:ext cx="2011680" cy="365760"/>
          </a:xfrm>
          <a:prstGeom prst="rect">
            <a:avLst/>
          </a:prstGeom>
          <a:noFill/>
          <a:ln/>
        </p:spPr>
        <p:txBody>
          <a:bodyPr wrap="square" lIns="0" tIns="0" rIns="0" bIns="0" rtlCol="0" anchor="ctr"/>
          <a:lstStyle/>
          <a:p>
            <a:pPr indent="0" marL="0">
              <a:buNone/>
            </a:pPr>
            <a:r>
              <a:rPr lang="en-US" sz="1700" b="1" dirty="0">
                <a:solidFill>
                  <a:srgbClr val="0B1F3A"/>
                </a:solidFill>
                <a:latin typeface="Calibri" pitchFamily="34" charset="0"/>
                <a:ea typeface="Calibri" pitchFamily="34" charset="-122"/>
                <a:cs typeface="Calibri" pitchFamily="34" charset="-120"/>
              </a:rPr>
              <a:t>Built for busy days</a:t>
            </a:r>
            <a:endParaRPr lang="en-US" sz="1700" dirty="0"/>
          </a:p>
        </p:txBody>
      </p:sp>
      <p:sp>
        <p:nvSpPr>
          <p:cNvPr id="24" name="a5_d"/>
          <p:cNvSpPr txBox="1"/>
          <p:nvPr/>
        </p:nvSpPr>
        <p:spPr>
          <a:xfrm>
            <a:off x="9372600" y="4160520"/>
            <a:ext cx="2011680" cy="685800"/>
          </a:xfrm>
          <a:prstGeom prst="rect">
            <a:avLst/>
          </a:prstGeom>
          <a:noFill/>
          <a:ln/>
        </p:spPr>
        <p:txBody>
          <a:bodyPr wrap="square" lIns="0" tIns="0" rIns="0" bIns="0" rtlCol="0" anchor="ctr"/>
          <a:lstStyle/>
          <a:p>
            <a:pPr indent="0" marL="0">
              <a:buNone/>
            </a:pPr>
            <a:r>
              <a:rPr lang="en-US" sz="1400" dirty="0">
                <a:solidFill>
                  <a:srgbClr val="5B6B80"/>
                </a:solidFill>
                <a:latin typeface="Calibri" pitchFamily="34" charset="0"/>
                <a:ea typeface="Calibri" pitchFamily="34" charset="-122"/>
                <a:cs typeface="Calibri" pitchFamily="34" charset="-120"/>
              </a:rPr>
              <a:t>Perfect for students and workers.</a:t>
            </a:r>
            <a:endParaRPr lang="en-US" sz="1400" dirty="0"/>
          </a:p>
        </p:txBody>
      </p:sp>
      <p:sp>
        <p:nvSpPr>
          <p:cNvPr id="25" name="a6_note"/>
          <p:cNvSpPr/>
          <p:nvPr/>
        </p:nvSpPr>
        <p:spPr>
          <a:xfrm>
            <a:off x="4846320" y="5349240"/>
            <a:ext cx="6675120" cy="777240"/>
          </a:xfrm>
          <a:prstGeom prst="roundRect">
            <a:avLst>
              <a:gd name="adj" fmla="val 17647"/>
            </a:avLst>
          </a:prstGeom>
          <a:solidFill>
            <a:srgbClr val="FFF0EC"/>
          </a:solidFill>
          <a:ln/>
        </p:spPr>
      </p:sp>
      <p:sp>
        <p:nvSpPr>
          <p:cNvPr id="26" name="a6_notetext"/>
          <p:cNvSpPr txBox="1"/>
          <p:nvPr/>
        </p:nvSpPr>
        <p:spPr>
          <a:xfrm>
            <a:off x="5074920" y="5349240"/>
            <a:ext cx="6309360" cy="777240"/>
          </a:xfrm>
          <a:prstGeom prst="rect">
            <a:avLst/>
          </a:prstGeom>
          <a:noFill/>
          <a:ln/>
        </p:spPr>
        <p:txBody>
          <a:bodyPr wrap="square" lIns="0" tIns="0" rIns="0" bIns="0" rtlCol="0" anchor="ctr"/>
          <a:lstStyle/>
          <a:p>
            <a:pPr indent="0" marL="0">
              <a:buNone/>
            </a:pPr>
            <a:r>
              <a:rPr lang="en-US" sz="1400" b="1" dirty="0">
                <a:solidFill>
                  <a:srgbClr val="FF6B4A"/>
                </a:solidFill>
                <a:latin typeface="Calibri" pitchFamily="34" charset="0"/>
                <a:ea typeface="Calibri" pitchFamily="34" charset="-122"/>
                <a:cs typeface="Calibri" pitchFamily="34" charset="-120"/>
              </a:rPr>
              <a:t>Good to know: </a:t>
            </a:r>
            <a:pPr indent="0" marL="0">
              <a:buNone/>
            </a:pPr>
            <a:r>
              <a:rPr lang="en-US" sz="1400" dirty="0">
                <a:solidFill>
                  <a:srgbClr val="0B1F3A"/>
                </a:solidFill>
                <a:latin typeface="Calibri" pitchFamily="34" charset="0"/>
                <a:ea typeface="Calibri" pitchFamily="34" charset="-122"/>
                <a:cs typeface="Calibri" pitchFamily="34" charset="-120"/>
              </a:rPr>
              <a:t>NutriPill doesn't replace a complete meal — it supplements your nutrition when life gets busy.</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4</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12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after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600"/>
                                        <p:tgtEl>
                                          <p:spTgt spid="25"/>
                                        </p:tgtEl>
                                      </p:cBhvr>
                                    </p:animEffect>
                                    <p:anim calcmode="lin" valueType="num">
                                      <p:cBhvr>
                                        <p:cTn id="122"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withEffect">
                                  <p:stCondLst>
                                    <p:cond delay="0"/>
                                  </p:stCondLst>
                                  <p:childTnLst>
                                    <p:set>
                                      <p:cBhvr>
                                        <p:cTn id="125" dur="1" fill="hold">
                                          <p:stCondLst>
                                            <p:cond delay="0"/>
                                          </p:stCondLst>
                                        </p:cTn>
                                        <p:tgtEl>
                                          <p:spTgt spid="26"/>
                                        </p:tgtEl>
                                        <p:attrNameLst>
                                          <p:attrName>style.visibility</p:attrName>
                                        </p:attrNameLst>
                                      </p:cBhvr>
                                      <p:to>
                                        <p:strVal val="visible"/>
                                      </p:to>
                                    </p:set>
                                    <p:animEffect transition="in" filter="fade">
                                      <p:cBhvr>
                                        <p:cTn id="126" dur="600"/>
                                        <p:tgtEl>
                                          <p:spTgt spid="26"/>
                                        </p:tgtEl>
                                      </p:cBhvr>
                                    </p:animEffect>
                                    <p:anim calcmode="lin" valueType="num">
                                      <p:cBhvr>
                                        <p:cTn id="127" dur="600" decel="100000" fill="hold"/>
                                        <p:tgtEl>
                                          <p:spTgt spid="26"/>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TARGET AUDIENCE</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Who is NutriPill for?</a:t>
            </a:r>
            <a:endParaRPr lang="en-US" sz="3600" dirty="0"/>
          </a:p>
        </p:txBody>
      </p:sp>
      <p:sp>
        <p:nvSpPr>
          <p:cNvPr id="4" name="a1_text"/>
          <p:cNvSpPr txBox="1"/>
          <p:nvPr/>
        </p:nvSpPr>
        <p:spPr>
          <a:xfrm>
            <a:off x="548640" y="1828800"/>
            <a:ext cx="8229600" cy="548640"/>
          </a:xfrm>
          <a:prstGeom prst="rect">
            <a:avLst/>
          </a:prstGeom>
          <a:noFill/>
          <a:ln/>
        </p:spPr>
        <p:txBody>
          <a:bodyPr wrap="square" lIns="0" tIns="0" rIns="0" bIns="0" rtlCol="0" anchor="ctr"/>
          <a:lstStyle/>
          <a:p>
            <a:pPr indent="0" marL="0">
              <a:buNone/>
            </a:pPr>
            <a:r>
              <a:rPr lang="en-US" sz="2000" dirty="0">
                <a:solidFill>
                  <a:srgbClr val="B8C7D9"/>
                </a:solidFill>
                <a:latin typeface="Calibri" pitchFamily="34" charset="0"/>
                <a:ea typeface="Calibri" pitchFamily="34" charset="-122"/>
                <a:cs typeface="Calibri" pitchFamily="34" charset="-120"/>
              </a:rPr>
              <a:t>Busy people who don't always have time to eat properly.</a:t>
            </a:r>
            <a:endParaRPr lang="en-US" sz="2000" dirty="0"/>
          </a:p>
        </p:txBody>
      </p:sp>
      <p:sp>
        <p:nvSpPr>
          <p:cNvPr id="5" name="a2_card"/>
          <p:cNvSpPr/>
          <p:nvPr/>
        </p:nvSpPr>
        <p:spPr>
          <a:xfrm>
            <a:off x="548640" y="2743200"/>
            <a:ext cx="2560320" cy="31089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6" name="a2_circle"/>
          <p:cNvSpPr/>
          <p:nvPr/>
        </p:nvSpPr>
        <p:spPr>
          <a:xfrm>
            <a:off x="1325880" y="3063240"/>
            <a:ext cx="1005840" cy="1005840"/>
          </a:xfrm>
          <a:prstGeom prst="ellipse">
            <a:avLst/>
          </a:prstGeom>
          <a:solidFill>
            <a:srgbClr val="14C9A1"/>
          </a:solidFill>
          <a:ln/>
        </p:spPr>
      </p:sp>
      <p:pic>
        <p:nvPicPr>
          <p:cNvPr id="7" name="a2_icon" descr="grad">    </p:cNvPr>
          <p:cNvPicPr>
            <a:picLocks noChangeAspect="1"/>
          </p:cNvPicPr>
          <p:nvPr/>
        </p:nvPicPr>
        <p:blipFill>
          <a:blip r:embed="rId1"/>
          <a:stretch>
            <a:fillRect/>
          </a:stretch>
        </p:blipFill>
        <p:spPr>
          <a:xfrm>
            <a:off x="1597457" y="3334817"/>
            <a:ext cx="462686" cy="462686"/>
          </a:xfrm>
          <a:prstGeom prst="rect">
            <a:avLst/>
          </a:prstGeom>
        </p:spPr>
      </p:pic>
      <p:sp>
        <p:nvSpPr>
          <p:cNvPr id="8" name="a2_h"/>
          <p:cNvSpPr txBox="1"/>
          <p:nvPr/>
        </p:nvSpPr>
        <p:spPr>
          <a:xfrm>
            <a:off x="731520" y="4297680"/>
            <a:ext cx="2194560" cy="45720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Students</a:t>
            </a:r>
            <a:endParaRPr lang="en-US" sz="2000" dirty="0"/>
          </a:p>
        </p:txBody>
      </p:sp>
      <p:sp>
        <p:nvSpPr>
          <p:cNvPr id="9" name="a2_d"/>
          <p:cNvSpPr txBox="1"/>
          <p:nvPr/>
        </p:nvSpPr>
        <p:spPr>
          <a:xfrm>
            <a:off x="777240" y="4754880"/>
            <a:ext cx="2103120" cy="822960"/>
          </a:xfrm>
          <a:prstGeom prst="rect">
            <a:avLst/>
          </a:prstGeom>
          <a:noFill/>
          <a:ln/>
        </p:spPr>
        <p:txBody>
          <a:bodyPr wrap="square" lIns="0" tIns="0" rIns="0" bIns="0" rtlCol="0" anchor="ctr"/>
          <a:lstStyle/>
          <a:p>
            <a:pPr algn="ctr" indent="0" marL="0">
              <a:buNone/>
            </a:pPr>
            <a:r>
              <a:rPr lang="en-US" sz="1400" dirty="0">
                <a:solidFill>
                  <a:srgbClr val="5B6B80"/>
                </a:solidFill>
                <a:latin typeface="Calibri" pitchFamily="34" charset="0"/>
                <a:ea typeface="Calibri" pitchFamily="34" charset="-122"/>
                <a:cs typeface="Calibri" pitchFamily="34" charset="-120"/>
              </a:rPr>
              <a:t>Long days of classes, exams and homework.</a:t>
            </a:r>
            <a:endParaRPr lang="en-US" sz="1400" dirty="0"/>
          </a:p>
        </p:txBody>
      </p:sp>
      <p:sp>
        <p:nvSpPr>
          <p:cNvPr id="10" name="a3_card"/>
          <p:cNvSpPr/>
          <p:nvPr/>
        </p:nvSpPr>
        <p:spPr>
          <a:xfrm>
            <a:off x="3364992" y="2743200"/>
            <a:ext cx="2560320" cy="31089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1" name="a3_circle"/>
          <p:cNvSpPr/>
          <p:nvPr/>
        </p:nvSpPr>
        <p:spPr>
          <a:xfrm>
            <a:off x="4142232" y="3063240"/>
            <a:ext cx="1005840" cy="1005840"/>
          </a:xfrm>
          <a:prstGeom prst="ellipse">
            <a:avLst/>
          </a:prstGeom>
          <a:solidFill>
            <a:srgbClr val="14C9A1"/>
          </a:solidFill>
          <a:ln/>
        </p:spPr>
      </p:sp>
      <p:pic>
        <p:nvPicPr>
          <p:cNvPr id="12" name="a3_icon" descr="briefcase">    </p:cNvPr>
          <p:cNvPicPr>
            <a:picLocks noChangeAspect="1"/>
          </p:cNvPicPr>
          <p:nvPr/>
        </p:nvPicPr>
        <p:blipFill>
          <a:blip r:embed="rId2"/>
          <a:stretch>
            <a:fillRect/>
          </a:stretch>
        </p:blipFill>
        <p:spPr>
          <a:xfrm>
            <a:off x="4413809" y="3334817"/>
            <a:ext cx="462686" cy="462686"/>
          </a:xfrm>
          <a:prstGeom prst="rect">
            <a:avLst/>
          </a:prstGeom>
        </p:spPr>
      </p:pic>
      <p:sp>
        <p:nvSpPr>
          <p:cNvPr id="13" name="a3_h"/>
          <p:cNvSpPr txBox="1"/>
          <p:nvPr/>
        </p:nvSpPr>
        <p:spPr>
          <a:xfrm>
            <a:off x="3547872" y="4297680"/>
            <a:ext cx="2194560" cy="45720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Workers</a:t>
            </a:r>
            <a:endParaRPr lang="en-US" sz="2000" dirty="0"/>
          </a:p>
        </p:txBody>
      </p:sp>
      <p:sp>
        <p:nvSpPr>
          <p:cNvPr id="14" name="a3_d"/>
          <p:cNvSpPr txBox="1"/>
          <p:nvPr/>
        </p:nvSpPr>
        <p:spPr>
          <a:xfrm>
            <a:off x="3593592" y="4754880"/>
            <a:ext cx="2103120" cy="822960"/>
          </a:xfrm>
          <a:prstGeom prst="rect">
            <a:avLst/>
          </a:prstGeom>
          <a:noFill/>
          <a:ln/>
        </p:spPr>
        <p:txBody>
          <a:bodyPr wrap="square" lIns="0" tIns="0" rIns="0" bIns="0" rtlCol="0" anchor="ctr"/>
          <a:lstStyle/>
          <a:p>
            <a:pPr algn="ctr" indent="0" marL="0">
              <a:buNone/>
            </a:pPr>
            <a:r>
              <a:rPr lang="en-US" sz="1400" dirty="0">
                <a:solidFill>
                  <a:srgbClr val="5B6B80"/>
                </a:solidFill>
                <a:latin typeface="Calibri" pitchFamily="34" charset="0"/>
                <a:ea typeface="Calibri" pitchFamily="34" charset="-122"/>
                <a:cs typeface="Calibri" pitchFamily="34" charset="-120"/>
              </a:rPr>
              <a:t>Meetings, deadlines and no lunch break.</a:t>
            </a:r>
            <a:endParaRPr lang="en-US" sz="1400" dirty="0"/>
          </a:p>
        </p:txBody>
      </p:sp>
      <p:sp>
        <p:nvSpPr>
          <p:cNvPr id="15" name="a4_card"/>
          <p:cNvSpPr/>
          <p:nvPr/>
        </p:nvSpPr>
        <p:spPr>
          <a:xfrm>
            <a:off x="6181344" y="2743200"/>
            <a:ext cx="2560320" cy="31089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16" name="a4_circle"/>
          <p:cNvSpPr/>
          <p:nvPr/>
        </p:nvSpPr>
        <p:spPr>
          <a:xfrm>
            <a:off x="6958584" y="3063240"/>
            <a:ext cx="1005840" cy="1005840"/>
          </a:xfrm>
          <a:prstGeom prst="ellipse">
            <a:avLst/>
          </a:prstGeom>
          <a:solidFill>
            <a:srgbClr val="14C9A1"/>
          </a:solidFill>
          <a:ln/>
        </p:spPr>
      </p:sp>
      <p:pic>
        <p:nvPicPr>
          <p:cNvPr id="17" name="a4_icon" descr="run">    </p:cNvPr>
          <p:cNvPicPr>
            <a:picLocks noChangeAspect="1"/>
          </p:cNvPicPr>
          <p:nvPr/>
        </p:nvPicPr>
        <p:blipFill>
          <a:blip r:embed="rId3"/>
          <a:stretch>
            <a:fillRect/>
          </a:stretch>
        </p:blipFill>
        <p:spPr>
          <a:xfrm>
            <a:off x="7230161" y="3334817"/>
            <a:ext cx="462686" cy="462686"/>
          </a:xfrm>
          <a:prstGeom prst="rect">
            <a:avLst/>
          </a:prstGeom>
        </p:spPr>
      </p:pic>
      <p:sp>
        <p:nvSpPr>
          <p:cNvPr id="18" name="a4_h"/>
          <p:cNvSpPr txBox="1"/>
          <p:nvPr/>
        </p:nvSpPr>
        <p:spPr>
          <a:xfrm>
            <a:off x="6364224" y="4297680"/>
            <a:ext cx="2194560" cy="45720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Athletes</a:t>
            </a:r>
            <a:endParaRPr lang="en-US" sz="2000" dirty="0"/>
          </a:p>
        </p:txBody>
      </p:sp>
      <p:sp>
        <p:nvSpPr>
          <p:cNvPr id="19" name="a4_d"/>
          <p:cNvSpPr txBox="1"/>
          <p:nvPr/>
        </p:nvSpPr>
        <p:spPr>
          <a:xfrm>
            <a:off x="6409944" y="4754880"/>
            <a:ext cx="2103120" cy="822960"/>
          </a:xfrm>
          <a:prstGeom prst="rect">
            <a:avLst/>
          </a:prstGeom>
          <a:noFill/>
          <a:ln/>
        </p:spPr>
        <p:txBody>
          <a:bodyPr wrap="square" lIns="0" tIns="0" rIns="0" bIns="0" rtlCol="0" anchor="ctr"/>
          <a:lstStyle/>
          <a:p>
            <a:pPr algn="ctr" indent="0" marL="0">
              <a:buNone/>
            </a:pPr>
            <a:r>
              <a:rPr lang="en-US" sz="1400" dirty="0">
                <a:solidFill>
                  <a:srgbClr val="5B6B80"/>
                </a:solidFill>
                <a:latin typeface="Calibri" pitchFamily="34" charset="0"/>
                <a:ea typeface="Calibri" pitchFamily="34" charset="-122"/>
                <a:cs typeface="Calibri" pitchFamily="34" charset="-120"/>
              </a:rPr>
              <a:t>Extra nutrients for training days.</a:t>
            </a:r>
            <a:endParaRPr lang="en-US" sz="1400" dirty="0"/>
          </a:p>
        </p:txBody>
      </p:sp>
      <p:sp>
        <p:nvSpPr>
          <p:cNvPr id="20" name="a5_card"/>
          <p:cNvSpPr/>
          <p:nvPr/>
        </p:nvSpPr>
        <p:spPr>
          <a:xfrm>
            <a:off x="8997696" y="2743200"/>
            <a:ext cx="2560320" cy="3108960"/>
          </a:xfrm>
          <a:prstGeom prst="roundRect">
            <a:avLst>
              <a:gd name="adj" fmla="val 6429"/>
            </a:avLst>
          </a:prstGeom>
          <a:solidFill>
            <a:srgbClr val="FFFFFF"/>
          </a:solidFill>
          <a:ln/>
          <a:effectLst>
            <a:outerShdw sx="100000" sy="100000" kx="0" ky="0" algn="bl" rotWithShape="0" blurRad="228600" dist="76200" dir="5400000">
              <a:srgbClr val="0B1F3A">
                <a:alpha val="12000"/>
              </a:srgbClr>
            </a:outerShdw>
          </a:effectLst>
        </p:spPr>
      </p:sp>
      <p:sp>
        <p:nvSpPr>
          <p:cNvPr id="21" name="a5_circle"/>
          <p:cNvSpPr/>
          <p:nvPr/>
        </p:nvSpPr>
        <p:spPr>
          <a:xfrm>
            <a:off x="9774936" y="3063240"/>
            <a:ext cx="1005840" cy="1005840"/>
          </a:xfrm>
          <a:prstGeom prst="ellipse">
            <a:avLst/>
          </a:prstGeom>
          <a:solidFill>
            <a:srgbClr val="14C9A1"/>
          </a:solidFill>
          <a:ln/>
        </p:spPr>
      </p:sp>
      <p:pic>
        <p:nvPicPr>
          <p:cNvPr id="22" name="a5_icon" descr="clock">    </p:cNvPr>
          <p:cNvPicPr>
            <a:picLocks noChangeAspect="1"/>
          </p:cNvPicPr>
          <p:nvPr/>
        </p:nvPicPr>
        <p:blipFill>
          <a:blip r:embed="rId4"/>
          <a:stretch>
            <a:fillRect/>
          </a:stretch>
        </p:blipFill>
        <p:spPr>
          <a:xfrm>
            <a:off x="10046513" y="3334817"/>
            <a:ext cx="462686" cy="462686"/>
          </a:xfrm>
          <a:prstGeom prst="rect">
            <a:avLst/>
          </a:prstGeom>
        </p:spPr>
      </p:pic>
      <p:sp>
        <p:nvSpPr>
          <p:cNvPr id="23" name="a5_h"/>
          <p:cNvSpPr txBox="1"/>
          <p:nvPr/>
        </p:nvSpPr>
        <p:spPr>
          <a:xfrm>
            <a:off x="9180576" y="4297680"/>
            <a:ext cx="2194560" cy="457200"/>
          </a:xfrm>
          <a:prstGeom prst="rect">
            <a:avLst/>
          </a:prstGeom>
          <a:noFill/>
          <a:ln/>
        </p:spPr>
        <p:txBody>
          <a:bodyPr wrap="square" lIns="0" tIns="0" rIns="0" bIns="0" rtlCol="0" anchor="ctr"/>
          <a:lstStyle/>
          <a:p>
            <a:pPr algn="ctr" indent="0" marL="0">
              <a:buNone/>
            </a:pPr>
            <a:r>
              <a:rPr lang="en-US" sz="2000" b="1" dirty="0">
                <a:solidFill>
                  <a:srgbClr val="0B1F3A"/>
                </a:solidFill>
                <a:latin typeface="Calibri" pitchFamily="34" charset="0"/>
                <a:ea typeface="Calibri" pitchFamily="34" charset="-122"/>
                <a:cs typeface="Calibri" pitchFamily="34" charset="-120"/>
              </a:rPr>
              <a:t>Hectic lifestyles</a:t>
            </a:r>
            <a:endParaRPr lang="en-US" sz="2000" dirty="0"/>
          </a:p>
        </p:txBody>
      </p:sp>
      <p:sp>
        <p:nvSpPr>
          <p:cNvPr id="24" name="a5_d"/>
          <p:cNvSpPr txBox="1"/>
          <p:nvPr/>
        </p:nvSpPr>
        <p:spPr>
          <a:xfrm>
            <a:off x="9226296" y="4754880"/>
            <a:ext cx="2103120" cy="822960"/>
          </a:xfrm>
          <a:prstGeom prst="rect">
            <a:avLst/>
          </a:prstGeom>
          <a:noFill/>
          <a:ln/>
        </p:spPr>
        <p:txBody>
          <a:bodyPr wrap="square" lIns="0" tIns="0" rIns="0" bIns="0" rtlCol="0" anchor="ctr"/>
          <a:lstStyle/>
          <a:p>
            <a:pPr algn="ctr" indent="0" marL="0">
              <a:buNone/>
            </a:pPr>
            <a:r>
              <a:rPr lang="en-US" sz="1400" dirty="0">
                <a:solidFill>
                  <a:srgbClr val="5B6B80"/>
                </a:solidFill>
                <a:latin typeface="Calibri" pitchFamily="34" charset="0"/>
                <a:ea typeface="Calibri" pitchFamily="34" charset="-122"/>
                <a:cs typeface="Calibri" pitchFamily="34" charset="-120"/>
              </a:rPr>
              <a:t>Anyone who is always on the move.</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ACTION PLAN</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Three pillars of our business model</a:t>
            </a:r>
            <a:endParaRPr lang="en-US" sz="3600" dirty="0"/>
          </a:p>
        </p:txBody>
      </p:sp>
      <p:sp>
        <p:nvSpPr>
          <p:cNvPr id="4" name="a1_card"/>
          <p:cNvSpPr/>
          <p:nvPr/>
        </p:nvSpPr>
        <p:spPr>
          <a:xfrm>
            <a:off x="548640" y="2057400"/>
            <a:ext cx="3474720" cy="397764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5" name="a1_num"/>
          <p:cNvSpPr txBox="1"/>
          <p:nvPr/>
        </p:nvSpPr>
        <p:spPr>
          <a:xfrm>
            <a:off x="2743200" y="2240280"/>
            <a:ext cx="1097280" cy="731520"/>
          </a:xfrm>
          <a:prstGeom prst="rect">
            <a:avLst/>
          </a:prstGeom>
          <a:noFill/>
          <a:ln/>
        </p:spPr>
        <p:txBody>
          <a:bodyPr wrap="square" lIns="0" tIns="0" rIns="0" bIns="0" rtlCol="0" anchor="ctr"/>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01</a:t>
            </a:r>
            <a:endParaRPr lang="en-US" sz="4000" dirty="0"/>
          </a:p>
        </p:txBody>
      </p:sp>
      <p:sp>
        <p:nvSpPr>
          <p:cNvPr id="6" name="a1_circle"/>
          <p:cNvSpPr/>
          <p:nvPr/>
        </p:nvSpPr>
        <p:spPr>
          <a:xfrm>
            <a:off x="914400" y="2377440"/>
            <a:ext cx="914400" cy="914400"/>
          </a:xfrm>
          <a:prstGeom prst="ellipse">
            <a:avLst/>
          </a:prstGeom>
          <a:solidFill>
            <a:srgbClr val="0B1F3A"/>
          </a:solidFill>
          <a:ln/>
        </p:spPr>
      </p:sp>
      <p:pic>
        <p:nvPicPr>
          <p:cNvPr id="7" name="a1_icon" descr="coins">    </p:cNvPr>
          <p:cNvPicPr>
            <a:picLocks noChangeAspect="1"/>
          </p:cNvPicPr>
          <p:nvPr/>
        </p:nvPicPr>
        <p:blipFill>
          <a:blip r:embed="rId1"/>
          <a:stretch>
            <a:fillRect/>
          </a:stretch>
        </p:blipFill>
        <p:spPr>
          <a:xfrm>
            <a:off x="1161288" y="2624328"/>
            <a:ext cx="420624" cy="420624"/>
          </a:xfrm>
          <a:prstGeom prst="rect">
            <a:avLst/>
          </a:prstGeom>
        </p:spPr>
      </p:pic>
      <p:sp>
        <p:nvSpPr>
          <p:cNvPr id="8" name="a1_h"/>
          <p:cNvSpPr txBox="1"/>
          <p:nvPr/>
        </p:nvSpPr>
        <p:spPr>
          <a:xfrm>
            <a:off x="914400" y="3566160"/>
            <a:ext cx="2743200" cy="502920"/>
          </a:xfrm>
          <a:prstGeom prst="rect">
            <a:avLst/>
          </a:prstGeom>
          <a:noFill/>
          <a:ln/>
        </p:spPr>
        <p:txBody>
          <a:bodyPr wrap="square" lIns="0" tIns="0" rIns="0" bIns="0" rtlCol="0" anchor="ctr"/>
          <a:lstStyle/>
          <a:p>
            <a:pPr indent="0" marL="0">
              <a:buNone/>
            </a:pPr>
            <a:r>
              <a:rPr lang="en-US" sz="2400" b="1" dirty="0">
                <a:solidFill>
                  <a:srgbClr val="0B1F3A"/>
                </a:solidFill>
                <a:latin typeface="Calibri" pitchFamily="34" charset="0"/>
                <a:ea typeface="Calibri" pitchFamily="34" charset="-122"/>
                <a:cs typeface="Calibri" pitchFamily="34" charset="-120"/>
              </a:rPr>
              <a:t>Revenue</a:t>
            </a:r>
            <a:endParaRPr lang="en-US" sz="2400" dirty="0"/>
          </a:p>
        </p:txBody>
      </p:sp>
      <p:sp>
        <p:nvSpPr>
          <p:cNvPr id="9" name="a1_d"/>
          <p:cNvSpPr txBox="1"/>
          <p:nvPr/>
        </p:nvSpPr>
        <p:spPr>
          <a:xfrm>
            <a:off x="914400" y="4114800"/>
            <a:ext cx="2743200" cy="1097280"/>
          </a:xfrm>
          <a:prstGeom prst="rect">
            <a:avLst/>
          </a:prstGeom>
          <a:noFill/>
          <a:ln/>
        </p:spPr>
        <p:txBody>
          <a:bodyPr wrap="square" lIns="0" tIns="0" rIns="0" bIns="0" rtlCol="0" anchor="ctr"/>
          <a:lstStyle/>
          <a:p>
            <a:pPr indent="0" marL="0">
              <a:buNone/>
            </a:pPr>
            <a:r>
              <a:rPr lang="en-US" sz="1600" dirty="0">
                <a:solidFill>
                  <a:srgbClr val="5B6B80"/>
                </a:solidFill>
                <a:latin typeface="Calibri" pitchFamily="34" charset="0"/>
                <a:ea typeface="Calibri" pitchFamily="34" charset="-122"/>
                <a:cs typeface="Calibri" pitchFamily="34" charset="-120"/>
              </a:rPr>
              <a:t>Direct sales of NutriPill plus brand experiences linked to the product.</a:t>
            </a:r>
            <a:endParaRPr lang="en-US" sz="1600" dirty="0"/>
          </a:p>
        </p:txBody>
      </p:sp>
      <p:sp>
        <p:nvSpPr>
          <p:cNvPr id="10" name="a2_card"/>
          <p:cNvSpPr/>
          <p:nvPr/>
        </p:nvSpPr>
        <p:spPr>
          <a:xfrm>
            <a:off x="4297680" y="2057400"/>
            <a:ext cx="3474720" cy="397764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1" name="a2_num"/>
          <p:cNvSpPr txBox="1"/>
          <p:nvPr/>
        </p:nvSpPr>
        <p:spPr>
          <a:xfrm>
            <a:off x="6492240" y="2240280"/>
            <a:ext cx="1097280" cy="731520"/>
          </a:xfrm>
          <a:prstGeom prst="rect">
            <a:avLst/>
          </a:prstGeom>
          <a:noFill/>
          <a:ln/>
        </p:spPr>
        <p:txBody>
          <a:bodyPr wrap="square" lIns="0" tIns="0" rIns="0" bIns="0" rtlCol="0" anchor="ctr"/>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02</a:t>
            </a:r>
            <a:endParaRPr lang="en-US" sz="4000" dirty="0"/>
          </a:p>
        </p:txBody>
      </p:sp>
      <p:sp>
        <p:nvSpPr>
          <p:cNvPr id="12" name="a2_circle"/>
          <p:cNvSpPr/>
          <p:nvPr/>
        </p:nvSpPr>
        <p:spPr>
          <a:xfrm>
            <a:off x="4663440" y="2377440"/>
            <a:ext cx="914400" cy="914400"/>
          </a:xfrm>
          <a:prstGeom prst="ellipse">
            <a:avLst/>
          </a:prstGeom>
          <a:solidFill>
            <a:srgbClr val="0B1F3A"/>
          </a:solidFill>
          <a:ln/>
        </p:spPr>
      </p:sp>
      <p:pic>
        <p:nvPicPr>
          <p:cNvPr id="13" name="a2_icon" descr="share">    </p:cNvPr>
          <p:cNvPicPr>
            <a:picLocks noChangeAspect="1"/>
          </p:cNvPicPr>
          <p:nvPr/>
        </p:nvPicPr>
        <p:blipFill>
          <a:blip r:embed="rId2"/>
          <a:stretch>
            <a:fillRect/>
          </a:stretch>
        </p:blipFill>
        <p:spPr>
          <a:xfrm>
            <a:off x="4910328" y="2624328"/>
            <a:ext cx="420624" cy="420624"/>
          </a:xfrm>
          <a:prstGeom prst="rect">
            <a:avLst/>
          </a:prstGeom>
        </p:spPr>
      </p:pic>
      <p:sp>
        <p:nvSpPr>
          <p:cNvPr id="14" name="a2_h"/>
          <p:cNvSpPr txBox="1"/>
          <p:nvPr/>
        </p:nvSpPr>
        <p:spPr>
          <a:xfrm>
            <a:off x="4663440" y="3566160"/>
            <a:ext cx="2743200" cy="502920"/>
          </a:xfrm>
          <a:prstGeom prst="rect">
            <a:avLst/>
          </a:prstGeom>
          <a:noFill/>
          <a:ln/>
        </p:spPr>
        <p:txBody>
          <a:bodyPr wrap="square" lIns="0" tIns="0" rIns="0" bIns="0" rtlCol="0" anchor="ctr"/>
          <a:lstStyle/>
          <a:p>
            <a:pPr indent="0" marL="0">
              <a:buNone/>
            </a:pPr>
            <a:r>
              <a:rPr lang="en-US" sz="2400" b="1" dirty="0">
                <a:solidFill>
                  <a:srgbClr val="0B1F3A"/>
                </a:solidFill>
                <a:latin typeface="Calibri" pitchFamily="34" charset="0"/>
                <a:ea typeface="Calibri" pitchFamily="34" charset="-122"/>
                <a:cs typeface="Calibri" pitchFamily="34" charset="-120"/>
              </a:rPr>
              <a:t>Channels</a:t>
            </a:r>
            <a:endParaRPr lang="en-US" sz="2400" dirty="0"/>
          </a:p>
        </p:txBody>
      </p:sp>
      <p:sp>
        <p:nvSpPr>
          <p:cNvPr id="15" name="a2_d"/>
          <p:cNvSpPr txBox="1"/>
          <p:nvPr/>
        </p:nvSpPr>
        <p:spPr>
          <a:xfrm>
            <a:off x="4663440" y="4114800"/>
            <a:ext cx="2743200" cy="1097280"/>
          </a:xfrm>
          <a:prstGeom prst="rect">
            <a:avLst/>
          </a:prstGeom>
          <a:noFill/>
          <a:ln/>
        </p:spPr>
        <p:txBody>
          <a:bodyPr wrap="square" lIns="0" tIns="0" rIns="0" bIns="0" rtlCol="0" anchor="ctr"/>
          <a:lstStyle/>
          <a:p>
            <a:pPr indent="0" marL="0">
              <a:buNone/>
            </a:pPr>
            <a:r>
              <a:rPr lang="en-US" sz="1600" dirty="0">
                <a:solidFill>
                  <a:srgbClr val="5B6B80"/>
                </a:solidFill>
                <a:latin typeface="Calibri" pitchFamily="34" charset="0"/>
                <a:ea typeface="Calibri" pitchFamily="34" charset="-122"/>
                <a:cs typeface="Calibri" pitchFamily="34" charset="-120"/>
              </a:rPr>
              <a:t>A strong presence on the main social networks, plus in-person experiences.</a:t>
            </a:r>
            <a:endParaRPr lang="en-US" sz="1600" dirty="0"/>
          </a:p>
        </p:txBody>
      </p:sp>
      <p:sp>
        <p:nvSpPr>
          <p:cNvPr id="16" name="a3_card"/>
          <p:cNvSpPr/>
          <p:nvPr/>
        </p:nvSpPr>
        <p:spPr>
          <a:xfrm>
            <a:off x="8046720" y="2057400"/>
            <a:ext cx="3474720" cy="3977640"/>
          </a:xfrm>
          <a:prstGeom prst="roundRect">
            <a:avLst>
              <a:gd name="adj" fmla="val 4737"/>
            </a:avLst>
          </a:prstGeom>
          <a:solidFill>
            <a:srgbClr val="FFFFFF"/>
          </a:solidFill>
          <a:ln/>
          <a:effectLst>
            <a:outerShdw sx="100000" sy="100000" kx="0" ky="0" algn="bl" rotWithShape="0" blurRad="228600" dist="76200" dir="5400000">
              <a:srgbClr val="0B1F3A">
                <a:alpha val="12000"/>
              </a:srgbClr>
            </a:outerShdw>
          </a:effectLst>
        </p:spPr>
      </p:sp>
      <p:sp>
        <p:nvSpPr>
          <p:cNvPr id="17" name="a3_num"/>
          <p:cNvSpPr txBox="1"/>
          <p:nvPr/>
        </p:nvSpPr>
        <p:spPr>
          <a:xfrm>
            <a:off x="10241280" y="2240280"/>
            <a:ext cx="1097280" cy="731520"/>
          </a:xfrm>
          <a:prstGeom prst="rect">
            <a:avLst/>
          </a:prstGeom>
          <a:noFill/>
          <a:ln/>
        </p:spPr>
        <p:txBody>
          <a:bodyPr wrap="square" lIns="0" tIns="0" rIns="0" bIns="0" rtlCol="0" anchor="ctr"/>
          <a:lstStyle/>
          <a:p>
            <a:pPr algn="r" indent="0" marL="0">
              <a:buNone/>
            </a:pPr>
            <a:r>
              <a:rPr lang="en-US" sz="4000" dirty="0">
                <a:solidFill>
                  <a:srgbClr val="C8F0E5"/>
                </a:solidFill>
                <a:latin typeface="Arial Black" pitchFamily="34" charset="0"/>
                <a:ea typeface="Arial Black" pitchFamily="34" charset="-122"/>
                <a:cs typeface="Arial Black" pitchFamily="34" charset="-120"/>
              </a:rPr>
              <a:t>03</a:t>
            </a:r>
            <a:endParaRPr lang="en-US" sz="4000" dirty="0"/>
          </a:p>
        </p:txBody>
      </p:sp>
      <p:sp>
        <p:nvSpPr>
          <p:cNvPr id="18" name="a3_circle"/>
          <p:cNvSpPr/>
          <p:nvPr/>
        </p:nvSpPr>
        <p:spPr>
          <a:xfrm>
            <a:off x="8412480" y="2377440"/>
            <a:ext cx="914400" cy="914400"/>
          </a:xfrm>
          <a:prstGeom prst="ellipse">
            <a:avLst/>
          </a:prstGeom>
          <a:solidFill>
            <a:srgbClr val="0B1F3A"/>
          </a:solidFill>
          <a:ln/>
        </p:spPr>
      </p:sp>
      <p:pic>
        <p:nvPicPr>
          <p:cNvPr id="19" name="a3_icon" descr="tag">    </p:cNvPr>
          <p:cNvPicPr>
            <a:picLocks noChangeAspect="1"/>
          </p:cNvPicPr>
          <p:nvPr/>
        </p:nvPicPr>
        <p:blipFill>
          <a:blip r:embed="rId3"/>
          <a:stretch>
            <a:fillRect/>
          </a:stretch>
        </p:blipFill>
        <p:spPr>
          <a:xfrm>
            <a:off x="8659368" y="2624328"/>
            <a:ext cx="420624" cy="420624"/>
          </a:xfrm>
          <a:prstGeom prst="rect">
            <a:avLst/>
          </a:prstGeom>
        </p:spPr>
      </p:pic>
      <p:sp>
        <p:nvSpPr>
          <p:cNvPr id="20" name="a3_h"/>
          <p:cNvSpPr txBox="1"/>
          <p:nvPr/>
        </p:nvSpPr>
        <p:spPr>
          <a:xfrm>
            <a:off x="8412480" y="3566160"/>
            <a:ext cx="2743200" cy="502920"/>
          </a:xfrm>
          <a:prstGeom prst="rect">
            <a:avLst/>
          </a:prstGeom>
          <a:noFill/>
          <a:ln/>
        </p:spPr>
        <p:txBody>
          <a:bodyPr wrap="square" lIns="0" tIns="0" rIns="0" bIns="0" rtlCol="0" anchor="ctr"/>
          <a:lstStyle/>
          <a:p>
            <a:pPr indent="0" marL="0">
              <a:buNone/>
            </a:pPr>
            <a:r>
              <a:rPr lang="en-US" sz="2400" b="1" dirty="0">
                <a:solidFill>
                  <a:srgbClr val="0B1F3A"/>
                </a:solidFill>
                <a:latin typeface="Calibri" pitchFamily="34" charset="0"/>
                <a:ea typeface="Calibri" pitchFamily="34" charset="-122"/>
                <a:cs typeface="Calibri" pitchFamily="34" charset="-120"/>
              </a:rPr>
              <a:t>Pricing</a:t>
            </a:r>
            <a:endParaRPr lang="en-US" sz="2400" dirty="0"/>
          </a:p>
        </p:txBody>
      </p:sp>
      <p:sp>
        <p:nvSpPr>
          <p:cNvPr id="21" name="a3_d"/>
          <p:cNvSpPr txBox="1"/>
          <p:nvPr/>
        </p:nvSpPr>
        <p:spPr>
          <a:xfrm>
            <a:off x="8412480" y="4114800"/>
            <a:ext cx="2743200" cy="1097280"/>
          </a:xfrm>
          <a:prstGeom prst="rect">
            <a:avLst/>
          </a:prstGeom>
          <a:noFill/>
          <a:ln/>
        </p:spPr>
        <p:txBody>
          <a:bodyPr wrap="square" lIns="0" tIns="0" rIns="0" bIns="0" rtlCol="0" anchor="ctr"/>
          <a:lstStyle/>
          <a:p>
            <a:pPr indent="0" marL="0">
              <a:buNone/>
            </a:pPr>
            <a:r>
              <a:rPr lang="en-US" sz="1600" dirty="0">
                <a:solidFill>
                  <a:srgbClr val="5B6B80"/>
                </a:solidFill>
                <a:latin typeface="Calibri" pitchFamily="34" charset="0"/>
                <a:ea typeface="Calibri" pitchFamily="34" charset="-122"/>
                <a:cs typeface="Calibri" pitchFamily="34" charset="-120"/>
              </a:rPr>
              <a:t>Affordable but with added value: an accessible premium option.</a:t>
            </a:r>
            <a:endParaRPr lang="en-US" sz="1600" dirty="0"/>
          </a:p>
        </p:txBody>
      </p:sp>
      <p:pic>
        <p:nvPicPr>
          <p:cNvPr id="22" name="a2_social" descr="instagram">    </p:cNvPr>
          <p:cNvPicPr>
            <a:picLocks noChangeAspect="1"/>
          </p:cNvPicPr>
          <p:nvPr/>
        </p:nvPicPr>
        <p:blipFill>
          <a:blip r:embed="rId4"/>
          <a:stretch>
            <a:fillRect/>
          </a:stretch>
        </p:blipFill>
        <p:spPr>
          <a:xfrm>
            <a:off x="4389120" y="5349240"/>
            <a:ext cx="384048" cy="384048"/>
          </a:xfrm>
          <a:prstGeom prst="rect">
            <a:avLst/>
          </a:prstGeom>
        </p:spPr>
      </p:pic>
      <p:pic>
        <p:nvPicPr>
          <p:cNvPr id="23" name="a2_social" descr="tiktok">    </p:cNvPr>
          <p:cNvPicPr>
            <a:picLocks noChangeAspect="1"/>
          </p:cNvPicPr>
          <p:nvPr/>
        </p:nvPicPr>
        <p:blipFill>
          <a:blip r:embed="rId5"/>
          <a:stretch>
            <a:fillRect/>
          </a:stretch>
        </p:blipFill>
        <p:spPr>
          <a:xfrm>
            <a:off x="4983480" y="5349240"/>
            <a:ext cx="384048" cy="384048"/>
          </a:xfrm>
          <a:prstGeom prst="rect">
            <a:avLst/>
          </a:prstGeom>
        </p:spPr>
      </p:pic>
      <p:pic>
        <p:nvPicPr>
          <p:cNvPr id="24" name="a2_social" descr="youtube">    </p:cNvPr>
          <p:cNvPicPr>
            <a:picLocks noChangeAspect="1"/>
          </p:cNvPicPr>
          <p:nvPr/>
        </p:nvPicPr>
        <p:blipFill>
          <a:blip r:embed="rId6"/>
          <a:stretch>
            <a:fillRect/>
          </a:stretch>
        </p:blipFill>
        <p:spPr>
          <a:xfrm>
            <a:off x="5577840" y="5349240"/>
            <a:ext cx="384048" cy="384048"/>
          </a:xfrm>
          <a:prstGeom prst="rect">
            <a:avLst/>
          </a:prstGeom>
        </p:spPr>
      </p:pic>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6</a:t>
            </a:fld>
            <a:endParaRPr lang="en-US"/>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600"/>
                                        <p:tgtEl>
                                          <p:spTgt spid="22"/>
                                        </p:tgtEl>
                                      </p:cBhvr>
                                    </p:animEffect>
                                    <p:anim calcmode="lin" valueType="num">
                                      <p:cBhvr>
                                        <p:cTn id="7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600"/>
                                        <p:tgtEl>
                                          <p:spTgt spid="23"/>
                                        </p:tgtEl>
                                      </p:cBhvr>
                                    </p:animEffect>
                                    <p:anim calcmode="lin" valueType="num">
                                      <p:cBhvr>
                                        <p:cTn id="8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fade">
                                      <p:cBhvr>
                                        <p:cTn id="91" dur="600"/>
                                        <p:tgtEl>
                                          <p:spTgt spid="16"/>
                                        </p:tgtEl>
                                      </p:cBhvr>
                                    </p:animEffect>
                                    <p:anim calcmode="lin" valueType="num">
                                      <p:cBhvr>
                                        <p:cTn id="9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7"/>
                                        </p:tgtEl>
                                        <p:attrNameLst>
                                          <p:attrName>style.visibility</p:attrName>
                                        </p:attrNameLst>
                                      </p:cBhvr>
                                      <p:to>
                                        <p:strVal val="visible"/>
                                      </p:to>
                                    </p:set>
                                    <p:animEffect transition="in" filter="fade">
                                      <p:cBhvr>
                                        <p:cTn id="96" dur="600"/>
                                        <p:tgtEl>
                                          <p:spTgt spid="17"/>
                                        </p:tgtEl>
                                      </p:cBhvr>
                                    </p:animEffect>
                                    <p:anim calcmode="lin" valueType="num">
                                      <p:cBhvr>
                                        <p:cTn id="9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600"/>
                                        <p:tgtEl>
                                          <p:spTgt spid="18"/>
                                        </p:tgtEl>
                                      </p:cBhvr>
                                    </p:animEffect>
                                    <p:anim calcmode="lin" valueType="num">
                                      <p:cBhvr>
                                        <p:cTn id="10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6" dur="600"/>
                                        <p:tgtEl>
                                          <p:spTgt spid="19"/>
                                        </p:tgtEl>
                                      </p:cBhvr>
                                    </p:animEffect>
                                    <p:anim calcmode="lin" valueType="num">
                                      <p:cBhvr>
                                        <p:cTn id="10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600"/>
                                        <p:tgtEl>
                                          <p:spTgt spid="20"/>
                                        </p:tgtEl>
                                      </p:cBhvr>
                                    </p:animEffect>
                                    <p:anim calcmode="lin" valueType="num">
                                      <p:cBhvr>
                                        <p:cTn id="11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600"/>
                                        <p:tgtEl>
                                          <p:spTgt spid="21"/>
                                        </p:tgtEl>
                                      </p:cBhvr>
                                    </p:animEffect>
                                    <p:anim calcmode="lin" valueType="num">
                                      <p:cBhvr>
                                        <p:cTn id="117" dur="600" decel="100000" fill="hold"/>
                                        <p:tgtEl>
                                          <p:spTgt spid="21"/>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0"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GROWTH STRATEGY</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How we will grow</a:t>
            </a:r>
            <a:endParaRPr lang="en-US" sz="3600" dirty="0"/>
          </a:p>
        </p:txBody>
      </p:sp>
      <p:sp>
        <p:nvSpPr>
          <p:cNvPr id="4" name="a1_line"/>
          <p:cNvSpPr/>
          <p:nvPr/>
        </p:nvSpPr>
        <p:spPr>
          <a:xfrm>
            <a:off x="1097280" y="2880360"/>
            <a:ext cx="9966960" cy="0"/>
          </a:xfrm>
          <a:prstGeom prst="line">
            <a:avLst/>
          </a:prstGeom>
          <a:noFill/>
          <a:ln w="25400">
            <a:solidFill>
              <a:srgbClr val="14C9A1"/>
            </a:solidFill>
            <a:prstDash val="dash"/>
          </a:ln>
        </p:spPr>
      </p:sp>
      <p:sp>
        <p:nvSpPr>
          <p:cNvPr id="5" name="a2_ring"/>
          <p:cNvSpPr/>
          <p:nvPr/>
        </p:nvSpPr>
        <p:spPr>
          <a:xfrm>
            <a:off x="594360" y="2377440"/>
            <a:ext cx="1005840" cy="1005840"/>
          </a:xfrm>
          <a:prstGeom prst="ellipse">
            <a:avLst/>
          </a:prstGeom>
          <a:solidFill>
            <a:srgbClr val="0B1F3A"/>
          </a:solidFill>
          <a:ln w="38100">
            <a:solidFill>
              <a:srgbClr val="14C9A1"/>
            </a:solidFill>
            <a:prstDash val="solid"/>
          </a:ln>
        </p:spPr>
      </p:sp>
      <p:pic>
        <p:nvPicPr>
          <p:cNvPr id="6" name="a2_icon" descr="Inspiring content">    </p:cNvPr>
          <p:cNvPicPr>
            <a:picLocks noChangeAspect="1"/>
          </p:cNvPicPr>
          <p:nvPr/>
        </p:nvPicPr>
        <p:blipFill>
          <a:blip r:embed="rId1"/>
          <a:stretch>
            <a:fillRect/>
          </a:stretch>
        </p:blipFill>
        <p:spPr>
          <a:xfrm>
            <a:off x="850392" y="2633472"/>
            <a:ext cx="493776" cy="493776"/>
          </a:xfrm>
          <a:prstGeom prst="rect">
            <a:avLst/>
          </a:prstGeom>
        </p:spPr>
      </p:pic>
      <p:sp>
        <p:nvSpPr>
          <p:cNvPr id="7" name="a2_num"/>
          <p:cNvSpPr txBox="1"/>
          <p:nvPr/>
        </p:nvSpPr>
        <p:spPr>
          <a:xfrm>
            <a:off x="548640" y="3657600"/>
            <a:ext cx="2560320" cy="457200"/>
          </a:xfrm>
          <a:prstGeom prst="rect">
            <a:avLst/>
          </a:prstGeom>
          <a:noFill/>
          <a:ln/>
        </p:spPr>
        <p:txBody>
          <a:bodyPr wrap="square" lIns="0" tIns="0" rIns="0" bIns="0" rtlCol="0" anchor="ctr"/>
          <a:lstStyle/>
          <a:p>
            <a:pPr indent="0" marL="0">
              <a:buNone/>
            </a:pPr>
            <a:r>
              <a:rPr lang="en-US" sz="2200" dirty="0">
                <a:solidFill>
                  <a:srgbClr val="FF6B4A"/>
                </a:solidFill>
                <a:latin typeface="Arial Black" pitchFamily="34" charset="0"/>
                <a:ea typeface="Arial Black" pitchFamily="34" charset="-122"/>
                <a:cs typeface="Arial Black" pitchFamily="34" charset="-120"/>
              </a:rPr>
              <a:t>01</a:t>
            </a:r>
            <a:endParaRPr lang="en-US" sz="2200" dirty="0"/>
          </a:p>
        </p:txBody>
      </p:sp>
      <p:sp>
        <p:nvSpPr>
          <p:cNvPr id="8" name="a2_h"/>
          <p:cNvSpPr txBox="1"/>
          <p:nvPr/>
        </p:nvSpPr>
        <p:spPr>
          <a:xfrm>
            <a:off x="548640" y="4114800"/>
            <a:ext cx="256032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Inspiring content</a:t>
            </a:r>
            <a:endParaRPr lang="en-US" sz="2000" dirty="0"/>
          </a:p>
        </p:txBody>
      </p:sp>
      <p:sp>
        <p:nvSpPr>
          <p:cNvPr id="9" name="a2_d"/>
          <p:cNvSpPr txBox="1"/>
          <p:nvPr/>
        </p:nvSpPr>
        <p:spPr>
          <a:xfrm>
            <a:off x="548640" y="4617720"/>
            <a:ext cx="2468880" cy="868680"/>
          </a:xfrm>
          <a:prstGeom prst="rect">
            <a:avLst/>
          </a:prstGeom>
          <a:noFill/>
          <a:ln/>
        </p:spPr>
        <p:txBody>
          <a:bodyPr wrap="square" lIns="0" tIns="0" rIns="0" bIns="0" rtlCol="0" anchor="ctr"/>
          <a:lstStyle/>
          <a:p>
            <a:pPr indent="0" marL="0">
              <a:buNone/>
            </a:pPr>
            <a:r>
              <a:rPr lang="en-US" sz="1500" dirty="0">
                <a:solidFill>
                  <a:srgbClr val="B8C7D9"/>
                </a:solidFill>
                <a:latin typeface="Calibri" pitchFamily="34" charset="0"/>
                <a:ea typeface="Calibri" pitchFamily="34" charset="-122"/>
                <a:cs typeface="Calibri" pitchFamily="34" charset="-120"/>
              </a:rPr>
              <a:t>Social media posts that show a real, healthy lifestyle.</a:t>
            </a:r>
            <a:endParaRPr lang="en-US" sz="1500" dirty="0"/>
          </a:p>
        </p:txBody>
      </p:sp>
      <p:sp>
        <p:nvSpPr>
          <p:cNvPr id="10" name="a3_ring"/>
          <p:cNvSpPr/>
          <p:nvPr/>
        </p:nvSpPr>
        <p:spPr>
          <a:xfrm>
            <a:off x="3429000" y="2377440"/>
            <a:ext cx="1005840" cy="1005840"/>
          </a:xfrm>
          <a:prstGeom prst="ellipse">
            <a:avLst/>
          </a:prstGeom>
          <a:solidFill>
            <a:srgbClr val="0B1F3A"/>
          </a:solidFill>
          <a:ln w="38100">
            <a:solidFill>
              <a:srgbClr val="14C9A1"/>
            </a:solidFill>
            <a:prstDash val="solid"/>
          </a:ln>
        </p:spPr>
      </p:sp>
      <p:pic>
        <p:nvPicPr>
          <p:cNvPr id="11" name="a3_icon" descr="Local influencers">    </p:cNvPr>
          <p:cNvPicPr>
            <a:picLocks noChangeAspect="1"/>
          </p:cNvPicPr>
          <p:nvPr/>
        </p:nvPicPr>
        <p:blipFill>
          <a:blip r:embed="rId2"/>
          <a:stretch>
            <a:fillRect/>
          </a:stretch>
        </p:blipFill>
        <p:spPr>
          <a:xfrm>
            <a:off x="3685032" y="2633472"/>
            <a:ext cx="493776" cy="493776"/>
          </a:xfrm>
          <a:prstGeom prst="rect">
            <a:avLst/>
          </a:prstGeom>
        </p:spPr>
      </p:pic>
      <p:sp>
        <p:nvSpPr>
          <p:cNvPr id="12" name="a3_num"/>
          <p:cNvSpPr txBox="1"/>
          <p:nvPr/>
        </p:nvSpPr>
        <p:spPr>
          <a:xfrm>
            <a:off x="3383280" y="3657600"/>
            <a:ext cx="2560320" cy="457200"/>
          </a:xfrm>
          <a:prstGeom prst="rect">
            <a:avLst/>
          </a:prstGeom>
          <a:noFill/>
          <a:ln/>
        </p:spPr>
        <p:txBody>
          <a:bodyPr wrap="square" lIns="0" tIns="0" rIns="0" bIns="0" rtlCol="0" anchor="ctr"/>
          <a:lstStyle/>
          <a:p>
            <a:pPr indent="0" marL="0">
              <a:buNone/>
            </a:pPr>
            <a:r>
              <a:rPr lang="en-US" sz="2200" dirty="0">
                <a:solidFill>
                  <a:srgbClr val="FF6B4A"/>
                </a:solidFill>
                <a:latin typeface="Arial Black" pitchFamily="34" charset="0"/>
                <a:ea typeface="Arial Black" pitchFamily="34" charset="-122"/>
                <a:cs typeface="Arial Black" pitchFamily="34" charset="-120"/>
              </a:rPr>
              <a:t>02</a:t>
            </a:r>
            <a:endParaRPr lang="en-US" sz="2200" dirty="0"/>
          </a:p>
        </p:txBody>
      </p:sp>
      <p:sp>
        <p:nvSpPr>
          <p:cNvPr id="13" name="a3_h"/>
          <p:cNvSpPr txBox="1"/>
          <p:nvPr/>
        </p:nvSpPr>
        <p:spPr>
          <a:xfrm>
            <a:off x="3383280" y="4114800"/>
            <a:ext cx="256032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Local influencers</a:t>
            </a:r>
            <a:endParaRPr lang="en-US" sz="2000" dirty="0"/>
          </a:p>
        </p:txBody>
      </p:sp>
      <p:sp>
        <p:nvSpPr>
          <p:cNvPr id="14" name="a3_d"/>
          <p:cNvSpPr txBox="1"/>
          <p:nvPr/>
        </p:nvSpPr>
        <p:spPr>
          <a:xfrm>
            <a:off x="3383280" y="4617720"/>
            <a:ext cx="2468880" cy="868680"/>
          </a:xfrm>
          <a:prstGeom prst="rect">
            <a:avLst/>
          </a:prstGeom>
          <a:noFill/>
          <a:ln/>
        </p:spPr>
        <p:txBody>
          <a:bodyPr wrap="square" lIns="0" tIns="0" rIns="0" bIns="0" rtlCol="0" anchor="ctr"/>
          <a:lstStyle/>
          <a:p>
            <a:pPr indent="0" marL="0">
              <a:buNone/>
            </a:pPr>
            <a:r>
              <a:rPr lang="en-US" sz="1500" dirty="0">
                <a:solidFill>
                  <a:srgbClr val="B8C7D9"/>
                </a:solidFill>
                <a:latin typeface="Calibri" pitchFamily="34" charset="0"/>
                <a:ea typeface="Calibri" pitchFamily="34" charset="-122"/>
                <a:cs typeface="Calibri" pitchFamily="34" charset="-120"/>
              </a:rPr>
              <a:t>Partners who represent the brand's philosophy.</a:t>
            </a:r>
            <a:endParaRPr lang="en-US" sz="1500" dirty="0"/>
          </a:p>
        </p:txBody>
      </p:sp>
      <p:sp>
        <p:nvSpPr>
          <p:cNvPr id="15" name="a4_ring"/>
          <p:cNvSpPr/>
          <p:nvPr/>
        </p:nvSpPr>
        <p:spPr>
          <a:xfrm>
            <a:off x="6263640" y="2377440"/>
            <a:ext cx="1005840" cy="1005840"/>
          </a:xfrm>
          <a:prstGeom prst="ellipse">
            <a:avLst/>
          </a:prstGeom>
          <a:solidFill>
            <a:srgbClr val="0B1F3A"/>
          </a:solidFill>
          <a:ln w="38100">
            <a:solidFill>
              <a:srgbClr val="14C9A1"/>
            </a:solidFill>
            <a:prstDash val="solid"/>
          </a:ln>
        </p:spPr>
      </p:sp>
      <p:pic>
        <p:nvPicPr>
          <p:cNvPr id="16" name="a4_icon" descr="Memorable experiences">    </p:cNvPr>
          <p:cNvPicPr>
            <a:picLocks noChangeAspect="1"/>
          </p:cNvPicPr>
          <p:nvPr/>
        </p:nvPicPr>
        <p:blipFill>
          <a:blip r:embed="rId3"/>
          <a:stretch>
            <a:fillRect/>
          </a:stretch>
        </p:blipFill>
        <p:spPr>
          <a:xfrm>
            <a:off x="6519672" y="2633472"/>
            <a:ext cx="493776" cy="493776"/>
          </a:xfrm>
          <a:prstGeom prst="rect">
            <a:avLst/>
          </a:prstGeom>
        </p:spPr>
      </p:pic>
      <p:sp>
        <p:nvSpPr>
          <p:cNvPr id="17" name="a4_num"/>
          <p:cNvSpPr txBox="1"/>
          <p:nvPr/>
        </p:nvSpPr>
        <p:spPr>
          <a:xfrm>
            <a:off x="6217920" y="3657600"/>
            <a:ext cx="2560320" cy="457200"/>
          </a:xfrm>
          <a:prstGeom prst="rect">
            <a:avLst/>
          </a:prstGeom>
          <a:noFill/>
          <a:ln/>
        </p:spPr>
        <p:txBody>
          <a:bodyPr wrap="square" lIns="0" tIns="0" rIns="0" bIns="0" rtlCol="0" anchor="ctr"/>
          <a:lstStyle/>
          <a:p>
            <a:pPr indent="0" marL="0">
              <a:buNone/>
            </a:pPr>
            <a:r>
              <a:rPr lang="en-US" sz="2200" dirty="0">
                <a:solidFill>
                  <a:srgbClr val="FF6B4A"/>
                </a:solidFill>
                <a:latin typeface="Arial Black" pitchFamily="34" charset="0"/>
                <a:ea typeface="Arial Black" pitchFamily="34" charset="-122"/>
                <a:cs typeface="Arial Black" pitchFamily="34" charset="-120"/>
              </a:rPr>
              <a:t>03</a:t>
            </a:r>
            <a:endParaRPr lang="en-US" sz="2200" dirty="0"/>
          </a:p>
        </p:txBody>
      </p:sp>
      <p:sp>
        <p:nvSpPr>
          <p:cNvPr id="18" name="a4_h"/>
          <p:cNvSpPr txBox="1"/>
          <p:nvPr/>
        </p:nvSpPr>
        <p:spPr>
          <a:xfrm>
            <a:off x="6217920" y="4114800"/>
            <a:ext cx="256032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Memorable experiences</a:t>
            </a:r>
            <a:endParaRPr lang="en-US" sz="2000" dirty="0"/>
          </a:p>
        </p:txBody>
      </p:sp>
      <p:sp>
        <p:nvSpPr>
          <p:cNvPr id="19" name="a4_d"/>
          <p:cNvSpPr txBox="1"/>
          <p:nvPr/>
        </p:nvSpPr>
        <p:spPr>
          <a:xfrm>
            <a:off x="6217920" y="4617720"/>
            <a:ext cx="2468880" cy="868680"/>
          </a:xfrm>
          <a:prstGeom prst="rect">
            <a:avLst/>
          </a:prstGeom>
          <a:noFill/>
          <a:ln/>
        </p:spPr>
        <p:txBody>
          <a:bodyPr wrap="square" lIns="0" tIns="0" rIns="0" bIns="0" rtlCol="0" anchor="ctr"/>
          <a:lstStyle/>
          <a:p>
            <a:pPr indent="0" marL="0">
              <a:buNone/>
            </a:pPr>
            <a:r>
              <a:rPr lang="en-US" sz="1500" dirty="0">
                <a:solidFill>
                  <a:srgbClr val="B8C7D9"/>
                </a:solidFill>
                <a:latin typeface="Calibri" pitchFamily="34" charset="0"/>
                <a:ea typeface="Calibri" pitchFamily="34" charset="-122"/>
                <a:cs typeface="Calibri" pitchFamily="34" charset="-120"/>
              </a:rPr>
              <a:t>Events, personalized kits and collaborations.</a:t>
            </a:r>
            <a:endParaRPr lang="en-US" sz="1500" dirty="0"/>
          </a:p>
        </p:txBody>
      </p:sp>
      <p:sp>
        <p:nvSpPr>
          <p:cNvPr id="20" name="a5_ring"/>
          <p:cNvSpPr/>
          <p:nvPr/>
        </p:nvSpPr>
        <p:spPr>
          <a:xfrm>
            <a:off x="9098280" y="2377440"/>
            <a:ext cx="1005840" cy="1005840"/>
          </a:xfrm>
          <a:prstGeom prst="ellipse">
            <a:avLst/>
          </a:prstGeom>
          <a:solidFill>
            <a:srgbClr val="0B1F3A"/>
          </a:solidFill>
          <a:ln w="38100">
            <a:solidFill>
              <a:srgbClr val="14C9A1"/>
            </a:solidFill>
            <a:prstDash val="solid"/>
          </a:ln>
        </p:spPr>
      </p:sp>
      <p:pic>
        <p:nvPicPr>
          <p:cNvPr id="21" name="a5_icon" descr="Active community">    </p:cNvPr>
          <p:cNvPicPr>
            <a:picLocks noChangeAspect="1"/>
          </p:cNvPicPr>
          <p:nvPr/>
        </p:nvPicPr>
        <p:blipFill>
          <a:blip r:embed="rId4"/>
          <a:stretch>
            <a:fillRect/>
          </a:stretch>
        </p:blipFill>
        <p:spPr>
          <a:xfrm>
            <a:off x="9354312" y="2633472"/>
            <a:ext cx="493776" cy="493776"/>
          </a:xfrm>
          <a:prstGeom prst="rect">
            <a:avLst/>
          </a:prstGeom>
        </p:spPr>
      </p:pic>
      <p:sp>
        <p:nvSpPr>
          <p:cNvPr id="22" name="a5_num"/>
          <p:cNvSpPr txBox="1"/>
          <p:nvPr/>
        </p:nvSpPr>
        <p:spPr>
          <a:xfrm>
            <a:off x="9052560" y="3657600"/>
            <a:ext cx="2560320" cy="457200"/>
          </a:xfrm>
          <a:prstGeom prst="rect">
            <a:avLst/>
          </a:prstGeom>
          <a:noFill/>
          <a:ln/>
        </p:spPr>
        <p:txBody>
          <a:bodyPr wrap="square" lIns="0" tIns="0" rIns="0" bIns="0" rtlCol="0" anchor="ctr"/>
          <a:lstStyle/>
          <a:p>
            <a:pPr indent="0" marL="0">
              <a:buNone/>
            </a:pPr>
            <a:r>
              <a:rPr lang="en-US" sz="2200" dirty="0">
                <a:solidFill>
                  <a:srgbClr val="FF6B4A"/>
                </a:solidFill>
                <a:latin typeface="Arial Black" pitchFamily="34" charset="0"/>
                <a:ea typeface="Arial Black" pitchFamily="34" charset="-122"/>
                <a:cs typeface="Arial Black" pitchFamily="34" charset="-120"/>
              </a:rPr>
              <a:t>04</a:t>
            </a:r>
            <a:endParaRPr lang="en-US" sz="2200" dirty="0"/>
          </a:p>
        </p:txBody>
      </p:sp>
      <p:sp>
        <p:nvSpPr>
          <p:cNvPr id="23" name="a5_h"/>
          <p:cNvSpPr txBox="1"/>
          <p:nvPr/>
        </p:nvSpPr>
        <p:spPr>
          <a:xfrm>
            <a:off x="9052560" y="4114800"/>
            <a:ext cx="256032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Active community</a:t>
            </a:r>
            <a:endParaRPr lang="en-US" sz="2000" dirty="0"/>
          </a:p>
        </p:txBody>
      </p:sp>
      <p:sp>
        <p:nvSpPr>
          <p:cNvPr id="24" name="a5_d"/>
          <p:cNvSpPr txBox="1"/>
          <p:nvPr/>
        </p:nvSpPr>
        <p:spPr>
          <a:xfrm>
            <a:off x="9052560" y="4617720"/>
            <a:ext cx="2468880" cy="868680"/>
          </a:xfrm>
          <a:prstGeom prst="rect">
            <a:avLst/>
          </a:prstGeom>
          <a:noFill/>
          <a:ln/>
        </p:spPr>
        <p:txBody>
          <a:bodyPr wrap="square" lIns="0" tIns="0" rIns="0" bIns="0" rtlCol="0" anchor="ctr"/>
          <a:lstStyle/>
          <a:p>
            <a:pPr indent="0" marL="0">
              <a:buNone/>
            </a:pPr>
            <a:r>
              <a:rPr lang="en-US" sz="1500" dirty="0">
                <a:solidFill>
                  <a:srgbClr val="B8C7D9"/>
                </a:solidFill>
                <a:latin typeface="Calibri" pitchFamily="34" charset="0"/>
                <a:ea typeface="Calibri" pitchFamily="34" charset="-122"/>
                <a:cs typeface="Calibri" pitchFamily="34" charset="-120"/>
              </a:rPr>
              <a:t>Inviting customers to be part of the brand.</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1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after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fade">
                                      <p:cBhvr>
                                        <p:cTn id="96" dur="600"/>
                                        <p:tgtEl>
                                          <p:spTgt spid="20"/>
                                        </p:tgtEl>
                                      </p:cBhvr>
                                    </p:animEffect>
                                    <p:anim calcmode="lin" valueType="num">
                                      <p:cBhvr>
                                        <p:cTn id="97"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600"/>
                                        <p:tgtEl>
                                          <p:spTgt spid="21"/>
                                        </p:tgtEl>
                                      </p:cBhvr>
                                    </p:animEffect>
                                    <p:anim calcmode="lin" valueType="num">
                                      <p:cBhvr>
                                        <p:cTn id="102"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2"/>
                                        </p:tgtEl>
                                        <p:attrNameLst>
                                          <p:attrName>style.visibility</p:attrName>
                                        </p:attrNameLst>
                                      </p:cBhvr>
                                      <p:to>
                                        <p:strVal val="visible"/>
                                      </p:to>
                                    </p:set>
                                    <p:animEffect transition="in" filter="fade">
                                      <p:cBhvr>
                                        <p:cTn id="106" dur="600"/>
                                        <p:tgtEl>
                                          <p:spTgt spid="22"/>
                                        </p:tgtEl>
                                      </p:cBhvr>
                                    </p:animEffect>
                                    <p:anim calcmode="lin" valueType="num">
                                      <p:cBhvr>
                                        <p:cTn id="107"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3"/>
                                        </p:tgtEl>
                                        <p:attrNameLst>
                                          <p:attrName>style.visibility</p:attrName>
                                        </p:attrNameLst>
                                      </p:cBhvr>
                                      <p:to>
                                        <p:strVal val="visible"/>
                                      </p:to>
                                    </p:set>
                                    <p:animEffect transition="in" filter="fade">
                                      <p:cBhvr>
                                        <p:cTn id="111" dur="600"/>
                                        <p:tgtEl>
                                          <p:spTgt spid="23"/>
                                        </p:tgtEl>
                                      </p:cBhvr>
                                    </p:animEffect>
                                    <p:anim calcmode="lin" valueType="num">
                                      <p:cBhvr>
                                        <p:cTn id="112"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4"/>
                                        </p:tgtEl>
                                        <p:attrNameLst>
                                          <p:attrName>style.visibility</p:attrName>
                                        </p:attrNameLst>
                                      </p:cBhvr>
                                      <p:to>
                                        <p:strVal val="visible"/>
                                      </p:to>
                                    </p:set>
                                    <p:animEffect transition="in" filter="fade">
                                      <p:cBhvr>
                                        <p:cTn id="116" dur="600"/>
                                        <p:tgtEl>
                                          <p:spTgt spid="24"/>
                                        </p:tgtEl>
                                      </p:cBhvr>
                                    </p:animEffect>
                                    <p:anim calcmode="lin" valueType="num">
                                      <p:cBhvr>
                                        <p:cTn id="117" dur="600" decel="100000" fill="hold"/>
                                        <p:tgtEl>
                                          <p:spTgt spid="2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OUR PROPOSAL</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tx1"/>
                </a:solidFill>
                <a:latin typeface="Arial Black" pitchFamily="34" charset="0"/>
                <a:ea typeface="Arial Black" pitchFamily="34" charset="-122"/>
                <a:cs typeface="Arial Black" pitchFamily="34" charset="-120"/>
              </a:rPr>
              <a:t>Let's grow together</a:t>
            </a:r>
            <a:endParaRPr lang="en-US" sz="3600" dirty="0"/>
          </a:p>
        </p:txBody>
      </p:sp>
      <p:sp>
        <p:nvSpPr>
          <p:cNvPr id="4" name="a1_circle"/>
          <p:cNvSpPr/>
          <p:nvPr/>
        </p:nvSpPr>
        <p:spPr>
          <a:xfrm>
            <a:off x="548640" y="2011680"/>
            <a:ext cx="1097280" cy="1097280"/>
          </a:xfrm>
          <a:prstGeom prst="ellipse">
            <a:avLst/>
          </a:prstGeom>
          <a:solidFill>
            <a:srgbClr val="14C9A1"/>
          </a:solidFill>
          <a:ln/>
        </p:spPr>
      </p:sp>
      <p:pic>
        <p:nvPicPr>
          <p:cNvPr id="5" name="a1_icon" descr="handshake">    </p:cNvPr>
          <p:cNvPicPr>
            <a:picLocks noChangeAspect="1"/>
          </p:cNvPicPr>
          <p:nvPr/>
        </p:nvPicPr>
        <p:blipFill>
          <a:blip r:embed="rId1"/>
          <a:stretch>
            <a:fillRect/>
          </a:stretch>
        </p:blipFill>
        <p:spPr>
          <a:xfrm>
            <a:off x="844906" y="2307946"/>
            <a:ext cx="504749" cy="504749"/>
          </a:xfrm>
          <a:prstGeom prst="rect">
            <a:avLst/>
          </a:prstGeom>
        </p:spPr>
      </p:pic>
      <p:sp>
        <p:nvSpPr>
          <p:cNvPr id="6" name="a2_lead"/>
          <p:cNvSpPr txBox="1"/>
          <p:nvPr/>
        </p:nvSpPr>
        <p:spPr>
          <a:xfrm>
            <a:off x="548640" y="3337560"/>
            <a:ext cx="4937760" cy="822960"/>
          </a:xfrm>
          <a:prstGeom prst="rect">
            <a:avLst/>
          </a:prstGeom>
          <a:noFill/>
          <a:ln/>
        </p:spPr>
        <p:txBody>
          <a:bodyPr wrap="square" lIns="0" tIns="0" rIns="0" bIns="0" rtlCol="0" anchor="ctr"/>
          <a:lstStyle/>
          <a:p>
            <a:pPr indent="0" marL="0">
              <a:buNone/>
            </a:pPr>
            <a:r>
              <a:rPr lang="en-US" sz="2200" b="1" dirty="0">
                <a:solidFill>
                  <a:srgbClr val="0B1F3A"/>
                </a:solidFill>
                <a:latin typeface="Calibri" pitchFamily="34" charset="0"/>
                <a:ea typeface="Calibri" pitchFamily="34" charset="-122"/>
                <a:cs typeface="Calibri" pitchFamily="34" charset="-120"/>
              </a:rPr>
              <a:t>We are looking for brands that want to grow with us.</a:t>
            </a:r>
            <a:endParaRPr lang="en-US" sz="2200" dirty="0"/>
          </a:p>
        </p:txBody>
      </p:sp>
      <p:sp>
        <p:nvSpPr>
          <p:cNvPr id="7" name="a2_text"/>
          <p:cNvSpPr txBox="1"/>
          <p:nvPr/>
        </p:nvSpPr>
        <p:spPr>
          <a:xfrm>
            <a:off x="548640" y="4206240"/>
            <a:ext cx="4937760" cy="1371600"/>
          </a:xfrm>
          <a:prstGeom prst="rect">
            <a:avLst/>
          </a:prstGeom>
          <a:noFill/>
          <a:ln/>
        </p:spPr>
        <p:txBody>
          <a:bodyPr wrap="square" lIns="0" tIns="0" rIns="0" bIns="0" rtlCol="0" anchor="ctr"/>
          <a:lstStyle/>
          <a:p>
            <a:pPr indent="0" marL="0">
              <a:buNone/>
            </a:pPr>
            <a:r>
              <a:rPr lang="en-US" sz="1700" dirty="0">
                <a:solidFill>
                  <a:srgbClr val="5B6B80"/>
                </a:solidFill>
                <a:latin typeface="Calibri" pitchFamily="34" charset="0"/>
                <a:ea typeface="Calibri" pitchFamily="34" charset="-122"/>
                <a:cs typeface="Calibri" pitchFamily="34" charset="-120"/>
              </a:rPr>
              <a:t>We propose a strategic partnership where you gain visibility, a strong position with a young audience, and connection with new customers.</a:t>
            </a:r>
            <a:endParaRPr lang="en-US" sz="1700" dirty="0"/>
          </a:p>
        </p:txBody>
      </p:sp>
      <p:sp>
        <p:nvSpPr>
          <p:cNvPr id="8" name="a3_card"/>
          <p:cNvSpPr/>
          <p:nvPr/>
        </p:nvSpPr>
        <p:spPr>
          <a:xfrm>
            <a:off x="6172200" y="1920240"/>
            <a:ext cx="5349240" cy="4206240"/>
          </a:xfrm>
          <a:prstGeom prst="roundRect">
            <a:avLst>
              <a:gd name="adj" fmla="val 3913"/>
            </a:avLst>
          </a:prstGeom>
          <a:solidFill>
            <a:srgbClr val="0B1F3A"/>
          </a:solidFill>
          <a:ln/>
          <a:effectLst>
            <a:outerShdw sx="100000" sy="100000" kx="0" ky="0" algn="bl" rotWithShape="0" blurRad="228600" dist="76200" dir="5400000">
              <a:srgbClr val="0B1F3A">
                <a:alpha val="12000"/>
              </a:srgbClr>
            </a:outerShdw>
          </a:effectLst>
        </p:spPr>
      </p:sp>
      <p:sp>
        <p:nvSpPr>
          <p:cNvPr id="9" name="a3_h"/>
          <p:cNvSpPr txBox="1"/>
          <p:nvPr/>
        </p:nvSpPr>
        <p:spPr>
          <a:xfrm>
            <a:off x="6583680" y="2240280"/>
            <a:ext cx="4572000" cy="365760"/>
          </a:xfrm>
          <a:prstGeom prst="rect">
            <a:avLst/>
          </a:prstGeom>
          <a:noFill/>
          <a:ln/>
        </p:spPr>
        <p:txBody>
          <a:bodyPr wrap="square" lIns="0" tIns="0" rIns="0" bIns="0" rtlCol="0" anchor="ctr"/>
          <a:lstStyle/>
          <a:p>
            <a:pPr indent="0" marL="0">
              <a:buNone/>
            </a:pPr>
            <a:r>
              <a:rPr lang="en-US" sz="1400" b="1" spc="300" kern="0" dirty="0">
                <a:solidFill>
                  <a:srgbClr val="14C9A1"/>
                </a:solidFill>
                <a:latin typeface="Calibri" pitchFamily="34" charset="0"/>
                <a:ea typeface="Calibri" pitchFamily="34" charset="-122"/>
                <a:cs typeface="Calibri" pitchFamily="34" charset="-120"/>
              </a:rPr>
              <a:t>WITH YOUR SUPPORT WE CAN:</a:t>
            </a:r>
            <a:endParaRPr lang="en-US" sz="1400" dirty="0"/>
          </a:p>
        </p:txBody>
      </p:sp>
      <p:sp>
        <p:nvSpPr>
          <p:cNvPr id="10" name="a4_dot"/>
          <p:cNvSpPr/>
          <p:nvPr/>
        </p:nvSpPr>
        <p:spPr>
          <a:xfrm>
            <a:off x="6583680" y="2880360"/>
            <a:ext cx="548640" cy="548640"/>
          </a:xfrm>
          <a:prstGeom prst="ellipse">
            <a:avLst/>
          </a:prstGeom>
          <a:solidFill>
            <a:srgbClr val="14C9A1"/>
          </a:solidFill>
          <a:ln/>
        </p:spPr>
      </p:sp>
      <p:pic>
        <p:nvPicPr>
          <p:cNvPr id="11" name="a4_check" descr="check">    </p:cNvPr>
          <p:cNvPicPr>
            <a:picLocks noChangeAspect="1"/>
          </p:cNvPicPr>
          <p:nvPr/>
        </p:nvPicPr>
        <p:blipFill>
          <a:blip r:embed="rId2"/>
          <a:stretch>
            <a:fillRect/>
          </a:stretch>
        </p:blipFill>
        <p:spPr>
          <a:xfrm>
            <a:off x="6720840" y="3017520"/>
            <a:ext cx="274320" cy="274320"/>
          </a:xfrm>
          <a:prstGeom prst="rect">
            <a:avLst/>
          </a:prstGeom>
        </p:spPr>
      </p:pic>
      <p:sp>
        <p:nvSpPr>
          <p:cNvPr id="12" name="a4_t"/>
          <p:cNvSpPr txBox="1"/>
          <p:nvPr/>
        </p:nvSpPr>
        <p:spPr>
          <a:xfrm>
            <a:off x="7360920" y="278892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Develop joint products and experiences</a:t>
            </a:r>
            <a:endParaRPr lang="en-US" sz="1800" dirty="0"/>
          </a:p>
        </p:txBody>
      </p:sp>
      <p:sp>
        <p:nvSpPr>
          <p:cNvPr id="13" name="a5_dot"/>
          <p:cNvSpPr/>
          <p:nvPr/>
        </p:nvSpPr>
        <p:spPr>
          <a:xfrm>
            <a:off x="6583680" y="3886200"/>
            <a:ext cx="548640" cy="548640"/>
          </a:xfrm>
          <a:prstGeom prst="ellipse">
            <a:avLst/>
          </a:prstGeom>
          <a:solidFill>
            <a:srgbClr val="14C9A1"/>
          </a:solidFill>
          <a:ln/>
        </p:spPr>
      </p:sp>
      <p:pic>
        <p:nvPicPr>
          <p:cNvPr id="14" name="a5_check" descr="check">    </p:cNvPr>
          <p:cNvPicPr>
            <a:picLocks noChangeAspect="1"/>
          </p:cNvPicPr>
          <p:nvPr/>
        </p:nvPicPr>
        <p:blipFill>
          <a:blip r:embed="rId3"/>
          <a:stretch>
            <a:fillRect/>
          </a:stretch>
        </p:blipFill>
        <p:spPr>
          <a:xfrm>
            <a:off x="6720840" y="4023360"/>
            <a:ext cx="274320" cy="274320"/>
          </a:xfrm>
          <a:prstGeom prst="rect">
            <a:avLst/>
          </a:prstGeom>
        </p:spPr>
      </p:pic>
      <p:sp>
        <p:nvSpPr>
          <p:cNvPr id="15" name="a5_t"/>
          <p:cNvSpPr txBox="1"/>
          <p:nvPr/>
        </p:nvSpPr>
        <p:spPr>
          <a:xfrm>
            <a:off x="7360920" y="379476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Increase our reach through campaigns</a:t>
            </a:r>
            <a:endParaRPr lang="en-US" sz="1800" dirty="0"/>
          </a:p>
        </p:txBody>
      </p:sp>
      <p:sp>
        <p:nvSpPr>
          <p:cNvPr id="16" name="a6_dot"/>
          <p:cNvSpPr/>
          <p:nvPr/>
        </p:nvSpPr>
        <p:spPr>
          <a:xfrm>
            <a:off x="6583680" y="4892040"/>
            <a:ext cx="548640" cy="548640"/>
          </a:xfrm>
          <a:prstGeom prst="ellipse">
            <a:avLst/>
          </a:prstGeom>
          <a:solidFill>
            <a:srgbClr val="14C9A1"/>
          </a:solidFill>
          <a:ln/>
        </p:spPr>
      </p:sp>
      <p:pic>
        <p:nvPicPr>
          <p:cNvPr id="17" name="a6_check" descr="check">    </p:cNvPr>
          <p:cNvPicPr>
            <a:picLocks noChangeAspect="1"/>
          </p:cNvPicPr>
          <p:nvPr/>
        </p:nvPicPr>
        <p:blipFill>
          <a:blip r:embed="rId4"/>
          <a:stretch>
            <a:fillRect/>
          </a:stretch>
        </p:blipFill>
        <p:spPr>
          <a:xfrm>
            <a:off x="6720840" y="5029200"/>
            <a:ext cx="274320" cy="274320"/>
          </a:xfrm>
          <a:prstGeom prst="rect">
            <a:avLst/>
          </a:prstGeom>
        </p:spPr>
      </p:pic>
      <p:sp>
        <p:nvSpPr>
          <p:cNvPr id="18" name="a6_t"/>
          <p:cNvSpPr txBox="1"/>
          <p:nvPr/>
        </p:nvSpPr>
        <p:spPr>
          <a:xfrm>
            <a:off x="7360920" y="4800600"/>
            <a:ext cx="3931920" cy="7315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Build greater credibility and growth</a:t>
            </a:r>
            <a:endParaRPr lang="en-US" sz="18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8</a:t>
            </a:fld>
            <a:endParaRPr lang="en-US"/>
          </a:p>
        </p:txBody>
      </p:sp>
    </p:spTree>
  </p:cSld>
  <p:clrMapOvr>
    <a:masterClrMapping/>
  </p:clrMapOvr>
  <p:transition spd="slow">
    <p:push dir="l"/>
  </p:transition>
  <p:timing>
    <p:tnLst>
      <p:par>
        <p:cTn id="1" dur="indefinite" restart="never" nodeType="tmRoot">
          <p:childTnLst>
            <p:seq concurrent="1" nextAc="seek">
              <p:cTn id="2" dur="indefinite" nodeType="mainSeq">
                <p:childTnLst>
                  <p:par>
                    <p:cTn id="88"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after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after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after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600"/>
                                        <p:tgtEl>
                                          <p:spTgt spid="18"/>
                                        </p:tgtEl>
                                      </p:cBhvr>
                                    </p:animEffect>
                                    <p:anim calcmode="lin" valueType="num">
                                      <p:cBhvr>
                                        <p:cTn id="87" dur="600" decel="100000" fill="hold"/>
                                        <p:tgtEl>
                                          <p:spTgt spid="18"/>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2" grpId="0" animBg="1"/>
      <p:bldP spid="13" grpId="0" animBg="1"/>
      <p:bldP spid="15" grpId="0" animBg="1"/>
      <p:bldP spid="16"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r>
              <a:rPr lang="en-US" sz="1300" b="1" spc="400" kern="0" dirty="0">
                <a:solidFill>
                  <a:schemeClr val="accent1"/>
                </a:solidFill>
              </a:rPr>
              <a:t>OUR GOALS</a:t>
            </a:r>
            <a:endParaRPr lang="en-US" sz="1300" dirty="0"/>
          </a:p>
        </p:txBody>
      </p:sp>
      <p:sp>
        <p:nvSpPr>
          <p:cNvPr id="3"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What we expect to achieve</a:t>
            </a:r>
            <a:endParaRPr lang="en-US" sz="3600" dirty="0"/>
          </a:p>
        </p:txBody>
      </p:sp>
      <p:pic>
        <p:nvPicPr>
          <p:cNvPr id="4" name="a1_art" descr="Capsule illustration">    </p:cNvPr>
          <p:cNvPicPr>
            <a:picLocks noChangeAspect="1"/>
          </p:cNvPicPr>
          <p:nvPr/>
        </p:nvPicPr>
        <p:blipFill>
          <a:blip r:embed="rId1"/>
          <a:stretch>
            <a:fillRect/>
          </a:stretch>
        </p:blipFill>
        <p:spPr>
          <a:xfrm>
            <a:off x="7589520" y="1828800"/>
            <a:ext cx="4389120" cy="4389120"/>
          </a:xfrm>
          <a:prstGeom prst="rect">
            <a:avLst/>
          </a:prstGeom>
        </p:spPr>
      </p:pic>
      <p:sp>
        <p:nvSpPr>
          <p:cNvPr id="5" name="a1_line"/>
          <p:cNvSpPr/>
          <p:nvPr/>
        </p:nvSpPr>
        <p:spPr>
          <a:xfrm>
            <a:off x="960120" y="2377440"/>
            <a:ext cx="0" cy="3291840"/>
          </a:xfrm>
          <a:prstGeom prst="line">
            <a:avLst/>
          </a:prstGeom>
          <a:noFill/>
          <a:ln w="25400">
            <a:solidFill>
              <a:srgbClr val="14C9A1"/>
            </a:solidFill>
            <a:prstDash val="dash"/>
          </a:ln>
        </p:spPr>
      </p:sp>
      <p:sp>
        <p:nvSpPr>
          <p:cNvPr id="6" name="a2_dot"/>
          <p:cNvSpPr/>
          <p:nvPr/>
        </p:nvSpPr>
        <p:spPr>
          <a:xfrm>
            <a:off x="548640" y="2011680"/>
            <a:ext cx="822960" cy="822960"/>
          </a:xfrm>
          <a:prstGeom prst="ellipse">
            <a:avLst/>
          </a:prstGeom>
          <a:solidFill>
            <a:srgbClr val="14C9A1"/>
          </a:solidFill>
          <a:ln/>
        </p:spPr>
      </p:sp>
      <p:pic>
        <p:nvPicPr>
          <p:cNvPr id="7" name="a2_icon" descr="In 6 months">    </p:cNvPr>
          <p:cNvPicPr>
            <a:picLocks noChangeAspect="1"/>
          </p:cNvPicPr>
          <p:nvPr/>
        </p:nvPicPr>
        <p:blipFill>
          <a:blip r:embed="rId2"/>
          <a:stretch>
            <a:fillRect/>
          </a:stretch>
        </p:blipFill>
        <p:spPr>
          <a:xfrm>
            <a:off x="768096" y="2231136"/>
            <a:ext cx="384048" cy="384048"/>
          </a:xfrm>
          <a:prstGeom prst="rect">
            <a:avLst/>
          </a:prstGeom>
        </p:spPr>
      </p:pic>
      <p:sp>
        <p:nvSpPr>
          <p:cNvPr id="8" name="a2_h"/>
          <p:cNvSpPr txBox="1"/>
          <p:nvPr/>
        </p:nvSpPr>
        <p:spPr>
          <a:xfrm>
            <a:off x="1691640" y="1993392"/>
            <a:ext cx="54864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 6 months</a:t>
            </a:r>
            <a:endParaRPr lang="en-US" sz="2200" dirty="0"/>
          </a:p>
        </p:txBody>
      </p:sp>
      <p:sp>
        <p:nvSpPr>
          <p:cNvPr id="9" name="a2_d"/>
          <p:cNvSpPr txBox="1"/>
          <p:nvPr/>
        </p:nvSpPr>
        <p:spPr>
          <a:xfrm>
            <a:off x="1691640" y="2423160"/>
            <a:ext cx="5669280" cy="548640"/>
          </a:xfrm>
          <a:prstGeom prst="rect">
            <a:avLst/>
          </a:prstGeom>
          <a:noFill/>
          <a:ln/>
        </p:spPr>
        <p:txBody>
          <a:bodyPr wrap="square" lIns="0" tIns="0" rIns="0" bIns="0" rtlCol="0" anchor="ctr"/>
          <a:lstStyle/>
          <a:p>
            <a:pPr indent="0" marL="0">
              <a:buNone/>
            </a:pPr>
            <a:r>
              <a:rPr lang="en-US" sz="1600" dirty="0">
                <a:solidFill>
                  <a:srgbClr val="B8C7D9"/>
                </a:solidFill>
                <a:latin typeface="Calibri" pitchFamily="34" charset="0"/>
                <a:ea typeface="Calibri" pitchFamily="34" charset="-122"/>
                <a:cs typeface="Calibri" pitchFamily="34" charset="-120"/>
              </a:rPr>
              <a:t>Build an active community around NutriPill.</a:t>
            </a:r>
            <a:endParaRPr lang="en-US" sz="1600" dirty="0"/>
          </a:p>
        </p:txBody>
      </p:sp>
      <p:sp>
        <p:nvSpPr>
          <p:cNvPr id="10" name="a3_dot"/>
          <p:cNvSpPr/>
          <p:nvPr/>
        </p:nvSpPr>
        <p:spPr>
          <a:xfrm>
            <a:off x="548640" y="3474720"/>
            <a:ext cx="822960" cy="822960"/>
          </a:xfrm>
          <a:prstGeom prst="ellipse">
            <a:avLst/>
          </a:prstGeom>
          <a:solidFill>
            <a:srgbClr val="14C9A1"/>
          </a:solidFill>
          <a:ln/>
        </p:spPr>
      </p:sp>
      <p:pic>
        <p:nvPicPr>
          <p:cNvPr id="11" name="a3_icon" descr="In 12 months">    </p:cNvPr>
          <p:cNvPicPr>
            <a:picLocks noChangeAspect="1"/>
          </p:cNvPicPr>
          <p:nvPr/>
        </p:nvPicPr>
        <p:blipFill>
          <a:blip r:embed="rId3"/>
          <a:stretch>
            <a:fillRect/>
          </a:stretch>
        </p:blipFill>
        <p:spPr>
          <a:xfrm>
            <a:off x="768096" y="3694176"/>
            <a:ext cx="384048" cy="384048"/>
          </a:xfrm>
          <a:prstGeom prst="rect">
            <a:avLst/>
          </a:prstGeom>
        </p:spPr>
      </p:pic>
      <p:sp>
        <p:nvSpPr>
          <p:cNvPr id="12" name="a3_h"/>
          <p:cNvSpPr txBox="1"/>
          <p:nvPr/>
        </p:nvSpPr>
        <p:spPr>
          <a:xfrm>
            <a:off x="1691640" y="3456432"/>
            <a:ext cx="54864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 12 months</a:t>
            </a:r>
            <a:endParaRPr lang="en-US" sz="2200" dirty="0"/>
          </a:p>
        </p:txBody>
      </p:sp>
      <p:sp>
        <p:nvSpPr>
          <p:cNvPr id="13" name="a3_d"/>
          <p:cNvSpPr txBox="1"/>
          <p:nvPr/>
        </p:nvSpPr>
        <p:spPr>
          <a:xfrm>
            <a:off x="1691640" y="3886200"/>
            <a:ext cx="5669280" cy="548640"/>
          </a:xfrm>
          <a:prstGeom prst="rect">
            <a:avLst/>
          </a:prstGeom>
          <a:noFill/>
          <a:ln/>
        </p:spPr>
        <p:txBody>
          <a:bodyPr wrap="square" lIns="0" tIns="0" rIns="0" bIns="0" rtlCol="0" anchor="ctr"/>
          <a:lstStyle/>
          <a:p>
            <a:pPr indent="0" marL="0">
              <a:buNone/>
            </a:pPr>
            <a:r>
              <a:rPr lang="en-US" sz="1600" dirty="0">
                <a:solidFill>
                  <a:srgbClr val="B8C7D9"/>
                </a:solidFill>
                <a:latin typeface="Calibri" pitchFamily="34" charset="0"/>
                <a:ea typeface="Calibri" pitchFamily="34" charset="-122"/>
                <a:cs typeface="Calibri" pitchFamily="34" charset="-120"/>
              </a:rPr>
              <a:t>Grow our digital reach and double our customer base.</a:t>
            </a:r>
            <a:endParaRPr lang="en-US" sz="1600" dirty="0"/>
          </a:p>
        </p:txBody>
      </p:sp>
      <p:sp>
        <p:nvSpPr>
          <p:cNvPr id="14" name="a4_dot"/>
          <p:cNvSpPr/>
          <p:nvPr/>
        </p:nvSpPr>
        <p:spPr>
          <a:xfrm>
            <a:off x="548640" y="4937760"/>
            <a:ext cx="822960" cy="822960"/>
          </a:xfrm>
          <a:prstGeom prst="ellipse">
            <a:avLst/>
          </a:prstGeom>
          <a:solidFill>
            <a:srgbClr val="FF6B4A"/>
          </a:solidFill>
          <a:ln/>
        </p:spPr>
      </p:sp>
      <p:pic>
        <p:nvPicPr>
          <p:cNvPr id="15" name="a4_icon" descr="Long term">    </p:cNvPr>
          <p:cNvPicPr>
            <a:picLocks noChangeAspect="1"/>
          </p:cNvPicPr>
          <p:nvPr/>
        </p:nvPicPr>
        <p:blipFill>
          <a:blip r:embed="rId4"/>
          <a:stretch>
            <a:fillRect/>
          </a:stretch>
        </p:blipFill>
        <p:spPr>
          <a:xfrm>
            <a:off x="768096" y="5157216"/>
            <a:ext cx="384048" cy="384048"/>
          </a:xfrm>
          <a:prstGeom prst="rect">
            <a:avLst/>
          </a:prstGeom>
        </p:spPr>
      </p:pic>
      <p:sp>
        <p:nvSpPr>
          <p:cNvPr id="16" name="a4_h"/>
          <p:cNvSpPr txBox="1"/>
          <p:nvPr/>
        </p:nvSpPr>
        <p:spPr>
          <a:xfrm>
            <a:off x="1691640" y="4919472"/>
            <a:ext cx="54864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Long term</a:t>
            </a:r>
            <a:endParaRPr lang="en-US" sz="2200" dirty="0"/>
          </a:p>
        </p:txBody>
      </p:sp>
      <p:sp>
        <p:nvSpPr>
          <p:cNvPr id="17" name="a4_d"/>
          <p:cNvSpPr txBox="1"/>
          <p:nvPr/>
        </p:nvSpPr>
        <p:spPr>
          <a:xfrm>
            <a:off x="1691640" y="5349240"/>
            <a:ext cx="5669280" cy="548640"/>
          </a:xfrm>
          <a:prstGeom prst="rect">
            <a:avLst/>
          </a:prstGeom>
          <a:noFill/>
          <a:ln/>
        </p:spPr>
        <p:txBody>
          <a:bodyPr wrap="square" lIns="0" tIns="0" rIns="0" bIns="0" rtlCol="0" anchor="ctr"/>
          <a:lstStyle/>
          <a:p>
            <a:pPr indent="0" marL="0">
              <a:buNone/>
            </a:pPr>
            <a:r>
              <a:rPr lang="en-US" sz="1600" dirty="0">
                <a:solidFill>
                  <a:srgbClr val="B8C7D9"/>
                </a:solidFill>
                <a:latin typeface="Calibri" pitchFamily="34" charset="0"/>
                <a:ea typeface="Calibri" pitchFamily="34" charset="-122"/>
                <a:cs typeface="Calibri" pitchFamily="34" charset="-120"/>
              </a:rPr>
              <a:t>Become a leader in the local market, then expand nationwide.</a:t>
            </a:r>
            <a:endParaRPr lang="en-US" sz="1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600"/>
                                        <p:tgtEl>
                                          <p:spTgt spid="6"/>
                                        </p:tgtEl>
                                      </p:cBhvr>
                                    </p:animEffect>
                                    <p:anim calcmode="lin" valueType="num">
                                      <p:cBhvr>
                                        <p:cTn id="27"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600"/>
                                        <p:tgtEl>
                                          <p:spTgt spid="8"/>
                                        </p:tgtEl>
                                      </p:cBhvr>
                                    </p:animEffect>
                                    <p:anim calcmode="lin" valueType="num">
                                      <p:cBhvr>
                                        <p:cTn id="37"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9"/>
                                        </p:tgtEl>
                                        <p:attrNameLst>
                                          <p:attrName>style.visibility</p:attrName>
                                        </p:attrNameLst>
                                      </p:cBhvr>
                                      <p:to>
                                        <p:strVal val="visible"/>
                                      </p:to>
                                    </p:set>
                                    <p:animEffect transition="in" filter="fade">
                                      <p:cBhvr>
                                        <p:cTn id="41" dur="600"/>
                                        <p:tgtEl>
                                          <p:spTgt spid="9"/>
                                        </p:tgtEl>
                                      </p:cBhvr>
                                    </p:animEffect>
                                    <p:anim calcmode="lin" valueType="num">
                                      <p:cBhvr>
                                        <p:cTn id="42"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after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600"/>
                                        <p:tgtEl>
                                          <p:spTgt spid="10"/>
                                        </p:tgtEl>
                                      </p:cBhvr>
                                    </p:animEffect>
                                    <p:anim calcmode="lin" valueType="num">
                                      <p:cBhvr>
                                        <p:cTn id="47"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600"/>
                                        <p:tgtEl>
                                          <p:spTgt spid="11"/>
                                        </p:tgtEl>
                                      </p:cBhvr>
                                    </p:animEffect>
                                    <p:anim calcmode="lin" valueType="num">
                                      <p:cBhvr>
                                        <p:cTn id="52"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600"/>
                                        <p:tgtEl>
                                          <p:spTgt spid="12"/>
                                        </p:tgtEl>
                                      </p:cBhvr>
                                    </p:animEffect>
                                    <p:anim calcmode="lin" valueType="num">
                                      <p:cBhvr>
                                        <p:cTn id="57"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600"/>
                                        <p:tgtEl>
                                          <p:spTgt spid="13"/>
                                        </p:tgtEl>
                                      </p:cBhvr>
                                    </p:animEffect>
                                    <p:anim calcmode="lin" valueType="num">
                                      <p:cBhvr>
                                        <p:cTn id="62"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fade">
                                      <p:cBhvr>
                                        <p:cTn id="66" dur="600"/>
                                        <p:tgtEl>
                                          <p:spTgt spid="14"/>
                                        </p:tgtEl>
                                      </p:cBhvr>
                                    </p:animEffect>
                                    <p:anim calcmode="lin" valueType="num">
                                      <p:cBhvr>
                                        <p:cTn id="67"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600"/>
                                        <p:tgtEl>
                                          <p:spTgt spid="15"/>
                                        </p:tgtEl>
                                      </p:cBhvr>
                                    </p:animEffect>
                                    <p:anim calcmode="lin" valueType="num">
                                      <p:cBhvr>
                                        <p:cTn id="72"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600"/>
                                        <p:tgtEl>
                                          <p:spTgt spid="16"/>
                                        </p:tgtEl>
                                      </p:cBhvr>
                                    </p:animEffect>
                                    <p:anim calcmode="lin" valueType="num">
                                      <p:cBhvr>
                                        <p:cTn id="77"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7"/>
                                        </p:tgtEl>
                                        <p:attrNameLst>
                                          <p:attrName>style.visibility</p:attrName>
                                        </p:attrNameLst>
                                      </p:cBhvr>
                                      <p:to>
                                        <p:strVal val="visible"/>
                                      </p:to>
                                    </p:set>
                                    <p:animEffect transition="in" filter="fade">
                                      <p:cBhvr>
                                        <p:cTn id="81" dur="600"/>
                                        <p:tgtEl>
                                          <p:spTgt spid="17"/>
                                        </p:tgtEl>
                                      </p:cBhvr>
                                    </p:animEffect>
                                    <p:anim calcmode="lin" valueType="num">
                                      <p:cBhvr>
                                        <p:cTn id="82" dur="600" decel="100000" fill="hold"/>
                                        <p:tgtEl>
                                          <p:spTgt spid="17"/>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2" grpId="0" animBg="1"/>
      <p:bldP spid="13" grpId="0" animBg="1"/>
      <p:bldP spid="14"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a1_hero" descr="NutriPill capsule illustration">    </p:cNvPr>
          <p:cNvPicPr>
            <a:picLocks noChangeAspect="1"/>
          </p:cNvPicPr>
          <p:nvPr/>
        </p:nvPicPr>
        <p:blipFill>
          <a:blip r:embed="rId1"/>
          <a:stretch>
            <a:fillRect/>
          </a:stretch>
        </p:blipFill>
        <p:spPr>
          <a:xfrm>
            <a:off x="3355848" y="-182880"/>
            <a:ext cx="5486400" cy="5486400"/>
          </a:xfrm>
          <a:prstGeom prst="rect">
            <a:avLst/>
          </a:prstGeom>
        </p:spPr>
      </p:pic>
      <p:sp>
        <p:nvSpPr>
          <p:cNvPr id="3" name="a2_title"/>
          <p:cNvSpPr txBox="1"/>
          <p:nvPr/>
        </p:nvSpPr>
        <p:spPr>
          <a:xfrm>
            <a:off x="1371600" y="4160520"/>
            <a:ext cx="9445752" cy="100584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Black" pitchFamily="34" charset="0"/>
                <a:ea typeface="Arial Black" pitchFamily="34" charset="-122"/>
                <a:cs typeface="Arial Black" pitchFamily="34" charset="-120"/>
              </a:rPr>
              <a:t>Thank you!</a:t>
            </a:r>
            <a:endParaRPr lang="en-US" sz="6000" dirty="0"/>
          </a:p>
        </p:txBody>
      </p:sp>
      <p:sp>
        <p:nvSpPr>
          <p:cNvPr id="4" name="a3_q"/>
          <p:cNvSpPr txBox="1"/>
          <p:nvPr/>
        </p:nvSpPr>
        <p:spPr>
          <a:xfrm>
            <a:off x="1371600" y="5120640"/>
            <a:ext cx="9445752" cy="502920"/>
          </a:xfrm>
          <a:prstGeom prst="rect">
            <a:avLst/>
          </a:prstGeom>
          <a:noFill/>
          <a:ln/>
        </p:spPr>
        <p:txBody>
          <a:bodyPr wrap="square" lIns="0" tIns="0" rIns="0" bIns="0" rtlCol="0" anchor="ctr"/>
          <a:lstStyle/>
          <a:p>
            <a:pPr algn="ctr" indent="0" marL="0">
              <a:buNone/>
            </a:pPr>
            <a:r>
              <a:rPr lang="en-US" sz="2400" i="1" dirty="0">
                <a:solidFill>
                  <a:srgbClr val="14C9A1"/>
                </a:solidFill>
                <a:latin typeface="Calibri" pitchFamily="34" charset="0"/>
                <a:ea typeface="Calibri" pitchFamily="34" charset="-122"/>
                <a:cs typeface="Calibri" pitchFamily="34" charset="-120"/>
              </a:rPr>
              <a:t>Any questions?</a:t>
            </a:r>
            <a:endParaRPr lang="en-US" sz="2400" dirty="0"/>
          </a:p>
        </p:txBody>
      </p:sp>
      <p:pic>
        <p:nvPicPr>
          <p:cNvPr id="5" name="a4_logo" descr="NutriPill logo">    </p:cNvPr>
          <p:cNvPicPr>
            <a:picLocks noChangeAspect="1"/>
          </p:cNvPicPr>
          <p:nvPr/>
        </p:nvPicPr>
        <p:blipFill>
          <a:blip r:embed="rId2"/>
          <a:stretch>
            <a:fillRect/>
          </a:stretch>
        </p:blipFill>
        <p:spPr>
          <a:xfrm>
            <a:off x="5294376" y="5897880"/>
            <a:ext cx="1609344" cy="448056"/>
          </a:xfrm>
          <a:prstGeom prst="rect">
            <a:avLst/>
          </a:prstGeom>
        </p:spPr>
      </p:pic>
    </p:spTree>
  </p:cSld>
  <p:clrMapOvr>
    <a:masterClrMapping/>
  </p:clrMapOvr>
  <p:transition spd="slow">
    <p:push dir="u"/>
  </p:transition>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600"/>
                                        <p:tgtEl>
                                          <p:spTgt spid="3"/>
                                        </p:tgtEl>
                                      </p:cBhvr>
                                    </p:animEffect>
                                    <p:anim calcmode="lin" valueType="num">
                                      <p:cBhvr>
                                        <p:cTn id="12"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600"/>
                                        <p:tgtEl>
                                          <p:spTgt spid="4"/>
                                        </p:tgtEl>
                                      </p:cBhvr>
                                    </p:animEffect>
                                    <p:anim calcmode="lin" valueType="num">
                                      <p:cBhvr>
                                        <p:cTn id="17"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600"/>
                                        <p:tgtEl>
                                          <p:spTgt spid="5"/>
                                        </p:tgtEl>
                                      </p:cBhvr>
                                    </p:animEffect>
                                    <p:anim calcmode="lin" valueType="num">
                                      <p:cBhvr>
                                        <p:cTn id="22" dur="600" decel="100000" fill="hold"/>
                                        <p:tgtEl>
                                          <p:spTgt spid="5"/>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dc:title>
  <dc:subject>PptxGenJS Presentation</dc:subject>
  <dc:creator>Dani, Max, William, Miguel</dc:creator>
  <cp:lastModifiedBy>Dani, Max, William, Miguel</cp:lastModifiedBy>
  <cp:revision>1</cp:revision>
  <dcterms:created xsi:type="dcterms:W3CDTF">2026-10-26T20:14:43Z</dcterms:created>
  <dcterms:modified xsi:type="dcterms:W3CDTF">2026-10-26T20:14:43Z</dcterms:modified>
</cp:coreProperties>
</file>