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HR Manager, my job is to find the right people for NutriPill and keep them motivated. Our hiring process has three steps. First, you apply by sending your CV and a short video explaining why you want to join us. Second, we do a live interview. It's not just about your CV; we want to see how you deal with pressure and how you work in a team. For example, we ask questions like: How would you react if a deadline was suddenly moved forward? Or: How would you deal with an unhappy customer? Finally, there's a trial day, so you can work with the team before we both decide. In return, we offer training, flexible hours, fair pay and, of course, respect for everyone in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How We Build Our Team</a:t>
            </a:r>
            <a:endParaRPr lang="en-US" sz="3600" dirty="0"/>
          </a:p>
        </p:txBody>
      </p:sp>
      <p:sp>
        <p:nvSpPr>
          <p:cNvPr id="3" name="a1_sub"/>
          <p:cNvSpPr txBox="1"/>
          <p:nvPr/>
        </p:nvSpPr>
        <p:spPr>
          <a:xfrm>
            <a:off x="548640" y="1691640"/>
            <a:ext cx="8229600" cy="41148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Finding the right people, and keeping them motivated.</a:t>
            </a:r>
            <a:endParaRPr lang="en-US" sz="1800" dirty="0"/>
          </a:p>
        </p:txBody>
      </p:sp>
      <p:sp>
        <p:nvSpPr>
          <p:cNvPr id="4" name="a2_h"/>
          <p:cNvSpPr txBox="1"/>
          <p:nvPr/>
        </p:nvSpPr>
        <p:spPr>
          <a:xfrm>
            <a:off x="548640" y="2331720"/>
            <a:ext cx="5303520" cy="320040"/>
          </a:xfrm>
          <a:prstGeom prst="rect">
            <a:avLst/>
          </a:prstGeom>
          <a:noFill/>
          <a:ln/>
        </p:spPr>
        <p:txBody>
          <a:bodyPr wrap="square" lIns="0" tIns="0" rIns="0" bIns="0" rtlCol="0" anchor="t"/>
          <a:lstStyle/>
          <a:p>
            <a:pPr indent="0" marL="0">
              <a:buNone/>
            </a:pPr>
            <a:r>
              <a:rPr lang="en-US" sz="1300" b="1" spc="300" kern="0" dirty="0">
                <a:solidFill>
                  <a:srgbClr val="14C9A1"/>
                </a:solidFill>
                <a:latin typeface="Calibri" pitchFamily="34" charset="0"/>
                <a:ea typeface="Calibri" pitchFamily="34" charset="-122"/>
                <a:cs typeface="Calibri" pitchFamily="34" charset="-120"/>
              </a:rPr>
              <a:t>OUR HIRING PROCESS</a:t>
            </a:r>
            <a:endParaRPr lang="en-US" sz="1300" dirty="0"/>
          </a:p>
        </p:txBody>
      </p:sp>
      <p:sp>
        <p:nvSpPr>
          <p:cNvPr id="5" name="a2_line"/>
          <p:cNvSpPr/>
          <p:nvPr/>
        </p:nvSpPr>
        <p:spPr>
          <a:xfrm>
            <a:off x="914400" y="3108960"/>
            <a:ext cx="0" cy="2011680"/>
          </a:xfrm>
          <a:prstGeom prst="line">
            <a:avLst/>
          </a:prstGeom>
          <a:noFill/>
          <a:ln w="25400">
            <a:solidFill>
              <a:srgbClr val="14C9A1"/>
            </a:solidFill>
            <a:prstDash val="dash"/>
          </a:ln>
        </p:spPr>
      </p:sp>
      <p:sp>
        <p:nvSpPr>
          <p:cNvPr id="6" name="a3_dot"/>
          <p:cNvSpPr/>
          <p:nvPr/>
        </p:nvSpPr>
        <p:spPr>
          <a:xfrm>
            <a:off x="548640" y="2743200"/>
            <a:ext cx="731520" cy="731520"/>
          </a:xfrm>
          <a:prstGeom prst="ellipse">
            <a:avLst/>
          </a:prstGeom>
          <a:solidFill>
            <a:srgbClr val="14C9A1"/>
          </a:solidFill>
          <a:ln/>
        </p:spPr>
      </p:sp>
      <p:pic>
        <p:nvPicPr>
          <p:cNvPr id="7" name="a3_icon" descr="1. Apply">    </p:cNvPr>
          <p:cNvPicPr>
            <a:picLocks noChangeAspect="1"/>
          </p:cNvPicPr>
          <p:nvPr/>
        </p:nvPicPr>
        <p:blipFill>
          <a:blip r:embed="rId1"/>
          <a:stretch>
            <a:fillRect/>
          </a:stretch>
        </p:blipFill>
        <p:spPr>
          <a:xfrm>
            <a:off x="731520" y="2926080"/>
            <a:ext cx="365760" cy="365760"/>
          </a:xfrm>
          <a:prstGeom prst="rect">
            <a:avLst/>
          </a:prstGeom>
        </p:spPr>
      </p:pic>
      <p:sp>
        <p:nvSpPr>
          <p:cNvPr id="8" name="a3_h"/>
          <p:cNvSpPr txBox="1"/>
          <p:nvPr/>
        </p:nvSpPr>
        <p:spPr>
          <a:xfrm>
            <a:off x="1508760" y="2724912"/>
            <a:ext cx="4480560" cy="36576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1. Apply</a:t>
            </a:r>
            <a:endParaRPr lang="en-US" sz="1900" dirty="0"/>
          </a:p>
        </p:txBody>
      </p:sp>
      <p:sp>
        <p:nvSpPr>
          <p:cNvPr id="9" name="a3_d"/>
          <p:cNvSpPr txBox="1"/>
          <p:nvPr/>
        </p:nvSpPr>
        <p:spPr>
          <a:xfrm>
            <a:off x="1508760" y="3090672"/>
            <a:ext cx="4480560" cy="59436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Send your CV and a short video explaining why you want to join NutriPill.</a:t>
            </a:r>
            <a:endParaRPr lang="en-US" sz="1400" dirty="0"/>
          </a:p>
        </p:txBody>
      </p:sp>
      <p:sp>
        <p:nvSpPr>
          <p:cNvPr id="10" name="a4_dot"/>
          <p:cNvSpPr/>
          <p:nvPr/>
        </p:nvSpPr>
        <p:spPr>
          <a:xfrm>
            <a:off x="548640" y="3794760"/>
            <a:ext cx="731520" cy="731520"/>
          </a:xfrm>
          <a:prstGeom prst="ellipse">
            <a:avLst/>
          </a:prstGeom>
          <a:solidFill>
            <a:srgbClr val="14C9A1"/>
          </a:solidFill>
          <a:ln/>
        </p:spPr>
      </p:sp>
      <p:pic>
        <p:nvPicPr>
          <p:cNvPr id="11" name="a4_icon" descr="2. Live interview">    </p:cNvPr>
          <p:cNvPicPr>
            <a:picLocks noChangeAspect="1"/>
          </p:cNvPicPr>
          <p:nvPr/>
        </p:nvPicPr>
        <p:blipFill>
          <a:blip r:embed="rId2"/>
          <a:stretch>
            <a:fillRect/>
          </a:stretch>
        </p:blipFill>
        <p:spPr>
          <a:xfrm>
            <a:off x="731520" y="3977640"/>
            <a:ext cx="365760" cy="365760"/>
          </a:xfrm>
          <a:prstGeom prst="rect">
            <a:avLst/>
          </a:prstGeom>
        </p:spPr>
      </p:pic>
      <p:sp>
        <p:nvSpPr>
          <p:cNvPr id="12" name="a4_h"/>
          <p:cNvSpPr txBox="1"/>
          <p:nvPr/>
        </p:nvSpPr>
        <p:spPr>
          <a:xfrm>
            <a:off x="1508760" y="3776472"/>
            <a:ext cx="4480560" cy="36576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2. Live interview</a:t>
            </a:r>
            <a:endParaRPr lang="en-US" sz="1900" dirty="0"/>
          </a:p>
        </p:txBody>
      </p:sp>
      <p:sp>
        <p:nvSpPr>
          <p:cNvPr id="13" name="a4_d"/>
          <p:cNvSpPr txBox="1"/>
          <p:nvPr/>
        </p:nvSpPr>
        <p:spPr>
          <a:xfrm>
            <a:off x="1508760" y="4142232"/>
            <a:ext cx="4480560" cy="59436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A real conversation about how you deal with pressure and teamwork.</a:t>
            </a:r>
            <a:endParaRPr lang="en-US" sz="1400" dirty="0"/>
          </a:p>
        </p:txBody>
      </p:sp>
      <p:sp>
        <p:nvSpPr>
          <p:cNvPr id="14" name="a5_dot"/>
          <p:cNvSpPr/>
          <p:nvPr/>
        </p:nvSpPr>
        <p:spPr>
          <a:xfrm>
            <a:off x="548640" y="4846320"/>
            <a:ext cx="731520" cy="731520"/>
          </a:xfrm>
          <a:prstGeom prst="ellipse">
            <a:avLst/>
          </a:prstGeom>
          <a:solidFill>
            <a:srgbClr val="14C9A1"/>
          </a:solidFill>
          <a:ln/>
        </p:spPr>
      </p:sp>
      <p:pic>
        <p:nvPicPr>
          <p:cNvPr id="15" name="a5_icon" descr="3. Trial day">    </p:cNvPr>
          <p:cNvPicPr>
            <a:picLocks noChangeAspect="1"/>
          </p:cNvPicPr>
          <p:nvPr/>
        </p:nvPicPr>
        <p:blipFill>
          <a:blip r:embed="rId3"/>
          <a:stretch>
            <a:fillRect/>
          </a:stretch>
        </p:blipFill>
        <p:spPr>
          <a:xfrm>
            <a:off x="731520" y="5029200"/>
            <a:ext cx="365760" cy="365760"/>
          </a:xfrm>
          <a:prstGeom prst="rect">
            <a:avLst/>
          </a:prstGeom>
        </p:spPr>
      </p:pic>
      <p:sp>
        <p:nvSpPr>
          <p:cNvPr id="16" name="a5_h"/>
          <p:cNvSpPr txBox="1"/>
          <p:nvPr/>
        </p:nvSpPr>
        <p:spPr>
          <a:xfrm>
            <a:off x="1508760" y="4828032"/>
            <a:ext cx="4480560" cy="36576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3. Trial day</a:t>
            </a:r>
            <a:endParaRPr lang="en-US" sz="1900" dirty="0"/>
          </a:p>
        </p:txBody>
      </p:sp>
      <p:sp>
        <p:nvSpPr>
          <p:cNvPr id="17" name="a5_d"/>
          <p:cNvSpPr txBox="1"/>
          <p:nvPr/>
        </p:nvSpPr>
        <p:spPr>
          <a:xfrm>
            <a:off x="1508760" y="5193792"/>
            <a:ext cx="4480560" cy="59436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Spend a day working with the team before we both decide.</a:t>
            </a:r>
            <a:endParaRPr lang="en-US" sz="1400" dirty="0"/>
          </a:p>
        </p:txBody>
      </p:sp>
      <p:sp>
        <p:nvSpPr>
          <p:cNvPr id="18" name="a6_card"/>
          <p:cNvSpPr/>
          <p:nvPr/>
        </p:nvSpPr>
        <p:spPr>
          <a:xfrm>
            <a:off x="6355080" y="2286000"/>
            <a:ext cx="5166360" cy="3520440"/>
          </a:xfrm>
          <a:prstGeom prst="roundRect">
            <a:avLst>
              <a:gd name="adj" fmla="val 4675"/>
            </a:avLst>
          </a:prstGeom>
          <a:solidFill>
            <a:srgbClr val="FFFFFF"/>
          </a:solidFill>
          <a:ln/>
          <a:effectLst>
            <a:outerShdw sx="100000" sy="100000" kx="0" ky="0" algn="bl" rotWithShape="0" blurRad="228600" dist="76200" dir="5400000">
              <a:srgbClr val="0B1F3A">
                <a:alpha val="12000"/>
              </a:srgbClr>
            </a:outerShdw>
          </a:effectLst>
        </p:spPr>
      </p:sp>
      <p:sp>
        <p:nvSpPr>
          <p:cNvPr id="19" name="a6_h"/>
          <p:cNvSpPr txBox="1"/>
          <p:nvPr/>
        </p:nvSpPr>
        <p:spPr>
          <a:xfrm>
            <a:off x="6675120" y="2560320"/>
            <a:ext cx="4663440" cy="320040"/>
          </a:xfrm>
          <a:prstGeom prst="rect">
            <a:avLst/>
          </a:prstGeom>
          <a:noFill/>
          <a:ln/>
        </p:spPr>
        <p:txBody>
          <a:bodyPr wrap="square" lIns="0" tIns="0" rIns="0" bIns="0" rtlCol="0" anchor="t"/>
          <a:lstStyle/>
          <a:p>
            <a:pPr indent="0" marL="0">
              <a:buNone/>
            </a:pPr>
            <a:r>
              <a:rPr lang="en-US" sz="1300" b="1" spc="300" kern="0" dirty="0">
                <a:solidFill>
                  <a:srgbClr val="FF6B4A"/>
                </a:solidFill>
                <a:latin typeface="Calibri" pitchFamily="34" charset="0"/>
                <a:ea typeface="Calibri" pitchFamily="34" charset="-122"/>
                <a:cs typeface="Calibri" pitchFamily="34" charset="-120"/>
              </a:rPr>
              <a:t>QUESTIONS WE ASK IN INTERVIEWS</a:t>
            </a:r>
            <a:endParaRPr lang="en-US" sz="1300" dirty="0"/>
          </a:p>
        </p:txBody>
      </p:sp>
      <p:sp>
        <p:nvSpPr>
          <p:cNvPr id="20" name="a7_dot"/>
          <p:cNvSpPr/>
          <p:nvPr/>
        </p:nvSpPr>
        <p:spPr>
          <a:xfrm>
            <a:off x="6675120" y="3108960"/>
            <a:ext cx="502920" cy="502920"/>
          </a:xfrm>
          <a:prstGeom prst="ellipse">
            <a:avLst/>
          </a:prstGeom>
          <a:solidFill>
            <a:srgbClr val="FFF0EC"/>
          </a:solidFill>
          <a:ln/>
        </p:spPr>
      </p:sp>
      <p:sp>
        <p:nvSpPr>
          <p:cNvPr id="21" name="a7_q"/>
          <p:cNvSpPr txBox="1"/>
          <p:nvPr/>
        </p:nvSpPr>
        <p:spPr>
          <a:xfrm>
            <a:off x="6675120" y="3108960"/>
            <a:ext cx="502920" cy="502920"/>
          </a:xfrm>
          <a:prstGeom prst="rect">
            <a:avLst/>
          </a:prstGeom>
          <a:noFill/>
          <a:ln/>
        </p:spPr>
        <p:txBody>
          <a:bodyPr wrap="square" lIns="0" tIns="0" rIns="0" bIns="0" rtlCol="0" anchor="ctr"/>
          <a:lstStyle/>
          <a:p>
            <a:pPr algn="ctr" indent="0" marL="0">
              <a:buNone/>
            </a:pPr>
            <a:r>
              <a:rPr lang="en-US" sz="1800" b="1" dirty="0">
                <a:solidFill>
                  <a:srgbClr val="FF6B4A"/>
                </a:solidFill>
                <a:latin typeface="Calibri" pitchFamily="34" charset="0"/>
                <a:ea typeface="Calibri" pitchFamily="34" charset="-122"/>
                <a:cs typeface="Calibri" pitchFamily="34" charset="-120"/>
              </a:rPr>
              <a:t>?</a:t>
            </a:r>
            <a:endParaRPr lang="en-US" sz="1800" dirty="0"/>
          </a:p>
        </p:txBody>
      </p:sp>
      <p:sp>
        <p:nvSpPr>
          <p:cNvPr id="22" name="a7_t"/>
          <p:cNvSpPr txBox="1"/>
          <p:nvPr/>
        </p:nvSpPr>
        <p:spPr>
          <a:xfrm>
            <a:off x="7360920" y="3063240"/>
            <a:ext cx="3977640" cy="685800"/>
          </a:xfrm>
          <a:prstGeom prst="rect">
            <a:avLst/>
          </a:prstGeom>
          <a:noFill/>
          <a:ln/>
        </p:spPr>
        <p:txBody>
          <a:bodyPr wrap="square" lIns="0" tIns="0" rIns="0" bIns="0" rtlCol="0" anchor="ctr"/>
          <a:lstStyle/>
          <a:p>
            <a:pPr indent="0" marL="0">
              <a:buNone/>
            </a:pPr>
            <a:r>
              <a:rPr lang="en-US" sz="1500" i="1" dirty="0">
                <a:solidFill>
                  <a:srgbClr val="0B1F3A"/>
                </a:solidFill>
                <a:latin typeface="Calibri" pitchFamily="34" charset="0"/>
                <a:ea typeface="Calibri" pitchFamily="34" charset="-122"/>
                <a:cs typeface="Calibri" pitchFamily="34" charset="-120"/>
              </a:rPr>
              <a:t>“How would you react if a deadline was suddenly moved forward?”</a:t>
            </a:r>
            <a:endParaRPr lang="en-US" sz="1500" dirty="0"/>
          </a:p>
        </p:txBody>
      </p:sp>
      <p:sp>
        <p:nvSpPr>
          <p:cNvPr id="23" name="a8_dot"/>
          <p:cNvSpPr/>
          <p:nvPr/>
        </p:nvSpPr>
        <p:spPr>
          <a:xfrm>
            <a:off x="6675120" y="3977640"/>
            <a:ext cx="502920" cy="502920"/>
          </a:xfrm>
          <a:prstGeom prst="ellipse">
            <a:avLst/>
          </a:prstGeom>
          <a:solidFill>
            <a:srgbClr val="FFF0EC"/>
          </a:solidFill>
          <a:ln/>
        </p:spPr>
      </p:sp>
      <p:sp>
        <p:nvSpPr>
          <p:cNvPr id="24" name="a8_q"/>
          <p:cNvSpPr txBox="1"/>
          <p:nvPr/>
        </p:nvSpPr>
        <p:spPr>
          <a:xfrm>
            <a:off x="6675120" y="3977640"/>
            <a:ext cx="502920" cy="502920"/>
          </a:xfrm>
          <a:prstGeom prst="rect">
            <a:avLst/>
          </a:prstGeom>
          <a:noFill/>
          <a:ln/>
        </p:spPr>
        <p:txBody>
          <a:bodyPr wrap="square" lIns="0" tIns="0" rIns="0" bIns="0" rtlCol="0" anchor="ctr"/>
          <a:lstStyle/>
          <a:p>
            <a:pPr algn="ctr" indent="0" marL="0">
              <a:buNone/>
            </a:pPr>
            <a:r>
              <a:rPr lang="en-US" sz="1800" b="1" dirty="0">
                <a:solidFill>
                  <a:srgbClr val="FF6B4A"/>
                </a:solidFill>
                <a:latin typeface="Calibri" pitchFamily="34" charset="0"/>
                <a:ea typeface="Calibri" pitchFamily="34" charset="-122"/>
                <a:cs typeface="Calibri" pitchFamily="34" charset="-120"/>
              </a:rPr>
              <a:t>?</a:t>
            </a:r>
            <a:endParaRPr lang="en-US" sz="1800" dirty="0"/>
          </a:p>
        </p:txBody>
      </p:sp>
      <p:sp>
        <p:nvSpPr>
          <p:cNvPr id="25" name="a8_t"/>
          <p:cNvSpPr txBox="1"/>
          <p:nvPr/>
        </p:nvSpPr>
        <p:spPr>
          <a:xfrm>
            <a:off x="7360920" y="3931920"/>
            <a:ext cx="3977640" cy="685800"/>
          </a:xfrm>
          <a:prstGeom prst="rect">
            <a:avLst/>
          </a:prstGeom>
          <a:noFill/>
          <a:ln/>
        </p:spPr>
        <p:txBody>
          <a:bodyPr wrap="square" lIns="0" tIns="0" rIns="0" bIns="0" rtlCol="0" anchor="ctr"/>
          <a:lstStyle/>
          <a:p>
            <a:pPr indent="0" marL="0">
              <a:buNone/>
            </a:pPr>
            <a:r>
              <a:rPr lang="en-US" sz="1500" i="1" dirty="0">
                <a:solidFill>
                  <a:srgbClr val="0B1F3A"/>
                </a:solidFill>
                <a:latin typeface="Calibri" pitchFamily="34" charset="0"/>
                <a:ea typeface="Calibri" pitchFamily="34" charset="-122"/>
                <a:cs typeface="Calibri" pitchFamily="34" charset="-120"/>
              </a:rPr>
              <a:t>“What would you do if a teammate made a big mistake?”</a:t>
            </a:r>
            <a:endParaRPr lang="en-US" sz="1500" dirty="0"/>
          </a:p>
        </p:txBody>
      </p:sp>
      <p:sp>
        <p:nvSpPr>
          <p:cNvPr id="26" name="a9_dot"/>
          <p:cNvSpPr/>
          <p:nvPr/>
        </p:nvSpPr>
        <p:spPr>
          <a:xfrm>
            <a:off x="6675120" y="4846320"/>
            <a:ext cx="502920" cy="502920"/>
          </a:xfrm>
          <a:prstGeom prst="ellipse">
            <a:avLst/>
          </a:prstGeom>
          <a:solidFill>
            <a:srgbClr val="FFF0EC"/>
          </a:solidFill>
          <a:ln/>
        </p:spPr>
      </p:sp>
      <p:sp>
        <p:nvSpPr>
          <p:cNvPr id="27" name="a9_q"/>
          <p:cNvSpPr txBox="1"/>
          <p:nvPr/>
        </p:nvSpPr>
        <p:spPr>
          <a:xfrm>
            <a:off x="6675120" y="4846320"/>
            <a:ext cx="502920" cy="502920"/>
          </a:xfrm>
          <a:prstGeom prst="rect">
            <a:avLst/>
          </a:prstGeom>
          <a:noFill/>
          <a:ln/>
        </p:spPr>
        <p:txBody>
          <a:bodyPr wrap="square" lIns="0" tIns="0" rIns="0" bIns="0" rtlCol="0" anchor="ctr"/>
          <a:lstStyle/>
          <a:p>
            <a:pPr algn="ctr" indent="0" marL="0">
              <a:buNone/>
            </a:pPr>
            <a:r>
              <a:rPr lang="en-US" sz="1800" b="1" dirty="0">
                <a:solidFill>
                  <a:srgbClr val="FF6B4A"/>
                </a:solidFill>
                <a:latin typeface="Calibri" pitchFamily="34" charset="0"/>
                <a:ea typeface="Calibri" pitchFamily="34" charset="-122"/>
                <a:cs typeface="Calibri" pitchFamily="34" charset="-120"/>
              </a:rPr>
              <a:t>?</a:t>
            </a:r>
            <a:endParaRPr lang="en-US" sz="1800" dirty="0"/>
          </a:p>
        </p:txBody>
      </p:sp>
      <p:sp>
        <p:nvSpPr>
          <p:cNvPr id="28" name="a9_t"/>
          <p:cNvSpPr txBox="1"/>
          <p:nvPr/>
        </p:nvSpPr>
        <p:spPr>
          <a:xfrm>
            <a:off x="7360920" y="4800600"/>
            <a:ext cx="3977640" cy="685800"/>
          </a:xfrm>
          <a:prstGeom prst="rect">
            <a:avLst/>
          </a:prstGeom>
          <a:noFill/>
          <a:ln/>
        </p:spPr>
        <p:txBody>
          <a:bodyPr wrap="square" lIns="0" tIns="0" rIns="0" bIns="0" rtlCol="0" anchor="ctr"/>
          <a:lstStyle/>
          <a:p>
            <a:pPr indent="0" marL="0">
              <a:buNone/>
            </a:pPr>
            <a:r>
              <a:rPr lang="en-US" sz="1500" i="1" dirty="0">
                <a:solidFill>
                  <a:srgbClr val="0B1F3A"/>
                </a:solidFill>
                <a:latin typeface="Calibri" pitchFamily="34" charset="0"/>
                <a:ea typeface="Calibri" pitchFamily="34" charset="-122"/>
                <a:cs typeface="Calibri" pitchFamily="34" charset="-120"/>
              </a:rPr>
              <a:t>“How would you deal with an unhappy customer?”</a:t>
            </a:r>
            <a:endParaRPr lang="en-US" sz="1500" dirty="0"/>
          </a:p>
        </p:txBody>
      </p:sp>
      <p:sp>
        <p:nvSpPr>
          <p:cNvPr id="29" name="a10_h"/>
          <p:cNvSpPr txBox="1"/>
          <p:nvPr/>
        </p:nvSpPr>
        <p:spPr>
          <a:xfrm>
            <a:off x="548640" y="6035040"/>
            <a:ext cx="17373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What we offer:</a:t>
            </a:r>
            <a:endParaRPr lang="en-US" sz="1600" dirty="0"/>
          </a:p>
        </p:txBody>
      </p:sp>
      <p:sp>
        <p:nvSpPr>
          <p:cNvPr id="30" name="a11_chip"/>
          <p:cNvSpPr/>
          <p:nvPr/>
        </p:nvSpPr>
        <p:spPr>
          <a:xfrm>
            <a:off x="2286000" y="6035040"/>
            <a:ext cx="1508760" cy="411480"/>
          </a:xfrm>
          <a:prstGeom prst="roundRect">
            <a:avLst>
              <a:gd name="adj" fmla="val 48889"/>
            </a:avLst>
          </a:prstGeom>
          <a:solidFill>
            <a:srgbClr val="FFFFFF">
              <a:alpha val="12000"/>
            </a:srgbClr>
          </a:solidFill>
          <a:ln w="12700">
            <a:solidFill>
              <a:srgbClr val="14C9A1"/>
            </a:solidFill>
            <a:prstDash val="solid"/>
          </a:ln>
        </p:spPr>
      </p:sp>
      <p:pic>
        <p:nvPicPr>
          <p:cNvPr id="31" name="a11_icon" descr="Training">    </p:cNvPr>
          <p:cNvPicPr>
            <a:picLocks noChangeAspect="1"/>
          </p:cNvPicPr>
          <p:nvPr/>
        </p:nvPicPr>
        <p:blipFill>
          <a:blip r:embed="rId4"/>
          <a:stretch>
            <a:fillRect/>
          </a:stretch>
        </p:blipFill>
        <p:spPr>
          <a:xfrm>
            <a:off x="2423160" y="6126480"/>
            <a:ext cx="228600" cy="228600"/>
          </a:xfrm>
          <a:prstGeom prst="rect">
            <a:avLst/>
          </a:prstGeom>
        </p:spPr>
      </p:pic>
      <p:sp>
        <p:nvSpPr>
          <p:cNvPr id="32" name="a11_t"/>
          <p:cNvSpPr txBox="1"/>
          <p:nvPr/>
        </p:nvSpPr>
        <p:spPr>
          <a:xfrm>
            <a:off x="2724912" y="6035040"/>
            <a:ext cx="100584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Training</a:t>
            </a:r>
            <a:endParaRPr lang="en-US" sz="1400" dirty="0"/>
          </a:p>
        </p:txBody>
      </p:sp>
      <p:sp>
        <p:nvSpPr>
          <p:cNvPr id="33" name="a12_chip"/>
          <p:cNvSpPr/>
          <p:nvPr/>
        </p:nvSpPr>
        <p:spPr>
          <a:xfrm>
            <a:off x="3931920" y="6035040"/>
            <a:ext cx="1874520" cy="411480"/>
          </a:xfrm>
          <a:prstGeom prst="roundRect">
            <a:avLst>
              <a:gd name="adj" fmla="val 48889"/>
            </a:avLst>
          </a:prstGeom>
          <a:solidFill>
            <a:srgbClr val="FFFFFF">
              <a:alpha val="12000"/>
            </a:srgbClr>
          </a:solidFill>
          <a:ln w="12700">
            <a:solidFill>
              <a:srgbClr val="14C9A1"/>
            </a:solidFill>
            <a:prstDash val="solid"/>
          </a:ln>
        </p:spPr>
      </p:sp>
      <p:pic>
        <p:nvPicPr>
          <p:cNvPr id="34" name="a12_icon" descr="Flexible hours">    </p:cNvPr>
          <p:cNvPicPr>
            <a:picLocks noChangeAspect="1"/>
          </p:cNvPicPr>
          <p:nvPr/>
        </p:nvPicPr>
        <p:blipFill>
          <a:blip r:embed="rId5"/>
          <a:stretch>
            <a:fillRect/>
          </a:stretch>
        </p:blipFill>
        <p:spPr>
          <a:xfrm>
            <a:off x="4069080" y="6126480"/>
            <a:ext cx="228600" cy="228600"/>
          </a:xfrm>
          <a:prstGeom prst="rect">
            <a:avLst/>
          </a:prstGeom>
        </p:spPr>
      </p:pic>
      <p:sp>
        <p:nvSpPr>
          <p:cNvPr id="35" name="a12_t"/>
          <p:cNvSpPr txBox="1"/>
          <p:nvPr/>
        </p:nvSpPr>
        <p:spPr>
          <a:xfrm>
            <a:off x="4370832" y="6035040"/>
            <a:ext cx="137160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Flexible hours</a:t>
            </a:r>
            <a:endParaRPr lang="en-US" sz="1400" dirty="0"/>
          </a:p>
        </p:txBody>
      </p:sp>
      <p:sp>
        <p:nvSpPr>
          <p:cNvPr id="36" name="a13_chip"/>
          <p:cNvSpPr/>
          <p:nvPr/>
        </p:nvSpPr>
        <p:spPr>
          <a:xfrm>
            <a:off x="5943600" y="6035040"/>
            <a:ext cx="1371600" cy="411480"/>
          </a:xfrm>
          <a:prstGeom prst="roundRect">
            <a:avLst>
              <a:gd name="adj" fmla="val 48889"/>
            </a:avLst>
          </a:prstGeom>
          <a:solidFill>
            <a:srgbClr val="FFFFFF">
              <a:alpha val="12000"/>
            </a:srgbClr>
          </a:solidFill>
          <a:ln w="12700">
            <a:solidFill>
              <a:srgbClr val="14C9A1"/>
            </a:solidFill>
            <a:prstDash val="solid"/>
          </a:ln>
        </p:spPr>
      </p:sp>
      <p:pic>
        <p:nvPicPr>
          <p:cNvPr id="37" name="a13_icon" descr="Fair pay">    </p:cNvPr>
          <p:cNvPicPr>
            <a:picLocks noChangeAspect="1"/>
          </p:cNvPicPr>
          <p:nvPr/>
        </p:nvPicPr>
        <p:blipFill>
          <a:blip r:embed="rId6"/>
          <a:stretch>
            <a:fillRect/>
          </a:stretch>
        </p:blipFill>
        <p:spPr>
          <a:xfrm>
            <a:off x="6080760" y="6126480"/>
            <a:ext cx="228600" cy="228600"/>
          </a:xfrm>
          <a:prstGeom prst="rect">
            <a:avLst/>
          </a:prstGeom>
        </p:spPr>
      </p:pic>
      <p:sp>
        <p:nvSpPr>
          <p:cNvPr id="38" name="a13_t"/>
          <p:cNvSpPr txBox="1"/>
          <p:nvPr/>
        </p:nvSpPr>
        <p:spPr>
          <a:xfrm>
            <a:off x="6382512" y="6035040"/>
            <a:ext cx="86868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Fair pay</a:t>
            </a:r>
            <a:endParaRPr lang="en-US" sz="1400" dirty="0"/>
          </a:p>
        </p:txBody>
      </p:sp>
      <p:sp>
        <p:nvSpPr>
          <p:cNvPr id="39" name="a14_chip"/>
          <p:cNvSpPr/>
          <p:nvPr/>
        </p:nvSpPr>
        <p:spPr>
          <a:xfrm>
            <a:off x="7452360" y="6035040"/>
            <a:ext cx="2377440" cy="411480"/>
          </a:xfrm>
          <a:prstGeom prst="roundRect">
            <a:avLst>
              <a:gd name="adj" fmla="val 48889"/>
            </a:avLst>
          </a:prstGeom>
          <a:solidFill>
            <a:srgbClr val="FFFFFF">
              <a:alpha val="12000"/>
            </a:srgbClr>
          </a:solidFill>
          <a:ln w="12700">
            <a:solidFill>
              <a:srgbClr val="14C9A1"/>
            </a:solidFill>
            <a:prstDash val="solid"/>
          </a:ln>
        </p:spPr>
      </p:sp>
      <p:pic>
        <p:nvPicPr>
          <p:cNvPr id="40" name="a14_icon" descr="Respect for everyone">    </p:cNvPr>
          <p:cNvPicPr>
            <a:picLocks noChangeAspect="1"/>
          </p:cNvPicPr>
          <p:nvPr/>
        </p:nvPicPr>
        <p:blipFill>
          <a:blip r:embed="rId7"/>
          <a:stretch>
            <a:fillRect/>
          </a:stretch>
        </p:blipFill>
        <p:spPr>
          <a:xfrm>
            <a:off x="7589520" y="6126480"/>
            <a:ext cx="228600" cy="228600"/>
          </a:xfrm>
          <a:prstGeom prst="rect">
            <a:avLst/>
          </a:prstGeom>
        </p:spPr>
      </p:pic>
      <p:sp>
        <p:nvSpPr>
          <p:cNvPr id="41" name="a14_t"/>
          <p:cNvSpPr txBox="1"/>
          <p:nvPr/>
        </p:nvSpPr>
        <p:spPr>
          <a:xfrm>
            <a:off x="7891272" y="6035040"/>
            <a:ext cx="187452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Respect for everyone</a:t>
            </a:r>
            <a:endParaRPr lang="en-US" sz="1400" dirty="0"/>
          </a:p>
        </p:txBody>
      </p:sp>
      <p:sp>
        <p:nvSpPr>
          <p:cNvPr id="43"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20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600"/>
                                        <p:tgtEl>
                                          <p:spTgt spid="43"/>
                                        </p:tgtEl>
                                      </p:cBhvr>
                                    </p:animEffect>
                                    <p:anim calcmode="lin" valueType="num">
                                      <p:cBhvr>
                                        <p:cTn id="12" dur="600" decel="100000" fill="hold"/>
                                        <p:tgtEl>
                                          <p:spTgt spid="4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600"/>
                                        <p:tgtEl>
                                          <p:spTgt spid="3"/>
                                        </p:tgtEl>
                                      </p:cBhvr>
                                    </p:animEffect>
                                    <p:anim calcmode="lin" valueType="num">
                                      <p:cBhvr>
                                        <p:cTn id="17"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600"/>
                                        <p:tgtEl>
                                          <p:spTgt spid="4"/>
                                        </p:tgtEl>
                                      </p:cBhvr>
                                    </p:animEffect>
                                    <p:anim calcmode="lin" valueType="num">
                                      <p:cBhvr>
                                        <p:cTn id="22"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600"/>
                                        <p:tgtEl>
                                          <p:spTgt spid="5"/>
                                        </p:tgtEl>
                                      </p:cBhvr>
                                    </p:animEffect>
                                    <p:anim calcmode="lin" valueType="num">
                                      <p:cBhvr>
                                        <p:cTn id="27"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600"/>
                                        <p:tgtEl>
                                          <p:spTgt spid="6"/>
                                        </p:tgtEl>
                                      </p:cBhvr>
                                    </p:animEffect>
                                    <p:anim calcmode="lin" valueType="num">
                                      <p:cBhvr>
                                        <p:cTn id="32"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600"/>
                                        <p:tgtEl>
                                          <p:spTgt spid="7"/>
                                        </p:tgtEl>
                                      </p:cBhvr>
                                    </p:animEffect>
                                    <p:anim calcmode="lin" valueType="num">
                                      <p:cBhvr>
                                        <p:cTn id="37"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600"/>
                                        <p:tgtEl>
                                          <p:spTgt spid="8"/>
                                        </p:tgtEl>
                                      </p:cBhvr>
                                    </p:animEffect>
                                    <p:anim calcmode="lin" valueType="num">
                                      <p:cBhvr>
                                        <p:cTn id="42"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600"/>
                                        <p:tgtEl>
                                          <p:spTgt spid="9"/>
                                        </p:tgtEl>
                                      </p:cBhvr>
                                    </p:animEffect>
                                    <p:anim calcmode="lin" valueType="num">
                                      <p:cBhvr>
                                        <p:cTn id="47"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600"/>
                                        <p:tgtEl>
                                          <p:spTgt spid="10"/>
                                        </p:tgtEl>
                                      </p:cBhvr>
                                    </p:animEffect>
                                    <p:anim calcmode="lin" valueType="num">
                                      <p:cBhvr>
                                        <p:cTn id="52"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600"/>
                                        <p:tgtEl>
                                          <p:spTgt spid="11"/>
                                        </p:tgtEl>
                                      </p:cBhvr>
                                    </p:animEffect>
                                    <p:anim calcmode="lin" valueType="num">
                                      <p:cBhvr>
                                        <p:cTn id="57"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600"/>
                                        <p:tgtEl>
                                          <p:spTgt spid="12"/>
                                        </p:tgtEl>
                                      </p:cBhvr>
                                    </p:animEffect>
                                    <p:anim calcmode="lin" valueType="num">
                                      <p:cBhvr>
                                        <p:cTn id="62"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600"/>
                                        <p:tgtEl>
                                          <p:spTgt spid="13"/>
                                        </p:tgtEl>
                                      </p:cBhvr>
                                    </p:animEffect>
                                    <p:anim calcmode="lin" valueType="num">
                                      <p:cBhvr>
                                        <p:cTn id="67"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600"/>
                                        <p:tgtEl>
                                          <p:spTgt spid="14"/>
                                        </p:tgtEl>
                                      </p:cBhvr>
                                    </p:animEffect>
                                    <p:anim calcmode="lin" valueType="num">
                                      <p:cBhvr>
                                        <p:cTn id="72"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600"/>
                                        <p:tgtEl>
                                          <p:spTgt spid="15"/>
                                        </p:tgtEl>
                                      </p:cBhvr>
                                    </p:animEffect>
                                    <p:anim calcmode="lin" valueType="num">
                                      <p:cBhvr>
                                        <p:cTn id="77"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600"/>
                                        <p:tgtEl>
                                          <p:spTgt spid="16"/>
                                        </p:tgtEl>
                                      </p:cBhvr>
                                    </p:animEffect>
                                    <p:anim calcmode="lin" valueType="num">
                                      <p:cBhvr>
                                        <p:cTn id="82"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7"/>
                                        </p:tgtEl>
                                        <p:attrNameLst>
                                          <p:attrName>style.visibility</p:attrName>
                                        </p:attrNameLst>
                                      </p:cBhvr>
                                      <p:to>
                                        <p:strVal val="visible"/>
                                      </p:to>
                                    </p:set>
                                    <p:animEffect transition="in" filter="fade">
                                      <p:cBhvr>
                                        <p:cTn id="86" dur="600"/>
                                        <p:tgtEl>
                                          <p:spTgt spid="17"/>
                                        </p:tgtEl>
                                      </p:cBhvr>
                                    </p:animEffect>
                                    <p:anim calcmode="lin" valueType="num">
                                      <p:cBhvr>
                                        <p:cTn id="8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8"/>
                                        </p:tgtEl>
                                        <p:attrNameLst>
                                          <p:attrName>style.visibility</p:attrName>
                                        </p:attrNameLst>
                                      </p:cBhvr>
                                      <p:to>
                                        <p:strVal val="visible"/>
                                      </p:to>
                                    </p:set>
                                    <p:animEffect transition="in" filter="fade">
                                      <p:cBhvr>
                                        <p:cTn id="91" dur="600"/>
                                        <p:tgtEl>
                                          <p:spTgt spid="18"/>
                                        </p:tgtEl>
                                      </p:cBhvr>
                                    </p:animEffect>
                                    <p:anim calcmode="lin" valueType="num">
                                      <p:cBhvr>
                                        <p:cTn id="9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anim calcmode="lin" valueType="num">
                                      <p:cBhvr>
                                        <p:cTn id="9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afterEffect">
                                  <p:stCondLst>
                                    <p:cond delay="0"/>
                                  </p:stCondLst>
                                  <p:childTnLst>
                                    <p:set>
                                      <p:cBhvr>
                                        <p:cTn id="100" dur="1" fill="hold">
                                          <p:stCondLst>
                                            <p:cond delay="0"/>
                                          </p:stCondLst>
                                        </p:cTn>
                                        <p:tgtEl>
                                          <p:spTgt spid="20"/>
                                        </p:tgtEl>
                                        <p:attrNameLst>
                                          <p:attrName>style.visibility</p:attrName>
                                        </p:attrNameLst>
                                      </p:cBhvr>
                                      <p:to>
                                        <p:strVal val="visible"/>
                                      </p:to>
                                    </p:set>
                                    <p:animEffect transition="in" filter="fade">
                                      <p:cBhvr>
                                        <p:cTn id="101" dur="600"/>
                                        <p:tgtEl>
                                          <p:spTgt spid="20"/>
                                        </p:tgtEl>
                                      </p:cBhvr>
                                    </p:animEffect>
                                    <p:anim calcmode="lin" valueType="num">
                                      <p:cBhvr>
                                        <p:cTn id="10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1"/>
                                        </p:tgtEl>
                                        <p:attrNameLst>
                                          <p:attrName>style.visibility</p:attrName>
                                        </p:attrNameLst>
                                      </p:cBhvr>
                                      <p:to>
                                        <p:strVal val="visible"/>
                                      </p:to>
                                    </p:set>
                                    <p:animEffect transition="in" filter="fade">
                                      <p:cBhvr>
                                        <p:cTn id="106" dur="600"/>
                                        <p:tgtEl>
                                          <p:spTgt spid="21"/>
                                        </p:tgtEl>
                                      </p:cBhvr>
                                    </p:animEffect>
                                    <p:anim calcmode="lin" valueType="num">
                                      <p:cBhvr>
                                        <p:cTn id="10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600"/>
                                        <p:tgtEl>
                                          <p:spTgt spid="22"/>
                                        </p:tgtEl>
                                      </p:cBhvr>
                                    </p:animEffect>
                                    <p:anim calcmode="lin" valueType="num">
                                      <p:cBhvr>
                                        <p:cTn id="112"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afterEffect">
                                  <p:stCondLst>
                                    <p:cond delay="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600"/>
                                        <p:tgtEl>
                                          <p:spTgt spid="23"/>
                                        </p:tgtEl>
                                      </p:cBhvr>
                                    </p:animEffect>
                                    <p:anim calcmode="lin" valueType="num">
                                      <p:cBhvr>
                                        <p:cTn id="117"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5"/>
                                        </p:tgtEl>
                                        <p:attrNameLst>
                                          <p:attrName>style.visibility</p:attrName>
                                        </p:attrNameLst>
                                      </p:cBhvr>
                                      <p:to>
                                        <p:strVal val="visible"/>
                                      </p:to>
                                    </p:set>
                                    <p:animEffect transition="in" filter="fade">
                                      <p:cBhvr>
                                        <p:cTn id="126" dur="600"/>
                                        <p:tgtEl>
                                          <p:spTgt spid="25"/>
                                        </p:tgtEl>
                                      </p:cBhvr>
                                    </p:animEffect>
                                    <p:anim calcmode="lin" valueType="num">
                                      <p:cBhvr>
                                        <p:cTn id="127"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afterEffect">
                                  <p:stCondLst>
                                    <p:cond delay="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600"/>
                                        <p:tgtEl>
                                          <p:spTgt spid="26"/>
                                        </p:tgtEl>
                                      </p:cBhvr>
                                    </p:animEffect>
                                    <p:anim calcmode="lin" valueType="num">
                                      <p:cBhvr>
                                        <p:cTn id="132"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33" fill="hold">
                            <p:stCondLst>
                              <p:cond delay="0"/>
                            </p:stCondLst>
                            <p:childTnLst>
                              <p:par>
                                <p:cTn id="134" presetID="42" presetClass="entr" presetSubtype="0" fill="hold" grpId="0" nodeType="withEffect">
                                  <p:stCondLst>
                                    <p:cond delay="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600"/>
                                        <p:tgtEl>
                                          <p:spTgt spid="27"/>
                                        </p:tgtEl>
                                      </p:cBhvr>
                                    </p:animEffect>
                                    <p:anim calcmode="lin" valueType="num">
                                      <p:cBhvr>
                                        <p:cTn id="137" dur="600" decel="100000" fill="hold"/>
                                        <p:tgtEl>
                                          <p:spTgt spid="27"/>
                                        </p:tgtEl>
                                        <p:attrNameLst>
                                          <p:attrName>ppt_y</p:attrName>
                                        </p:attrNameLst>
                                      </p:cBhvr>
                                      <p:tavLst>
                                        <p:tav tm="0">
                                          <p:val>
                                            <p:strVal val="#ppt_y+0.04"/>
                                          </p:val>
                                        </p:tav>
                                        <p:tav tm="100000">
                                          <p:val>
                                            <p:strVal val="#ppt_y"/>
                                          </p:val>
                                        </p:tav>
                                      </p:tavLst>
                                    </p:anim>
                                  </p:childTnLst>
                                </p:cTn>
                              </p:par>
                            </p:childTnLst>
                          </p:cTn>
                        </p:par>
                        <p:par>
                          <p:cTn id="138" fill="hold">
                            <p:stCondLst>
                              <p:cond delay="0"/>
                            </p:stCondLst>
                            <p:childTnLst>
                              <p:par>
                                <p:cTn id="139" presetID="42" presetClass="entr" presetSubtype="0" fill="hold" grpId="0" nodeType="withEffect">
                                  <p:stCondLst>
                                    <p:cond delay="0"/>
                                  </p:stCondLst>
                                  <p:childTnLst>
                                    <p:set>
                                      <p:cBhvr>
                                        <p:cTn id="140" dur="1" fill="hold">
                                          <p:stCondLst>
                                            <p:cond delay="0"/>
                                          </p:stCondLst>
                                        </p:cTn>
                                        <p:tgtEl>
                                          <p:spTgt spid="28"/>
                                        </p:tgtEl>
                                        <p:attrNameLst>
                                          <p:attrName>style.visibility</p:attrName>
                                        </p:attrNameLst>
                                      </p:cBhvr>
                                      <p:to>
                                        <p:strVal val="visible"/>
                                      </p:to>
                                    </p:set>
                                    <p:animEffect transition="in" filter="fade">
                                      <p:cBhvr>
                                        <p:cTn id="141" dur="600"/>
                                        <p:tgtEl>
                                          <p:spTgt spid="28"/>
                                        </p:tgtEl>
                                      </p:cBhvr>
                                    </p:animEffect>
                                    <p:anim calcmode="lin" valueType="num">
                                      <p:cBhvr>
                                        <p:cTn id="142" dur="600" decel="100000" fill="hold"/>
                                        <p:tgtEl>
                                          <p:spTgt spid="28"/>
                                        </p:tgtEl>
                                        <p:attrNameLst>
                                          <p:attrName>ppt_y</p:attrName>
                                        </p:attrNameLst>
                                      </p:cBhvr>
                                      <p:tavLst>
                                        <p:tav tm="0">
                                          <p:val>
                                            <p:strVal val="#ppt_y+0.04"/>
                                          </p:val>
                                        </p:tav>
                                        <p:tav tm="100000">
                                          <p:val>
                                            <p:strVal val="#ppt_y"/>
                                          </p:val>
                                        </p:tav>
                                      </p:tavLst>
                                    </p:anim>
                                  </p:childTnLst>
                                </p:cTn>
                              </p:par>
                            </p:childTnLst>
                          </p:cTn>
                        </p:par>
                        <p:par>
                          <p:cTn id="143" fill="hold">
                            <p:stCondLst>
                              <p:cond delay="0"/>
                            </p:stCondLst>
                            <p:childTnLst>
                              <p:par>
                                <p:cTn id="144" presetID="42" presetClass="entr" presetSubtype="0" fill="hold" grpId="0" nodeType="afterEffect">
                                  <p:stCondLst>
                                    <p:cond delay="0"/>
                                  </p:stCondLst>
                                  <p:childTnLst>
                                    <p:set>
                                      <p:cBhvr>
                                        <p:cTn id="145" dur="1" fill="hold">
                                          <p:stCondLst>
                                            <p:cond delay="0"/>
                                          </p:stCondLst>
                                        </p:cTn>
                                        <p:tgtEl>
                                          <p:spTgt spid="29"/>
                                        </p:tgtEl>
                                        <p:attrNameLst>
                                          <p:attrName>style.visibility</p:attrName>
                                        </p:attrNameLst>
                                      </p:cBhvr>
                                      <p:to>
                                        <p:strVal val="visible"/>
                                      </p:to>
                                    </p:set>
                                    <p:animEffect transition="in" filter="fade">
                                      <p:cBhvr>
                                        <p:cTn id="146" dur="600"/>
                                        <p:tgtEl>
                                          <p:spTgt spid="29"/>
                                        </p:tgtEl>
                                      </p:cBhvr>
                                    </p:animEffect>
                                    <p:anim calcmode="lin" valueType="num">
                                      <p:cBhvr>
                                        <p:cTn id="147" dur="600" decel="100000" fill="hold"/>
                                        <p:tgtEl>
                                          <p:spTgt spid="29"/>
                                        </p:tgtEl>
                                        <p:attrNameLst>
                                          <p:attrName>ppt_y</p:attrName>
                                        </p:attrNameLst>
                                      </p:cBhvr>
                                      <p:tavLst>
                                        <p:tav tm="0">
                                          <p:val>
                                            <p:strVal val="#ppt_y+0.04"/>
                                          </p:val>
                                        </p:tav>
                                        <p:tav tm="100000">
                                          <p:val>
                                            <p:strVal val="#ppt_y"/>
                                          </p:val>
                                        </p:tav>
                                      </p:tavLst>
                                    </p:anim>
                                  </p:childTnLst>
                                </p:cTn>
                              </p:par>
                            </p:childTnLst>
                          </p:cTn>
                        </p:par>
                        <p:par>
                          <p:cTn id="148" fill="hold">
                            <p:stCondLst>
                              <p:cond delay="0"/>
                            </p:stCondLst>
                            <p:childTnLst>
                              <p:par>
                                <p:cTn id="149" presetID="42" presetClass="entr" presetSubtype="0" fill="hold" grpId="0" nodeType="afterEffect">
                                  <p:stCondLst>
                                    <p:cond delay="0"/>
                                  </p:stCondLst>
                                  <p:childTnLst>
                                    <p:set>
                                      <p:cBhvr>
                                        <p:cTn id="150" dur="1" fill="hold">
                                          <p:stCondLst>
                                            <p:cond delay="0"/>
                                          </p:stCondLst>
                                        </p:cTn>
                                        <p:tgtEl>
                                          <p:spTgt spid="30"/>
                                        </p:tgtEl>
                                        <p:attrNameLst>
                                          <p:attrName>style.visibility</p:attrName>
                                        </p:attrNameLst>
                                      </p:cBhvr>
                                      <p:to>
                                        <p:strVal val="visible"/>
                                      </p:to>
                                    </p:set>
                                    <p:animEffect transition="in" filter="fade">
                                      <p:cBhvr>
                                        <p:cTn id="151" dur="600"/>
                                        <p:tgtEl>
                                          <p:spTgt spid="30"/>
                                        </p:tgtEl>
                                      </p:cBhvr>
                                    </p:animEffect>
                                    <p:anim calcmode="lin" valueType="num">
                                      <p:cBhvr>
                                        <p:cTn id="152" dur="600" decel="100000" fill="hold"/>
                                        <p:tgtEl>
                                          <p:spTgt spid="30"/>
                                        </p:tgtEl>
                                        <p:attrNameLst>
                                          <p:attrName>ppt_y</p:attrName>
                                        </p:attrNameLst>
                                      </p:cBhvr>
                                      <p:tavLst>
                                        <p:tav tm="0">
                                          <p:val>
                                            <p:strVal val="#ppt_y+0.04"/>
                                          </p:val>
                                        </p:tav>
                                        <p:tav tm="100000">
                                          <p:val>
                                            <p:strVal val="#ppt_y"/>
                                          </p:val>
                                        </p:tav>
                                      </p:tavLst>
                                    </p:anim>
                                  </p:childTnLst>
                                </p:cTn>
                              </p:par>
                            </p:childTnLst>
                          </p:cTn>
                        </p:par>
                        <p:par>
                          <p:cTn id="153" fill="hold">
                            <p:stCondLst>
                              <p:cond delay="0"/>
                            </p:stCondLst>
                            <p:childTnLst>
                              <p:par>
                                <p:cTn id="154" presetID="42" presetClass="entr" presetSubtype="0" fill="hold" grpId="0" nodeType="withEffect">
                                  <p:stCondLst>
                                    <p:cond delay="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600"/>
                                        <p:tgtEl>
                                          <p:spTgt spid="31"/>
                                        </p:tgtEl>
                                      </p:cBhvr>
                                    </p:animEffect>
                                    <p:anim calcmode="lin" valueType="num">
                                      <p:cBhvr>
                                        <p:cTn id="157" dur="600" decel="100000" fill="hold"/>
                                        <p:tgtEl>
                                          <p:spTgt spid="31"/>
                                        </p:tgtEl>
                                        <p:attrNameLst>
                                          <p:attrName>ppt_y</p:attrName>
                                        </p:attrNameLst>
                                      </p:cBhvr>
                                      <p:tavLst>
                                        <p:tav tm="0">
                                          <p:val>
                                            <p:strVal val="#ppt_y+0.04"/>
                                          </p:val>
                                        </p:tav>
                                        <p:tav tm="100000">
                                          <p:val>
                                            <p:strVal val="#ppt_y"/>
                                          </p:val>
                                        </p:tav>
                                      </p:tavLst>
                                    </p:anim>
                                  </p:childTnLst>
                                </p:cTn>
                              </p:par>
                            </p:childTnLst>
                          </p:cTn>
                        </p:par>
                        <p:par>
                          <p:cTn id="158" fill="hold">
                            <p:stCondLst>
                              <p:cond delay="0"/>
                            </p:stCondLst>
                            <p:childTnLst>
                              <p:par>
                                <p:cTn id="159" presetID="42" presetClass="entr" presetSubtype="0" fill="hold" grpId="0" nodeType="withEffect">
                                  <p:stCondLst>
                                    <p:cond delay="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600"/>
                                        <p:tgtEl>
                                          <p:spTgt spid="32"/>
                                        </p:tgtEl>
                                      </p:cBhvr>
                                    </p:animEffect>
                                    <p:anim calcmode="lin" valueType="num">
                                      <p:cBhvr>
                                        <p:cTn id="162" dur="600" decel="100000" fill="hold"/>
                                        <p:tgtEl>
                                          <p:spTgt spid="32"/>
                                        </p:tgtEl>
                                        <p:attrNameLst>
                                          <p:attrName>ppt_y</p:attrName>
                                        </p:attrNameLst>
                                      </p:cBhvr>
                                      <p:tavLst>
                                        <p:tav tm="0">
                                          <p:val>
                                            <p:strVal val="#ppt_y+0.04"/>
                                          </p:val>
                                        </p:tav>
                                        <p:tav tm="100000">
                                          <p:val>
                                            <p:strVal val="#ppt_y"/>
                                          </p:val>
                                        </p:tav>
                                      </p:tavLst>
                                    </p:anim>
                                  </p:childTnLst>
                                </p:cTn>
                              </p:par>
                            </p:childTnLst>
                          </p:cTn>
                        </p:par>
                        <p:par>
                          <p:cTn id="163" fill="hold">
                            <p:stCondLst>
                              <p:cond delay="0"/>
                            </p:stCondLst>
                            <p:childTnLst>
                              <p:par>
                                <p:cTn id="164" presetID="42" presetClass="entr" presetSubtype="0" fill="hold" grpId="0" nodeType="afterEffect">
                                  <p:stCondLst>
                                    <p:cond delay="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600"/>
                                        <p:tgtEl>
                                          <p:spTgt spid="33"/>
                                        </p:tgtEl>
                                      </p:cBhvr>
                                    </p:animEffect>
                                    <p:anim calcmode="lin" valueType="num">
                                      <p:cBhvr>
                                        <p:cTn id="167" dur="600" decel="100000" fill="hold"/>
                                        <p:tgtEl>
                                          <p:spTgt spid="33"/>
                                        </p:tgtEl>
                                        <p:attrNameLst>
                                          <p:attrName>ppt_y</p:attrName>
                                        </p:attrNameLst>
                                      </p:cBhvr>
                                      <p:tavLst>
                                        <p:tav tm="0">
                                          <p:val>
                                            <p:strVal val="#ppt_y+0.04"/>
                                          </p:val>
                                        </p:tav>
                                        <p:tav tm="100000">
                                          <p:val>
                                            <p:strVal val="#ppt_y"/>
                                          </p:val>
                                        </p:tav>
                                      </p:tavLst>
                                    </p:anim>
                                  </p:childTnLst>
                                </p:cTn>
                              </p:par>
                            </p:childTnLst>
                          </p:cTn>
                        </p:par>
                        <p:par>
                          <p:cTn id="168" fill="hold">
                            <p:stCondLst>
                              <p:cond delay="0"/>
                            </p:stCondLst>
                            <p:childTnLst>
                              <p:par>
                                <p:cTn id="169" presetID="42" presetClass="entr" presetSubtype="0" fill="hold" grpId="0" nodeType="withEffect">
                                  <p:stCondLst>
                                    <p:cond delay="0"/>
                                  </p:stCondLst>
                                  <p:childTnLst>
                                    <p:set>
                                      <p:cBhvr>
                                        <p:cTn id="170" dur="1" fill="hold">
                                          <p:stCondLst>
                                            <p:cond delay="0"/>
                                          </p:stCondLst>
                                        </p:cTn>
                                        <p:tgtEl>
                                          <p:spTgt spid="34"/>
                                        </p:tgtEl>
                                        <p:attrNameLst>
                                          <p:attrName>style.visibility</p:attrName>
                                        </p:attrNameLst>
                                      </p:cBhvr>
                                      <p:to>
                                        <p:strVal val="visible"/>
                                      </p:to>
                                    </p:set>
                                    <p:animEffect transition="in" filter="fade">
                                      <p:cBhvr>
                                        <p:cTn id="171" dur="600"/>
                                        <p:tgtEl>
                                          <p:spTgt spid="34"/>
                                        </p:tgtEl>
                                      </p:cBhvr>
                                    </p:animEffect>
                                    <p:anim calcmode="lin" valueType="num">
                                      <p:cBhvr>
                                        <p:cTn id="172" dur="600" decel="100000" fill="hold"/>
                                        <p:tgtEl>
                                          <p:spTgt spid="34"/>
                                        </p:tgtEl>
                                        <p:attrNameLst>
                                          <p:attrName>ppt_y</p:attrName>
                                        </p:attrNameLst>
                                      </p:cBhvr>
                                      <p:tavLst>
                                        <p:tav tm="0">
                                          <p:val>
                                            <p:strVal val="#ppt_y+0.04"/>
                                          </p:val>
                                        </p:tav>
                                        <p:tav tm="100000">
                                          <p:val>
                                            <p:strVal val="#ppt_y"/>
                                          </p:val>
                                        </p:tav>
                                      </p:tavLst>
                                    </p:anim>
                                  </p:childTnLst>
                                </p:cTn>
                              </p:par>
                            </p:childTnLst>
                          </p:cTn>
                        </p:par>
                        <p:par>
                          <p:cTn id="173" fill="hold">
                            <p:stCondLst>
                              <p:cond delay="0"/>
                            </p:stCondLst>
                            <p:childTnLst>
                              <p:par>
                                <p:cTn id="174" presetID="42" presetClass="entr" presetSubtype="0" fill="hold" grpId="0" nodeType="withEffect">
                                  <p:stCondLst>
                                    <p:cond delay="0"/>
                                  </p:stCondLst>
                                  <p:childTnLst>
                                    <p:set>
                                      <p:cBhvr>
                                        <p:cTn id="175" dur="1" fill="hold">
                                          <p:stCondLst>
                                            <p:cond delay="0"/>
                                          </p:stCondLst>
                                        </p:cTn>
                                        <p:tgtEl>
                                          <p:spTgt spid="35"/>
                                        </p:tgtEl>
                                        <p:attrNameLst>
                                          <p:attrName>style.visibility</p:attrName>
                                        </p:attrNameLst>
                                      </p:cBhvr>
                                      <p:to>
                                        <p:strVal val="visible"/>
                                      </p:to>
                                    </p:set>
                                    <p:animEffect transition="in" filter="fade">
                                      <p:cBhvr>
                                        <p:cTn id="176" dur="600"/>
                                        <p:tgtEl>
                                          <p:spTgt spid="35"/>
                                        </p:tgtEl>
                                      </p:cBhvr>
                                    </p:animEffect>
                                    <p:anim calcmode="lin" valueType="num">
                                      <p:cBhvr>
                                        <p:cTn id="177" dur="600" decel="100000" fill="hold"/>
                                        <p:tgtEl>
                                          <p:spTgt spid="35"/>
                                        </p:tgtEl>
                                        <p:attrNameLst>
                                          <p:attrName>ppt_y</p:attrName>
                                        </p:attrNameLst>
                                      </p:cBhvr>
                                      <p:tavLst>
                                        <p:tav tm="0">
                                          <p:val>
                                            <p:strVal val="#ppt_y+0.04"/>
                                          </p:val>
                                        </p:tav>
                                        <p:tav tm="100000">
                                          <p:val>
                                            <p:strVal val="#ppt_y"/>
                                          </p:val>
                                        </p:tav>
                                      </p:tavLst>
                                    </p:anim>
                                  </p:childTnLst>
                                </p:cTn>
                              </p:par>
                            </p:childTnLst>
                          </p:cTn>
                        </p:par>
                        <p:par>
                          <p:cTn id="178" fill="hold">
                            <p:stCondLst>
                              <p:cond delay="0"/>
                            </p:stCondLst>
                            <p:childTnLst>
                              <p:par>
                                <p:cTn id="179" presetID="42" presetClass="entr" presetSubtype="0" fill="hold" grpId="0" nodeType="afterEffect">
                                  <p:stCondLst>
                                    <p:cond delay="0"/>
                                  </p:stCondLst>
                                  <p:childTnLst>
                                    <p:set>
                                      <p:cBhvr>
                                        <p:cTn id="180" dur="1" fill="hold">
                                          <p:stCondLst>
                                            <p:cond delay="0"/>
                                          </p:stCondLst>
                                        </p:cTn>
                                        <p:tgtEl>
                                          <p:spTgt spid="36"/>
                                        </p:tgtEl>
                                        <p:attrNameLst>
                                          <p:attrName>style.visibility</p:attrName>
                                        </p:attrNameLst>
                                      </p:cBhvr>
                                      <p:to>
                                        <p:strVal val="visible"/>
                                      </p:to>
                                    </p:set>
                                    <p:animEffect transition="in" filter="fade">
                                      <p:cBhvr>
                                        <p:cTn id="181" dur="600"/>
                                        <p:tgtEl>
                                          <p:spTgt spid="36"/>
                                        </p:tgtEl>
                                      </p:cBhvr>
                                    </p:animEffect>
                                    <p:anim calcmode="lin" valueType="num">
                                      <p:cBhvr>
                                        <p:cTn id="182" dur="600" decel="100000" fill="hold"/>
                                        <p:tgtEl>
                                          <p:spTgt spid="36"/>
                                        </p:tgtEl>
                                        <p:attrNameLst>
                                          <p:attrName>ppt_y</p:attrName>
                                        </p:attrNameLst>
                                      </p:cBhvr>
                                      <p:tavLst>
                                        <p:tav tm="0">
                                          <p:val>
                                            <p:strVal val="#ppt_y+0.04"/>
                                          </p:val>
                                        </p:tav>
                                        <p:tav tm="100000">
                                          <p:val>
                                            <p:strVal val="#ppt_y"/>
                                          </p:val>
                                        </p:tav>
                                      </p:tavLst>
                                    </p:anim>
                                  </p:childTnLst>
                                </p:cTn>
                              </p:par>
                            </p:childTnLst>
                          </p:cTn>
                        </p:par>
                        <p:par>
                          <p:cTn id="183" fill="hold">
                            <p:stCondLst>
                              <p:cond delay="0"/>
                            </p:stCondLst>
                            <p:childTnLst>
                              <p:par>
                                <p:cTn id="184" presetID="42" presetClass="entr" presetSubtype="0" fill="hold" grpId="0" nodeType="withEffect">
                                  <p:stCondLst>
                                    <p:cond delay="0"/>
                                  </p:stCondLst>
                                  <p:childTnLst>
                                    <p:set>
                                      <p:cBhvr>
                                        <p:cTn id="185" dur="1" fill="hold">
                                          <p:stCondLst>
                                            <p:cond delay="0"/>
                                          </p:stCondLst>
                                        </p:cTn>
                                        <p:tgtEl>
                                          <p:spTgt spid="37"/>
                                        </p:tgtEl>
                                        <p:attrNameLst>
                                          <p:attrName>style.visibility</p:attrName>
                                        </p:attrNameLst>
                                      </p:cBhvr>
                                      <p:to>
                                        <p:strVal val="visible"/>
                                      </p:to>
                                    </p:set>
                                    <p:animEffect transition="in" filter="fade">
                                      <p:cBhvr>
                                        <p:cTn id="186" dur="600"/>
                                        <p:tgtEl>
                                          <p:spTgt spid="37"/>
                                        </p:tgtEl>
                                      </p:cBhvr>
                                    </p:animEffect>
                                    <p:anim calcmode="lin" valueType="num">
                                      <p:cBhvr>
                                        <p:cTn id="187" dur="600" decel="100000" fill="hold"/>
                                        <p:tgtEl>
                                          <p:spTgt spid="37"/>
                                        </p:tgtEl>
                                        <p:attrNameLst>
                                          <p:attrName>ppt_y</p:attrName>
                                        </p:attrNameLst>
                                      </p:cBhvr>
                                      <p:tavLst>
                                        <p:tav tm="0">
                                          <p:val>
                                            <p:strVal val="#ppt_y+0.04"/>
                                          </p:val>
                                        </p:tav>
                                        <p:tav tm="100000">
                                          <p:val>
                                            <p:strVal val="#ppt_y"/>
                                          </p:val>
                                        </p:tav>
                                      </p:tavLst>
                                    </p:anim>
                                  </p:childTnLst>
                                </p:cTn>
                              </p:par>
                            </p:childTnLst>
                          </p:cTn>
                        </p:par>
                        <p:par>
                          <p:cTn id="188" fill="hold">
                            <p:stCondLst>
                              <p:cond delay="0"/>
                            </p:stCondLst>
                            <p:childTnLst>
                              <p:par>
                                <p:cTn id="189" presetID="42" presetClass="entr" presetSubtype="0" fill="hold" grpId="0" nodeType="withEffect">
                                  <p:stCondLst>
                                    <p:cond delay="0"/>
                                  </p:stCondLst>
                                  <p:childTnLst>
                                    <p:set>
                                      <p:cBhvr>
                                        <p:cTn id="190" dur="1" fill="hold">
                                          <p:stCondLst>
                                            <p:cond delay="0"/>
                                          </p:stCondLst>
                                        </p:cTn>
                                        <p:tgtEl>
                                          <p:spTgt spid="38"/>
                                        </p:tgtEl>
                                        <p:attrNameLst>
                                          <p:attrName>style.visibility</p:attrName>
                                        </p:attrNameLst>
                                      </p:cBhvr>
                                      <p:to>
                                        <p:strVal val="visible"/>
                                      </p:to>
                                    </p:set>
                                    <p:animEffect transition="in" filter="fade">
                                      <p:cBhvr>
                                        <p:cTn id="191" dur="600"/>
                                        <p:tgtEl>
                                          <p:spTgt spid="38"/>
                                        </p:tgtEl>
                                      </p:cBhvr>
                                    </p:animEffect>
                                    <p:anim calcmode="lin" valueType="num">
                                      <p:cBhvr>
                                        <p:cTn id="192" dur="600" decel="100000" fill="hold"/>
                                        <p:tgtEl>
                                          <p:spTgt spid="38"/>
                                        </p:tgtEl>
                                        <p:attrNameLst>
                                          <p:attrName>ppt_y</p:attrName>
                                        </p:attrNameLst>
                                      </p:cBhvr>
                                      <p:tavLst>
                                        <p:tav tm="0">
                                          <p:val>
                                            <p:strVal val="#ppt_y+0.04"/>
                                          </p:val>
                                        </p:tav>
                                        <p:tav tm="100000">
                                          <p:val>
                                            <p:strVal val="#ppt_y"/>
                                          </p:val>
                                        </p:tav>
                                      </p:tavLst>
                                    </p:anim>
                                  </p:childTnLst>
                                </p:cTn>
                              </p:par>
                            </p:childTnLst>
                          </p:cTn>
                        </p:par>
                        <p:par>
                          <p:cTn id="193" fill="hold">
                            <p:stCondLst>
                              <p:cond delay="0"/>
                            </p:stCondLst>
                            <p:childTnLst>
                              <p:par>
                                <p:cTn id="194" presetID="42" presetClass="entr" presetSubtype="0" fill="hold" grpId="0" nodeType="afterEffect">
                                  <p:stCondLst>
                                    <p:cond delay="0"/>
                                  </p:stCondLst>
                                  <p:childTnLst>
                                    <p:set>
                                      <p:cBhvr>
                                        <p:cTn id="195" dur="1" fill="hold">
                                          <p:stCondLst>
                                            <p:cond delay="0"/>
                                          </p:stCondLst>
                                        </p:cTn>
                                        <p:tgtEl>
                                          <p:spTgt spid="39"/>
                                        </p:tgtEl>
                                        <p:attrNameLst>
                                          <p:attrName>style.visibility</p:attrName>
                                        </p:attrNameLst>
                                      </p:cBhvr>
                                      <p:to>
                                        <p:strVal val="visible"/>
                                      </p:to>
                                    </p:set>
                                    <p:animEffect transition="in" filter="fade">
                                      <p:cBhvr>
                                        <p:cTn id="196" dur="600"/>
                                        <p:tgtEl>
                                          <p:spTgt spid="39"/>
                                        </p:tgtEl>
                                      </p:cBhvr>
                                    </p:animEffect>
                                    <p:anim calcmode="lin" valueType="num">
                                      <p:cBhvr>
                                        <p:cTn id="197" dur="600" decel="100000" fill="hold"/>
                                        <p:tgtEl>
                                          <p:spTgt spid="39"/>
                                        </p:tgtEl>
                                        <p:attrNameLst>
                                          <p:attrName>ppt_y</p:attrName>
                                        </p:attrNameLst>
                                      </p:cBhvr>
                                      <p:tavLst>
                                        <p:tav tm="0">
                                          <p:val>
                                            <p:strVal val="#ppt_y+0.04"/>
                                          </p:val>
                                        </p:tav>
                                        <p:tav tm="100000">
                                          <p:val>
                                            <p:strVal val="#ppt_y"/>
                                          </p:val>
                                        </p:tav>
                                      </p:tavLst>
                                    </p:anim>
                                  </p:childTnLst>
                                </p:cTn>
                              </p:par>
                            </p:childTnLst>
                          </p:cTn>
                        </p:par>
                        <p:par>
                          <p:cTn id="198" fill="hold">
                            <p:stCondLst>
                              <p:cond delay="0"/>
                            </p:stCondLst>
                            <p:childTnLst>
                              <p:par>
                                <p:cTn id="199" presetID="42" presetClass="entr" presetSubtype="0" fill="hold" grpId="0" nodeType="withEffect">
                                  <p:stCondLst>
                                    <p:cond delay="0"/>
                                  </p:stCondLst>
                                  <p:childTnLst>
                                    <p:set>
                                      <p:cBhvr>
                                        <p:cTn id="200" dur="1" fill="hold">
                                          <p:stCondLst>
                                            <p:cond delay="0"/>
                                          </p:stCondLst>
                                        </p:cTn>
                                        <p:tgtEl>
                                          <p:spTgt spid="40"/>
                                        </p:tgtEl>
                                        <p:attrNameLst>
                                          <p:attrName>style.visibility</p:attrName>
                                        </p:attrNameLst>
                                      </p:cBhvr>
                                      <p:to>
                                        <p:strVal val="visible"/>
                                      </p:to>
                                    </p:set>
                                    <p:animEffect transition="in" filter="fade">
                                      <p:cBhvr>
                                        <p:cTn id="201" dur="600"/>
                                        <p:tgtEl>
                                          <p:spTgt spid="40"/>
                                        </p:tgtEl>
                                      </p:cBhvr>
                                    </p:animEffect>
                                    <p:anim calcmode="lin" valueType="num">
                                      <p:cBhvr>
                                        <p:cTn id="202" dur="600" decel="100000" fill="hold"/>
                                        <p:tgtEl>
                                          <p:spTgt spid="40"/>
                                        </p:tgtEl>
                                        <p:attrNameLst>
                                          <p:attrName>ppt_y</p:attrName>
                                        </p:attrNameLst>
                                      </p:cBhvr>
                                      <p:tavLst>
                                        <p:tav tm="0">
                                          <p:val>
                                            <p:strVal val="#ppt_y+0.04"/>
                                          </p:val>
                                        </p:tav>
                                        <p:tav tm="100000">
                                          <p:val>
                                            <p:strVal val="#ppt_y"/>
                                          </p:val>
                                        </p:tav>
                                      </p:tavLst>
                                    </p:anim>
                                  </p:childTnLst>
                                </p:cTn>
                              </p:par>
                            </p:childTnLst>
                          </p:cTn>
                        </p:par>
                        <p:par>
                          <p:cTn id="203" fill="hold">
                            <p:stCondLst>
                              <p:cond delay="0"/>
                            </p:stCondLst>
                            <p:childTnLst>
                              <p:par>
                                <p:cTn id="204" presetID="42" presetClass="entr" presetSubtype="0" fill="hold" grpId="0" nodeType="withEffect">
                                  <p:stCondLst>
                                    <p:cond delay="0"/>
                                  </p:stCondLst>
                                  <p:childTnLst>
                                    <p:set>
                                      <p:cBhvr>
                                        <p:cTn id="205" dur="1" fill="hold">
                                          <p:stCondLst>
                                            <p:cond delay="0"/>
                                          </p:stCondLst>
                                        </p:cTn>
                                        <p:tgtEl>
                                          <p:spTgt spid="41"/>
                                        </p:tgtEl>
                                        <p:attrNameLst>
                                          <p:attrName>style.visibility</p:attrName>
                                        </p:attrNameLst>
                                      </p:cBhvr>
                                      <p:to>
                                        <p:strVal val="visible"/>
                                      </p:to>
                                    </p:set>
                                    <p:animEffect transition="in" filter="fade">
                                      <p:cBhvr>
                                        <p:cTn id="206" dur="600"/>
                                        <p:tgtEl>
                                          <p:spTgt spid="41"/>
                                        </p:tgtEl>
                                      </p:cBhvr>
                                    </p:animEffect>
                                    <p:anim calcmode="lin" valueType="num">
                                      <p:cBhvr>
                                        <p:cTn id="207" dur="600" decel="100000" fill="hold"/>
                                        <p:tgtEl>
                                          <p:spTgt spid="4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3" grpId="0" animBg="1"/>
      <p:bldP spid="3" grpId="0" animBg="1"/>
      <p:bldP spid="4"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5" grpId="0" animBg="1"/>
      <p:bldP spid="36" grpId="0" animBg="1"/>
      <p:bldP spid="38" grpId="0" animBg="1"/>
      <p:bldP spid="39" grpId="0" animBg="1"/>
      <p:bldP spid="41"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 HR slide</dc:title>
  <dc:subject>PptxGenJS Presentation</dc:subject>
  <dc:creator>Dani, Max, William, Miguel</dc:creator>
  <cp:lastModifiedBy>Dani, Max, William, Miguel</cp:lastModifiedBy>
  <cp:revision>1</cp:revision>
  <dcterms:created xsi:type="dcterms:W3CDTF">2026-10-26T22:59:04Z</dcterms:created>
  <dcterms:modified xsi:type="dcterms:W3CDTF">2026-10-26T22:59:04Z</dcterms:modified>
</cp:coreProperties>
</file>