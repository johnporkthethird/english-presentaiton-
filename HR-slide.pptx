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HR Manager, my job is to find the right people for NutriPill and keep them motivated. Our hiring process has three steps. First, you apply by sending your CV and a short video explaining why you want to join us. Second, we do a live interview. It's not just about your CV; we want to see how you deal with pressure and how you work in a team. Finally, there's a trial day, so you can work with the team before we both decide. Right now, our team is the four of us: Miguel is our CEO and leads the company, Dani is our CMO and runs the marketing, Max is our CFO and manages the money, and I'm the HR Manager. In return for their hard work, we offer our team training, flexible hours, fair pay and, of course, respect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IGH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english-presentaiton-/38e25695-43d6-5158-a0ef-d97df09ff7da/scratchpad/build/assets/logo-dark.png">    </p:cNvPr>
          <p:cNvPicPr>
            <a:picLocks noChangeAspect="1"/>
          </p:cNvPicPr>
          <p:nvPr/>
        </p:nvPicPr>
        <p:blipFill>
          <a:blip r:embed="rId1"/>
          <a:stretch>
            <a:fillRect/>
          </a:stretch>
        </p:blipFill>
        <p:spPr>
          <a:xfrm>
            <a:off x="10378440" y="384048"/>
            <a:ext cx="1316736" cy="365760"/>
          </a:xfrm>
          <a:prstGeom prst="rect">
            <a:avLst/>
          </a:prstGeom>
        </p:spPr>
      </p:pic>
      <p:sp>
        <p:nvSpPr>
          <p:cNvPr id="3" name="Text 0"/>
          <p:cNvSpPr/>
          <p:nvPr>
            <p:ph idx="101" type="body" hasCustomPrompt="1"/>
          </p:nvPr>
        </p:nvSpPr>
        <p:spPr>
          <a:xfrm>
            <a:off x="548640" y="411480"/>
            <a:ext cx="7315200" cy="320040"/>
          </a:xfrm>
          <a:prstGeom prst="rect">
            <a:avLst/>
          </a:prstGeom>
          <a:noFill/>
          <a:ln/>
        </p:spPr>
        <p:txBody>
          <a:bodyPr wrap="square" rtlCol="0"/>
          <a:lstStyle>
            <a:lvl1pPr indent="0" marL="0">
              <a:buNone/>
              <a:defRPr lang="en-US" sz="1300" b="1" spc="400" kern="0" dirty="0">
                <a:solidFill>
                  <a:schemeClr val="accent1"/>
                </a:solidFill>
              </a:defRPr>
            </a:lvl1pPr>
          </a:lstStyle>
          <a:p>
            <a:pPr indent="0" marL="0">
              <a:buNone/>
            </a:pPr>
            <a:endParaRPr lang="en-US" sz="1300" dirty="0"/>
          </a:p>
        </p:txBody>
      </p:sp>
      <p:sp>
        <p:nvSpPr>
          <p:cNvPr id="4" name="Text 0"/>
          <p:cNvSpPr/>
          <p:nvPr>
            <p:ph idx="102" type="title" hasCustomPrompt="1"/>
          </p:nvPr>
        </p:nvSpPr>
        <p:spPr>
          <a:xfrm>
            <a:off x="548640" y="777240"/>
            <a:ext cx="9509760" cy="868680"/>
          </a:xfrm>
          <a:prstGeom prst="rect">
            <a:avLst/>
          </a:prstGeom>
          <a:noFill/>
          <a:ln/>
        </p:spPr>
        <p:txBody>
          <a:bodyPr wrap="square" rtlCol="0"/>
          <a:lstStyle>
            <a:lvl1pPr algn="l" indent="0" marL="0">
              <a:buNone/>
              <a:defRPr lang="en-US" sz="3600" b="1" dirty="0">
                <a:solidFill>
                  <a:schemeClr val="tx1"/>
                </a:solidFill>
                <a:latin typeface="Arial Black" pitchFamily="34" charset="0"/>
                <a:ea typeface="Arial Black" pitchFamily="34" charset="-122"/>
                <a:cs typeface="Arial Black"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english-presentaiton-/38e25695-43d6-5158-a0ef-d97df09ff7da/scratchpad/build/assets/logo-light.png">    </p:cNvPr>
          <p:cNvPicPr>
            <a:picLocks noChangeAspect="1"/>
          </p:cNvPicPr>
          <p:nvPr/>
        </p:nvPicPr>
        <p:blipFill>
          <a:blip r:embed="rId1"/>
          <a:stretch>
            <a:fillRect/>
          </a:stretch>
        </p:blipFill>
        <p:spPr>
          <a:xfrm>
            <a:off x="10378440" y="384048"/>
            <a:ext cx="1316736" cy="365760"/>
          </a:xfrm>
          <a:prstGeom prst="rect">
            <a:avLst/>
          </a:prstGeom>
        </p:spPr>
      </p:pic>
      <p:sp>
        <p:nvSpPr>
          <p:cNvPr id="3" name="Text 0"/>
          <p:cNvSpPr/>
          <p:nvPr>
            <p:ph idx="101" type="body" hasCustomPrompt="1"/>
          </p:nvPr>
        </p:nvSpPr>
        <p:spPr>
          <a:xfrm>
            <a:off x="548640" y="411480"/>
            <a:ext cx="7315200" cy="320040"/>
          </a:xfrm>
          <a:prstGeom prst="rect">
            <a:avLst/>
          </a:prstGeom>
          <a:noFill/>
          <a:ln/>
        </p:spPr>
        <p:txBody>
          <a:bodyPr wrap="square" rtlCol="0"/>
          <a:lstStyle>
            <a:lvl1pPr indent="0" marL="0">
              <a:buNone/>
              <a:defRPr lang="en-US" sz="1300" b="1" spc="400" kern="0" dirty="0">
                <a:solidFill>
                  <a:schemeClr val="accent1"/>
                </a:solidFill>
              </a:defRPr>
            </a:lvl1pPr>
          </a:lstStyle>
          <a:p>
            <a:pPr indent="0" marL="0">
              <a:buNone/>
            </a:pPr>
            <a:endParaRPr lang="en-US" sz="1300" dirty="0"/>
          </a:p>
        </p:txBody>
      </p:sp>
      <p:sp>
        <p:nvSpPr>
          <p:cNvPr id="4" name="Text 0"/>
          <p:cNvSpPr/>
          <p:nvPr>
            <p:ph idx="102" type="title" hasCustomPrompt="1"/>
          </p:nvPr>
        </p:nvSpPr>
        <p:spPr>
          <a:xfrm>
            <a:off x="548640" y="777240"/>
            <a:ext cx="9509760" cy="868680"/>
          </a:xfrm>
          <a:prstGeom prst="rect">
            <a:avLst/>
          </a:prstGeom>
          <a:noFill/>
          <a:ln/>
        </p:spPr>
        <p:txBody>
          <a:bodyPr wrap="square" rtlCol="0"/>
          <a:lstStyle>
            <a:lvl1pPr algn="l" indent="0" marL="0">
              <a:buNone/>
              <a:defRPr lang="en-US" sz="3600" b="1" dirty="0">
                <a:solidFill>
                  <a:schemeClr val="bg1"/>
                </a:solidFill>
                <a:latin typeface="Arial Black" pitchFamily="34" charset="0"/>
                <a:ea typeface="Arial Black" pitchFamily="34" charset="-122"/>
                <a:cs typeface="Arial Black"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4.xml"/><Relationship Id="rId1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548640" y="777240"/>
            <a:ext cx="9509760" cy="868680"/>
          </a:xfrm>
          <a:prstGeom prst="rect">
            <a:avLst/>
          </a:prstGeom>
          <a:noFill/>
          <a:ln/>
        </p:spPr>
        <p:txBody>
          <a:bodyPr wrap="square" lIns="0" tIns="0" rIns="0" bIns="0" rtlCol="0" anchor="ctr"/>
          <a:lstStyle/>
          <a:p>
            <a:pPr algn="l" indent="0" marL="0">
              <a:buNone/>
            </a:pPr>
            <a:r>
              <a:rPr lang="en-US" sz="3600" b="1" dirty="0">
                <a:solidFill>
                  <a:schemeClr val="bg1"/>
                </a:solidFill>
                <a:latin typeface="Arial Black" pitchFamily="34" charset="0"/>
                <a:ea typeface="Arial Black" pitchFamily="34" charset="-122"/>
                <a:cs typeface="Arial Black" pitchFamily="34" charset="-120"/>
              </a:rPr>
              <a:t>How We Build Our Team</a:t>
            </a:r>
            <a:endParaRPr lang="en-US" sz="3600" dirty="0"/>
          </a:p>
        </p:txBody>
      </p:sp>
      <p:sp>
        <p:nvSpPr>
          <p:cNvPr id="3" name="a1_sub"/>
          <p:cNvSpPr txBox="1"/>
          <p:nvPr/>
        </p:nvSpPr>
        <p:spPr>
          <a:xfrm>
            <a:off x="548640" y="1691640"/>
            <a:ext cx="8229600" cy="411480"/>
          </a:xfrm>
          <a:prstGeom prst="rect">
            <a:avLst/>
          </a:prstGeom>
          <a:noFill/>
          <a:ln/>
        </p:spPr>
        <p:txBody>
          <a:bodyPr wrap="square" lIns="0" tIns="0" rIns="0" bIns="0" rtlCol="0" anchor="t"/>
          <a:lstStyle/>
          <a:p>
            <a:pPr indent="0" marL="0">
              <a:buNone/>
            </a:pPr>
            <a:r>
              <a:rPr lang="en-US" sz="1800" dirty="0">
                <a:solidFill>
                  <a:srgbClr val="B8C7D9"/>
                </a:solidFill>
                <a:latin typeface="Calibri" pitchFamily="34" charset="0"/>
                <a:ea typeface="Calibri" pitchFamily="34" charset="-122"/>
                <a:cs typeface="Calibri" pitchFamily="34" charset="-120"/>
              </a:rPr>
              <a:t>Finding the right people, and keeping them motivated.</a:t>
            </a:r>
            <a:endParaRPr lang="en-US" sz="1800" dirty="0"/>
          </a:p>
        </p:txBody>
      </p:sp>
      <p:sp>
        <p:nvSpPr>
          <p:cNvPr id="4" name="a2_h"/>
          <p:cNvSpPr txBox="1"/>
          <p:nvPr/>
        </p:nvSpPr>
        <p:spPr>
          <a:xfrm>
            <a:off x="548640" y="2331720"/>
            <a:ext cx="5303520" cy="320040"/>
          </a:xfrm>
          <a:prstGeom prst="rect">
            <a:avLst/>
          </a:prstGeom>
          <a:noFill/>
          <a:ln/>
        </p:spPr>
        <p:txBody>
          <a:bodyPr wrap="square" lIns="0" tIns="0" rIns="0" bIns="0" rtlCol="0" anchor="t"/>
          <a:lstStyle/>
          <a:p>
            <a:pPr indent="0" marL="0">
              <a:buNone/>
            </a:pPr>
            <a:r>
              <a:rPr lang="en-US" sz="1300" b="1" spc="300" kern="0" dirty="0">
                <a:solidFill>
                  <a:srgbClr val="14C9A1"/>
                </a:solidFill>
                <a:latin typeface="Calibri" pitchFamily="34" charset="0"/>
                <a:ea typeface="Calibri" pitchFamily="34" charset="-122"/>
                <a:cs typeface="Calibri" pitchFamily="34" charset="-120"/>
              </a:rPr>
              <a:t>OUR HIRING PROCESS</a:t>
            </a:r>
            <a:endParaRPr lang="en-US" sz="1300" dirty="0"/>
          </a:p>
        </p:txBody>
      </p:sp>
      <p:sp>
        <p:nvSpPr>
          <p:cNvPr id="5" name="a2_line"/>
          <p:cNvSpPr/>
          <p:nvPr/>
        </p:nvSpPr>
        <p:spPr>
          <a:xfrm>
            <a:off x="914400" y="3108960"/>
            <a:ext cx="0" cy="2011680"/>
          </a:xfrm>
          <a:prstGeom prst="line">
            <a:avLst/>
          </a:prstGeom>
          <a:noFill/>
          <a:ln w="25400">
            <a:solidFill>
              <a:srgbClr val="14C9A1"/>
            </a:solidFill>
            <a:prstDash val="dash"/>
          </a:ln>
        </p:spPr>
      </p:sp>
      <p:sp>
        <p:nvSpPr>
          <p:cNvPr id="6" name="a3_dot"/>
          <p:cNvSpPr/>
          <p:nvPr/>
        </p:nvSpPr>
        <p:spPr>
          <a:xfrm>
            <a:off x="548640" y="2743200"/>
            <a:ext cx="731520" cy="731520"/>
          </a:xfrm>
          <a:prstGeom prst="ellipse">
            <a:avLst/>
          </a:prstGeom>
          <a:solidFill>
            <a:srgbClr val="14C9A1"/>
          </a:solidFill>
          <a:ln/>
        </p:spPr>
      </p:sp>
      <p:pic>
        <p:nvPicPr>
          <p:cNvPr id="7" name="a3_icon" descr="1. Apply">    </p:cNvPr>
          <p:cNvPicPr>
            <a:picLocks noChangeAspect="1"/>
          </p:cNvPicPr>
          <p:nvPr/>
        </p:nvPicPr>
        <p:blipFill>
          <a:blip r:embed="rId1"/>
          <a:stretch>
            <a:fillRect/>
          </a:stretch>
        </p:blipFill>
        <p:spPr>
          <a:xfrm>
            <a:off x="731520" y="2926080"/>
            <a:ext cx="365760" cy="365760"/>
          </a:xfrm>
          <a:prstGeom prst="rect">
            <a:avLst/>
          </a:prstGeom>
        </p:spPr>
      </p:pic>
      <p:sp>
        <p:nvSpPr>
          <p:cNvPr id="8" name="a3_h"/>
          <p:cNvSpPr txBox="1"/>
          <p:nvPr/>
        </p:nvSpPr>
        <p:spPr>
          <a:xfrm>
            <a:off x="1508760" y="2724912"/>
            <a:ext cx="4480560" cy="36576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1. Apply</a:t>
            </a:r>
            <a:endParaRPr lang="en-US" sz="1900" dirty="0"/>
          </a:p>
        </p:txBody>
      </p:sp>
      <p:sp>
        <p:nvSpPr>
          <p:cNvPr id="9" name="a3_d"/>
          <p:cNvSpPr txBox="1"/>
          <p:nvPr/>
        </p:nvSpPr>
        <p:spPr>
          <a:xfrm>
            <a:off x="1508760" y="3090672"/>
            <a:ext cx="4480560" cy="5943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Send your CV and a short video explaining why you want to join NutriPill.</a:t>
            </a:r>
            <a:endParaRPr lang="en-US" sz="1400" dirty="0"/>
          </a:p>
        </p:txBody>
      </p:sp>
      <p:sp>
        <p:nvSpPr>
          <p:cNvPr id="10" name="a4_dot"/>
          <p:cNvSpPr/>
          <p:nvPr/>
        </p:nvSpPr>
        <p:spPr>
          <a:xfrm>
            <a:off x="548640" y="3794760"/>
            <a:ext cx="731520" cy="731520"/>
          </a:xfrm>
          <a:prstGeom prst="ellipse">
            <a:avLst/>
          </a:prstGeom>
          <a:solidFill>
            <a:srgbClr val="14C9A1"/>
          </a:solidFill>
          <a:ln/>
        </p:spPr>
      </p:sp>
      <p:pic>
        <p:nvPicPr>
          <p:cNvPr id="11" name="a4_icon" descr="2. Live interview">    </p:cNvPr>
          <p:cNvPicPr>
            <a:picLocks noChangeAspect="1"/>
          </p:cNvPicPr>
          <p:nvPr/>
        </p:nvPicPr>
        <p:blipFill>
          <a:blip r:embed="rId2"/>
          <a:stretch>
            <a:fillRect/>
          </a:stretch>
        </p:blipFill>
        <p:spPr>
          <a:xfrm>
            <a:off x="731520" y="3977640"/>
            <a:ext cx="365760" cy="365760"/>
          </a:xfrm>
          <a:prstGeom prst="rect">
            <a:avLst/>
          </a:prstGeom>
        </p:spPr>
      </p:pic>
      <p:sp>
        <p:nvSpPr>
          <p:cNvPr id="12" name="a4_h"/>
          <p:cNvSpPr txBox="1"/>
          <p:nvPr/>
        </p:nvSpPr>
        <p:spPr>
          <a:xfrm>
            <a:off x="1508760" y="3776472"/>
            <a:ext cx="4480560" cy="36576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2. Live interview</a:t>
            </a:r>
            <a:endParaRPr lang="en-US" sz="1900" dirty="0"/>
          </a:p>
        </p:txBody>
      </p:sp>
      <p:sp>
        <p:nvSpPr>
          <p:cNvPr id="13" name="a4_d"/>
          <p:cNvSpPr txBox="1"/>
          <p:nvPr/>
        </p:nvSpPr>
        <p:spPr>
          <a:xfrm>
            <a:off x="1508760" y="4142232"/>
            <a:ext cx="4480560" cy="5943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A real conversation about how you deal with pressure and teamwork.</a:t>
            </a:r>
            <a:endParaRPr lang="en-US" sz="1400" dirty="0"/>
          </a:p>
        </p:txBody>
      </p:sp>
      <p:sp>
        <p:nvSpPr>
          <p:cNvPr id="14" name="a5_dot"/>
          <p:cNvSpPr/>
          <p:nvPr/>
        </p:nvSpPr>
        <p:spPr>
          <a:xfrm>
            <a:off x="548640" y="4846320"/>
            <a:ext cx="731520" cy="731520"/>
          </a:xfrm>
          <a:prstGeom prst="ellipse">
            <a:avLst/>
          </a:prstGeom>
          <a:solidFill>
            <a:srgbClr val="14C9A1"/>
          </a:solidFill>
          <a:ln/>
        </p:spPr>
      </p:sp>
      <p:pic>
        <p:nvPicPr>
          <p:cNvPr id="15" name="a5_icon" descr="3. Trial day">    </p:cNvPr>
          <p:cNvPicPr>
            <a:picLocks noChangeAspect="1"/>
          </p:cNvPicPr>
          <p:nvPr/>
        </p:nvPicPr>
        <p:blipFill>
          <a:blip r:embed="rId3"/>
          <a:stretch>
            <a:fillRect/>
          </a:stretch>
        </p:blipFill>
        <p:spPr>
          <a:xfrm>
            <a:off x="731520" y="5029200"/>
            <a:ext cx="365760" cy="365760"/>
          </a:xfrm>
          <a:prstGeom prst="rect">
            <a:avLst/>
          </a:prstGeom>
        </p:spPr>
      </p:pic>
      <p:sp>
        <p:nvSpPr>
          <p:cNvPr id="16" name="a5_h"/>
          <p:cNvSpPr txBox="1"/>
          <p:nvPr/>
        </p:nvSpPr>
        <p:spPr>
          <a:xfrm>
            <a:off x="1508760" y="4828032"/>
            <a:ext cx="4480560" cy="36576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3. Trial day</a:t>
            </a:r>
            <a:endParaRPr lang="en-US" sz="1900" dirty="0"/>
          </a:p>
        </p:txBody>
      </p:sp>
      <p:sp>
        <p:nvSpPr>
          <p:cNvPr id="17" name="a5_d"/>
          <p:cNvSpPr txBox="1"/>
          <p:nvPr/>
        </p:nvSpPr>
        <p:spPr>
          <a:xfrm>
            <a:off x="1508760" y="5193792"/>
            <a:ext cx="4480560" cy="5943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Spend a day working with the team before we both decide.</a:t>
            </a:r>
            <a:endParaRPr lang="en-US" sz="1400" dirty="0"/>
          </a:p>
        </p:txBody>
      </p:sp>
      <p:sp>
        <p:nvSpPr>
          <p:cNvPr id="18" name="a6_card"/>
          <p:cNvSpPr/>
          <p:nvPr/>
        </p:nvSpPr>
        <p:spPr>
          <a:xfrm>
            <a:off x="6355080" y="2286000"/>
            <a:ext cx="5166360" cy="3520440"/>
          </a:xfrm>
          <a:prstGeom prst="roundRect">
            <a:avLst>
              <a:gd name="adj" fmla="val 4675"/>
            </a:avLst>
          </a:prstGeom>
          <a:solidFill>
            <a:srgbClr val="FFFFFF"/>
          </a:solidFill>
          <a:ln/>
          <a:effectLst>
            <a:outerShdw sx="100000" sy="100000" kx="0" ky="0" algn="bl" rotWithShape="0" blurRad="228600" dist="76200" dir="5400000">
              <a:srgbClr val="0B1F3A">
                <a:alpha val="12000"/>
              </a:srgbClr>
            </a:outerShdw>
          </a:effectLst>
        </p:spPr>
      </p:sp>
      <p:sp>
        <p:nvSpPr>
          <p:cNvPr id="19" name="a6_h"/>
          <p:cNvSpPr txBox="1"/>
          <p:nvPr/>
        </p:nvSpPr>
        <p:spPr>
          <a:xfrm>
            <a:off x="6675120" y="2560320"/>
            <a:ext cx="4663440" cy="320040"/>
          </a:xfrm>
          <a:prstGeom prst="rect">
            <a:avLst/>
          </a:prstGeom>
          <a:noFill/>
          <a:ln/>
        </p:spPr>
        <p:txBody>
          <a:bodyPr wrap="square" lIns="0" tIns="0" rIns="0" bIns="0" rtlCol="0" anchor="t"/>
          <a:lstStyle/>
          <a:p>
            <a:pPr indent="0" marL="0">
              <a:buNone/>
            </a:pPr>
            <a:r>
              <a:rPr lang="en-US" sz="1300" b="1" spc="300" kern="0" dirty="0">
                <a:solidFill>
                  <a:srgbClr val="FF6B4A"/>
                </a:solidFill>
                <a:latin typeface="Calibri" pitchFamily="34" charset="0"/>
                <a:ea typeface="Calibri" pitchFamily="34" charset="-122"/>
                <a:cs typeface="Calibri" pitchFamily="34" charset="-120"/>
              </a:rPr>
              <a:t>OUR EXECUTIVE BOARD</a:t>
            </a:r>
            <a:endParaRPr lang="en-US" sz="1300" dirty="0"/>
          </a:p>
        </p:txBody>
      </p:sp>
      <p:sp>
        <p:nvSpPr>
          <p:cNvPr id="20" name="a7_dot"/>
          <p:cNvSpPr/>
          <p:nvPr/>
        </p:nvSpPr>
        <p:spPr>
          <a:xfrm>
            <a:off x="6675120" y="3063240"/>
            <a:ext cx="502920" cy="502920"/>
          </a:xfrm>
          <a:prstGeom prst="ellipse">
            <a:avLst/>
          </a:prstGeom>
          <a:solidFill>
            <a:srgbClr val="0B1F3A"/>
          </a:solidFill>
          <a:ln/>
        </p:spPr>
      </p:sp>
      <p:pic>
        <p:nvPicPr>
          <p:cNvPr id="21" name="a7_icon" descr="CEO">    </p:cNvPr>
          <p:cNvPicPr>
            <a:picLocks noChangeAspect="1"/>
          </p:cNvPicPr>
          <p:nvPr/>
        </p:nvPicPr>
        <p:blipFill>
          <a:blip r:embed="rId4"/>
          <a:stretch>
            <a:fillRect/>
          </a:stretch>
        </p:blipFill>
        <p:spPr>
          <a:xfrm>
            <a:off x="6812280" y="3200400"/>
            <a:ext cx="228600" cy="228600"/>
          </a:xfrm>
          <a:prstGeom prst="rect">
            <a:avLst/>
          </a:prstGeom>
        </p:spPr>
      </p:pic>
      <p:sp>
        <p:nvSpPr>
          <p:cNvPr id="22" name="a7_n"/>
          <p:cNvSpPr txBox="1"/>
          <p:nvPr/>
        </p:nvSpPr>
        <p:spPr>
          <a:xfrm>
            <a:off x="7360920" y="2999232"/>
            <a:ext cx="40233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Miguel</a:t>
            </a:r>
            <a:pPr indent="0" marL="0">
              <a:buNone/>
            </a:pPr>
            <a:r>
              <a:rPr lang="en-US" sz="1600" b="1" dirty="0">
                <a:solidFill>
                  <a:srgbClr val="14C9A1"/>
                </a:solidFill>
                <a:latin typeface="Calibri" pitchFamily="34" charset="0"/>
                <a:ea typeface="Calibri" pitchFamily="34" charset="-122"/>
                <a:cs typeface="Calibri" pitchFamily="34" charset="-120"/>
              </a:rPr>
              <a:t>  ·  CEO</a:t>
            </a:r>
            <a:endParaRPr lang="en-US" sz="1600" dirty="0"/>
          </a:p>
        </p:txBody>
      </p:sp>
      <p:sp>
        <p:nvSpPr>
          <p:cNvPr id="23" name="a7_d"/>
          <p:cNvSpPr txBox="1"/>
          <p:nvPr/>
        </p:nvSpPr>
        <p:spPr>
          <a:xfrm>
            <a:off x="7360920" y="3319272"/>
            <a:ext cx="4023360" cy="292608"/>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Leads the pitch and the company's vision</a:t>
            </a:r>
            <a:endParaRPr lang="en-US" sz="1400" dirty="0"/>
          </a:p>
        </p:txBody>
      </p:sp>
      <p:sp>
        <p:nvSpPr>
          <p:cNvPr id="24" name="a8_dot"/>
          <p:cNvSpPr/>
          <p:nvPr/>
        </p:nvSpPr>
        <p:spPr>
          <a:xfrm>
            <a:off x="6675120" y="3749040"/>
            <a:ext cx="502920" cy="502920"/>
          </a:xfrm>
          <a:prstGeom prst="ellipse">
            <a:avLst/>
          </a:prstGeom>
          <a:solidFill>
            <a:srgbClr val="0B1F3A"/>
          </a:solidFill>
          <a:ln/>
        </p:spPr>
      </p:sp>
      <p:pic>
        <p:nvPicPr>
          <p:cNvPr id="25" name="a8_icon" descr="CMO">    </p:cNvPr>
          <p:cNvPicPr>
            <a:picLocks noChangeAspect="1"/>
          </p:cNvPicPr>
          <p:nvPr/>
        </p:nvPicPr>
        <p:blipFill>
          <a:blip r:embed="rId5"/>
          <a:stretch>
            <a:fillRect/>
          </a:stretch>
        </p:blipFill>
        <p:spPr>
          <a:xfrm>
            <a:off x="6812280" y="3886200"/>
            <a:ext cx="228600" cy="228600"/>
          </a:xfrm>
          <a:prstGeom prst="rect">
            <a:avLst/>
          </a:prstGeom>
        </p:spPr>
      </p:pic>
      <p:sp>
        <p:nvSpPr>
          <p:cNvPr id="26" name="a8_n"/>
          <p:cNvSpPr txBox="1"/>
          <p:nvPr/>
        </p:nvSpPr>
        <p:spPr>
          <a:xfrm>
            <a:off x="7360920" y="3685032"/>
            <a:ext cx="40233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Dani</a:t>
            </a:r>
            <a:pPr indent="0" marL="0">
              <a:buNone/>
            </a:pPr>
            <a:r>
              <a:rPr lang="en-US" sz="1600" b="1" dirty="0">
                <a:solidFill>
                  <a:srgbClr val="14C9A1"/>
                </a:solidFill>
                <a:latin typeface="Calibri" pitchFamily="34" charset="0"/>
                <a:ea typeface="Calibri" pitchFamily="34" charset="-122"/>
                <a:cs typeface="Calibri" pitchFamily="34" charset="-120"/>
              </a:rPr>
              <a:t>  ·  CMO</a:t>
            </a:r>
            <a:endParaRPr lang="en-US" sz="1600" dirty="0"/>
          </a:p>
        </p:txBody>
      </p:sp>
      <p:sp>
        <p:nvSpPr>
          <p:cNvPr id="27" name="a8_d"/>
          <p:cNvSpPr txBox="1"/>
          <p:nvPr/>
        </p:nvSpPr>
        <p:spPr>
          <a:xfrm>
            <a:off x="7360920" y="4005072"/>
            <a:ext cx="4023360" cy="292608"/>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Runs our advertising and market research</a:t>
            </a:r>
            <a:endParaRPr lang="en-US" sz="1400" dirty="0"/>
          </a:p>
        </p:txBody>
      </p:sp>
      <p:sp>
        <p:nvSpPr>
          <p:cNvPr id="28" name="a9_dot"/>
          <p:cNvSpPr/>
          <p:nvPr/>
        </p:nvSpPr>
        <p:spPr>
          <a:xfrm>
            <a:off x="6675120" y="4434840"/>
            <a:ext cx="502920" cy="502920"/>
          </a:xfrm>
          <a:prstGeom prst="ellipse">
            <a:avLst/>
          </a:prstGeom>
          <a:solidFill>
            <a:srgbClr val="0B1F3A"/>
          </a:solidFill>
          <a:ln/>
        </p:spPr>
      </p:sp>
      <p:pic>
        <p:nvPicPr>
          <p:cNvPr id="29" name="a9_icon" descr="CFO">    </p:cNvPr>
          <p:cNvPicPr>
            <a:picLocks noChangeAspect="1"/>
          </p:cNvPicPr>
          <p:nvPr/>
        </p:nvPicPr>
        <p:blipFill>
          <a:blip r:embed="rId6"/>
          <a:stretch>
            <a:fillRect/>
          </a:stretch>
        </p:blipFill>
        <p:spPr>
          <a:xfrm>
            <a:off x="6812280" y="4572000"/>
            <a:ext cx="228600" cy="228600"/>
          </a:xfrm>
          <a:prstGeom prst="rect">
            <a:avLst/>
          </a:prstGeom>
        </p:spPr>
      </p:pic>
      <p:sp>
        <p:nvSpPr>
          <p:cNvPr id="30" name="a9_n"/>
          <p:cNvSpPr txBox="1"/>
          <p:nvPr/>
        </p:nvSpPr>
        <p:spPr>
          <a:xfrm>
            <a:off x="7360920" y="4370832"/>
            <a:ext cx="40233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Max</a:t>
            </a:r>
            <a:pPr indent="0" marL="0">
              <a:buNone/>
            </a:pPr>
            <a:r>
              <a:rPr lang="en-US" sz="1600" b="1" dirty="0">
                <a:solidFill>
                  <a:srgbClr val="14C9A1"/>
                </a:solidFill>
                <a:latin typeface="Calibri" pitchFamily="34" charset="0"/>
                <a:ea typeface="Calibri" pitchFamily="34" charset="-122"/>
                <a:cs typeface="Calibri" pitchFamily="34" charset="-120"/>
              </a:rPr>
              <a:t>  ·  CFO</a:t>
            </a:r>
            <a:endParaRPr lang="en-US" sz="1600" dirty="0"/>
          </a:p>
        </p:txBody>
      </p:sp>
      <p:sp>
        <p:nvSpPr>
          <p:cNvPr id="31" name="a9_d"/>
          <p:cNvSpPr txBox="1"/>
          <p:nvPr/>
        </p:nvSpPr>
        <p:spPr>
          <a:xfrm>
            <a:off x="7360920" y="4690872"/>
            <a:ext cx="4023360" cy="292608"/>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Manages costs, prices and finances</a:t>
            </a:r>
            <a:endParaRPr lang="en-US" sz="1400" dirty="0"/>
          </a:p>
        </p:txBody>
      </p:sp>
      <p:sp>
        <p:nvSpPr>
          <p:cNvPr id="32" name="a10_dot"/>
          <p:cNvSpPr/>
          <p:nvPr/>
        </p:nvSpPr>
        <p:spPr>
          <a:xfrm>
            <a:off x="6675120" y="5120640"/>
            <a:ext cx="502920" cy="502920"/>
          </a:xfrm>
          <a:prstGeom prst="ellipse">
            <a:avLst/>
          </a:prstGeom>
          <a:solidFill>
            <a:srgbClr val="FF6B4A"/>
          </a:solidFill>
          <a:ln/>
        </p:spPr>
      </p:sp>
      <p:pic>
        <p:nvPicPr>
          <p:cNvPr id="33" name="a10_icon" descr="HR Manager">    </p:cNvPr>
          <p:cNvPicPr>
            <a:picLocks noChangeAspect="1"/>
          </p:cNvPicPr>
          <p:nvPr/>
        </p:nvPicPr>
        <p:blipFill>
          <a:blip r:embed="rId7"/>
          <a:stretch>
            <a:fillRect/>
          </a:stretch>
        </p:blipFill>
        <p:spPr>
          <a:xfrm>
            <a:off x="6812280" y="5257800"/>
            <a:ext cx="228600" cy="228600"/>
          </a:xfrm>
          <a:prstGeom prst="rect">
            <a:avLst/>
          </a:prstGeom>
        </p:spPr>
      </p:pic>
      <p:sp>
        <p:nvSpPr>
          <p:cNvPr id="34" name="a10_n"/>
          <p:cNvSpPr txBox="1"/>
          <p:nvPr/>
        </p:nvSpPr>
        <p:spPr>
          <a:xfrm>
            <a:off x="7360920" y="5056632"/>
            <a:ext cx="40233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William</a:t>
            </a:r>
            <a:pPr indent="0" marL="0">
              <a:buNone/>
            </a:pPr>
            <a:r>
              <a:rPr lang="en-US" sz="1600" b="1" dirty="0">
                <a:solidFill>
                  <a:srgbClr val="14C9A1"/>
                </a:solidFill>
                <a:latin typeface="Calibri" pitchFamily="34" charset="0"/>
                <a:ea typeface="Calibri" pitchFamily="34" charset="-122"/>
                <a:cs typeface="Calibri" pitchFamily="34" charset="-120"/>
              </a:rPr>
              <a:t>  ·  HR Manager</a:t>
            </a:r>
            <a:endParaRPr lang="en-US" sz="1600" dirty="0"/>
          </a:p>
        </p:txBody>
      </p:sp>
      <p:sp>
        <p:nvSpPr>
          <p:cNvPr id="35" name="a10_d"/>
          <p:cNvSpPr txBox="1"/>
          <p:nvPr/>
        </p:nvSpPr>
        <p:spPr>
          <a:xfrm>
            <a:off x="7360920" y="5376672"/>
            <a:ext cx="4023360" cy="292608"/>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Hires our team and looks after our culture</a:t>
            </a:r>
            <a:endParaRPr lang="en-US" sz="1400" dirty="0"/>
          </a:p>
        </p:txBody>
      </p:sp>
      <p:sp>
        <p:nvSpPr>
          <p:cNvPr id="36" name="a11_h"/>
          <p:cNvSpPr txBox="1"/>
          <p:nvPr/>
        </p:nvSpPr>
        <p:spPr>
          <a:xfrm>
            <a:off x="548640" y="6035040"/>
            <a:ext cx="17373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we offer:</a:t>
            </a:r>
            <a:endParaRPr lang="en-US" sz="1600" dirty="0"/>
          </a:p>
        </p:txBody>
      </p:sp>
      <p:sp>
        <p:nvSpPr>
          <p:cNvPr id="37" name="a12_chip"/>
          <p:cNvSpPr/>
          <p:nvPr/>
        </p:nvSpPr>
        <p:spPr>
          <a:xfrm>
            <a:off x="2286000" y="6035040"/>
            <a:ext cx="1508760" cy="411480"/>
          </a:xfrm>
          <a:prstGeom prst="roundRect">
            <a:avLst>
              <a:gd name="adj" fmla="val 48889"/>
            </a:avLst>
          </a:prstGeom>
          <a:solidFill>
            <a:srgbClr val="FFFFFF">
              <a:alpha val="12000"/>
            </a:srgbClr>
          </a:solidFill>
          <a:ln w="12700">
            <a:solidFill>
              <a:srgbClr val="14C9A1"/>
            </a:solidFill>
            <a:prstDash val="solid"/>
          </a:ln>
        </p:spPr>
      </p:sp>
      <p:pic>
        <p:nvPicPr>
          <p:cNvPr id="38" name="a12_icon" descr="Training">    </p:cNvPr>
          <p:cNvPicPr>
            <a:picLocks noChangeAspect="1"/>
          </p:cNvPicPr>
          <p:nvPr/>
        </p:nvPicPr>
        <p:blipFill>
          <a:blip r:embed="rId8"/>
          <a:stretch>
            <a:fillRect/>
          </a:stretch>
        </p:blipFill>
        <p:spPr>
          <a:xfrm>
            <a:off x="2423160" y="6126480"/>
            <a:ext cx="228600" cy="228600"/>
          </a:xfrm>
          <a:prstGeom prst="rect">
            <a:avLst/>
          </a:prstGeom>
        </p:spPr>
      </p:pic>
      <p:sp>
        <p:nvSpPr>
          <p:cNvPr id="39" name="a12_t"/>
          <p:cNvSpPr txBox="1"/>
          <p:nvPr/>
        </p:nvSpPr>
        <p:spPr>
          <a:xfrm>
            <a:off x="2724912" y="6035040"/>
            <a:ext cx="100584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Training</a:t>
            </a:r>
            <a:endParaRPr lang="en-US" sz="1400" dirty="0"/>
          </a:p>
        </p:txBody>
      </p:sp>
      <p:sp>
        <p:nvSpPr>
          <p:cNvPr id="40" name="a13_chip"/>
          <p:cNvSpPr/>
          <p:nvPr/>
        </p:nvSpPr>
        <p:spPr>
          <a:xfrm>
            <a:off x="3931920" y="6035040"/>
            <a:ext cx="1874520" cy="411480"/>
          </a:xfrm>
          <a:prstGeom prst="roundRect">
            <a:avLst>
              <a:gd name="adj" fmla="val 48889"/>
            </a:avLst>
          </a:prstGeom>
          <a:solidFill>
            <a:srgbClr val="FFFFFF">
              <a:alpha val="12000"/>
            </a:srgbClr>
          </a:solidFill>
          <a:ln w="12700">
            <a:solidFill>
              <a:srgbClr val="14C9A1"/>
            </a:solidFill>
            <a:prstDash val="solid"/>
          </a:ln>
        </p:spPr>
      </p:sp>
      <p:pic>
        <p:nvPicPr>
          <p:cNvPr id="41" name="a13_icon" descr="Flexible hours">    </p:cNvPr>
          <p:cNvPicPr>
            <a:picLocks noChangeAspect="1"/>
          </p:cNvPicPr>
          <p:nvPr/>
        </p:nvPicPr>
        <p:blipFill>
          <a:blip r:embed="rId9"/>
          <a:stretch>
            <a:fillRect/>
          </a:stretch>
        </p:blipFill>
        <p:spPr>
          <a:xfrm>
            <a:off x="4069080" y="6126480"/>
            <a:ext cx="228600" cy="228600"/>
          </a:xfrm>
          <a:prstGeom prst="rect">
            <a:avLst/>
          </a:prstGeom>
        </p:spPr>
      </p:pic>
      <p:sp>
        <p:nvSpPr>
          <p:cNvPr id="42" name="a13_t"/>
          <p:cNvSpPr txBox="1"/>
          <p:nvPr/>
        </p:nvSpPr>
        <p:spPr>
          <a:xfrm>
            <a:off x="4370832" y="6035040"/>
            <a:ext cx="13716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Flexible hours</a:t>
            </a:r>
            <a:endParaRPr lang="en-US" sz="1400" dirty="0"/>
          </a:p>
        </p:txBody>
      </p:sp>
      <p:sp>
        <p:nvSpPr>
          <p:cNvPr id="43" name="a14_chip"/>
          <p:cNvSpPr/>
          <p:nvPr/>
        </p:nvSpPr>
        <p:spPr>
          <a:xfrm>
            <a:off x="5943600" y="6035040"/>
            <a:ext cx="1371600" cy="411480"/>
          </a:xfrm>
          <a:prstGeom prst="roundRect">
            <a:avLst>
              <a:gd name="adj" fmla="val 48889"/>
            </a:avLst>
          </a:prstGeom>
          <a:solidFill>
            <a:srgbClr val="FFFFFF">
              <a:alpha val="12000"/>
            </a:srgbClr>
          </a:solidFill>
          <a:ln w="12700">
            <a:solidFill>
              <a:srgbClr val="14C9A1"/>
            </a:solidFill>
            <a:prstDash val="solid"/>
          </a:ln>
        </p:spPr>
      </p:sp>
      <p:pic>
        <p:nvPicPr>
          <p:cNvPr id="44" name="a14_icon" descr="Fair pay">    </p:cNvPr>
          <p:cNvPicPr>
            <a:picLocks noChangeAspect="1"/>
          </p:cNvPicPr>
          <p:nvPr/>
        </p:nvPicPr>
        <p:blipFill>
          <a:blip r:embed="rId10"/>
          <a:stretch>
            <a:fillRect/>
          </a:stretch>
        </p:blipFill>
        <p:spPr>
          <a:xfrm>
            <a:off x="6080760" y="6126480"/>
            <a:ext cx="228600" cy="228600"/>
          </a:xfrm>
          <a:prstGeom prst="rect">
            <a:avLst/>
          </a:prstGeom>
        </p:spPr>
      </p:pic>
      <p:sp>
        <p:nvSpPr>
          <p:cNvPr id="45" name="a14_t"/>
          <p:cNvSpPr txBox="1"/>
          <p:nvPr/>
        </p:nvSpPr>
        <p:spPr>
          <a:xfrm>
            <a:off x="6382512" y="6035040"/>
            <a:ext cx="86868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Fair pay</a:t>
            </a:r>
            <a:endParaRPr lang="en-US" sz="1400" dirty="0"/>
          </a:p>
        </p:txBody>
      </p:sp>
      <p:sp>
        <p:nvSpPr>
          <p:cNvPr id="46" name="a15_chip"/>
          <p:cNvSpPr/>
          <p:nvPr/>
        </p:nvSpPr>
        <p:spPr>
          <a:xfrm>
            <a:off x="7452360" y="6035040"/>
            <a:ext cx="2377440" cy="411480"/>
          </a:xfrm>
          <a:prstGeom prst="roundRect">
            <a:avLst>
              <a:gd name="adj" fmla="val 48889"/>
            </a:avLst>
          </a:prstGeom>
          <a:solidFill>
            <a:srgbClr val="FFFFFF">
              <a:alpha val="12000"/>
            </a:srgbClr>
          </a:solidFill>
          <a:ln w="12700">
            <a:solidFill>
              <a:srgbClr val="14C9A1"/>
            </a:solidFill>
            <a:prstDash val="solid"/>
          </a:ln>
        </p:spPr>
      </p:sp>
      <p:pic>
        <p:nvPicPr>
          <p:cNvPr id="47" name="a15_icon" descr="Respect for everyone">    </p:cNvPr>
          <p:cNvPicPr>
            <a:picLocks noChangeAspect="1"/>
          </p:cNvPicPr>
          <p:nvPr/>
        </p:nvPicPr>
        <p:blipFill>
          <a:blip r:embed="rId11"/>
          <a:stretch>
            <a:fillRect/>
          </a:stretch>
        </p:blipFill>
        <p:spPr>
          <a:xfrm>
            <a:off x="7589520" y="6126480"/>
            <a:ext cx="228600" cy="228600"/>
          </a:xfrm>
          <a:prstGeom prst="rect">
            <a:avLst/>
          </a:prstGeom>
        </p:spPr>
      </p:pic>
      <p:sp>
        <p:nvSpPr>
          <p:cNvPr id="48" name="a15_t"/>
          <p:cNvSpPr txBox="1"/>
          <p:nvPr/>
        </p:nvSpPr>
        <p:spPr>
          <a:xfrm>
            <a:off x="7891272" y="6035040"/>
            <a:ext cx="18745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Respect for everyone</a:t>
            </a:r>
            <a:endParaRPr lang="en-US" sz="1400" dirty="0"/>
          </a:p>
        </p:txBody>
      </p:sp>
      <p:sp>
        <p:nvSpPr>
          <p:cNvPr id="50" name="Text 0"/>
          <p:cNvSpPr/>
          <p:nvPr>
            <p:ph idx="101" type="body" hasCustomPrompt="1"/>
          </p:nvPr>
        </p:nvSpPr>
        <p:spPr>
          <a:xfrm>
            <a:off x="548640" y="411480"/>
            <a:ext cx="7315200" cy="320040"/>
          </a:xfrm>
          <a:prstGeom prst="rect">
            <a:avLst/>
          </a:prstGeom>
          <a:noFill/>
          <a:ln/>
        </p:spPr>
        <p:txBody>
          <a:bodyPr wrap="square" lIns="0" tIns="0" rIns="0" bIns="0" rtlCol="0" anchor="ctr"/>
          <a:lstStyle/>
          <a:p>
            <a:pPr indent="0" marL="0">
              <a:buNone/>
            </a:pPr>
            <a:endParaRPr lang="en-US" sz="13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1</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243" fill="hold">
                      <p:stCondLst>
                        <p:cond delay="indefinite"/>
                        <p:cond evt="onBegin" delay="0">
                          <p:tn val="2"/>
                        </p:cond>
                      </p:stCondLst>
                      <p:childTnLst>
                        <p:par>
                          <p:cTn id="3"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4"/>
                                          </p:val>
                                        </p:tav>
                                        <p:tav tm="100000">
                                          <p:val>
                                            <p:strVal val="#ppt_y"/>
                                          </p:val>
                                        </p:tav>
                                      </p:tavLst>
                                    </p:anim>
                                  </p:childTnLst>
                                </p:cTn>
                              </p:par>
                            </p:childTnLst>
                          </p:cTn>
                        </p:par>
                        <p:par>
                          <p:cTn id="8" fill="hold">
                            <p:stCondLst>
                              <p:cond delay="0"/>
                            </p:stCondLst>
                            <p:childTnLst>
                              <p:par>
                                <p:cTn id="9" presetID="42"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600"/>
                                        <p:tgtEl>
                                          <p:spTgt spid="50"/>
                                        </p:tgtEl>
                                      </p:cBhvr>
                                    </p:animEffect>
                                    <p:anim calcmode="lin" valueType="num">
                                      <p:cBhvr>
                                        <p:cTn id="12" dur="600" decel="100000" fill="hold"/>
                                        <p:tgtEl>
                                          <p:spTgt spid="50"/>
                                        </p:tgtEl>
                                        <p:attrNameLst>
                                          <p:attrName>ppt_y</p:attrName>
                                        </p:attrNameLst>
                                      </p:cBhvr>
                                      <p:tavLst>
                                        <p:tav tm="0">
                                          <p:val>
                                            <p:strVal val="#ppt_y+0.04"/>
                                          </p:val>
                                        </p:tav>
                                        <p:tav tm="100000">
                                          <p:val>
                                            <p:strVal val="#ppt_y"/>
                                          </p:val>
                                        </p:tav>
                                      </p:tavLst>
                                    </p:anim>
                                  </p:childTnLst>
                                </p:cTn>
                              </p:par>
                            </p:childTnLst>
                          </p:cTn>
                        </p:par>
                        <p:par>
                          <p:cTn id="13" fill="hold">
                            <p:stCondLst>
                              <p:cond delay="0"/>
                            </p:stCondLst>
                            <p:childTnLst>
                              <p:par>
                                <p:cTn id="14" presetID="42"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p:tgtEl>
                                          <p:spTgt spid="3"/>
                                        </p:tgtEl>
                                      </p:cBhvr>
                                    </p:animEffect>
                                    <p:anim calcmode="lin" valueType="num">
                                      <p:cBhvr>
                                        <p:cTn id="17" dur="600" decel="100000" fill="hold"/>
                                        <p:tgtEl>
                                          <p:spTgt spid="3"/>
                                        </p:tgtEl>
                                        <p:attrNameLst>
                                          <p:attrName>ppt_y</p:attrName>
                                        </p:attrNameLst>
                                      </p:cBhvr>
                                      <p:tavLst>
                                        <p:tav tm="0">
                                          <p:val>
                                            <p:strVal val="#ppt_y+0.04"/>
                                          </p:val>
                                        </p:tav>
                                        <p:tav tm="100000">
                                          <p:val>
                                            <p:strVal val="#ppt_y"/>
                                          </p:val>
                                        </p:tav>
                                      </p:tavLst>
                                    </p:anim>
                                  </p:childTnLst>
                                </p:cTn>
                              </p:par>
                            </p:childTnLst>
                          </p:cTn>
                        </p:par>
                        <p:par>
                          <p:cTn id="18" fill="hold">
                            <p:stCondLst>
                              <p:cond delay="0"/>
                            </p:stCondLst>
                            <p:childTnLst>
                              <p:par>
                                <p:cTn id="19" presetID="42" presetClass="entr" presetSubtype="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600"/>
                                        <p:tgtEl>
                                          <p:spTgt spid="4"/>
                                        </p:tgtEl>
                                      </p:cBhvr>
                                    </p:animEffect>
                                    <p:anim calcmode="lin" valueType="num">
                                      <p:cBhvr>
                                        <p:cTn id="22" dur="600" decel="100000" fill="hold"/>
                                        <p:tgtEl>
                                          <p:spTgt spid="4"/>
                                        </p:tgtEl>
                                        <p:attrNameLst>
                                          <p:attrName>ppt_y</p:attrName>
                                        </p:attrNameLst>
                                      </p:cBhvr>
                                      <p:tavLst>
                                        <p:tav tm="0">
                                          <p:val>
                                            <p:strVal val="#ppt_y+0.04"/>
                                          </p:val>
                                        </p:tav>
                                        <p:tav tm="100000">
                                          <p:val>
                                            <p:strVal val="#ppt_y"/>
                                          </p:val>
                                        </p:tav>
                                      </p:tavLst>
                                    </p:anim>
                                  </p:childTnLst>
                                </p:cTn>
                              </p:par>
                            </p:childTnLst>
                          </p:cTn>
                        </p:par>
                        <p:par>
                          <p:cTn id="23" fill="hold">
                            <p:stCondLst>
                              <p:cond delay="0"/>
                            </p:stCondLst>
                            <p:childTnLst>
                              <p:par>
                                <p:cTn id="24" presetID="42"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600"/>
                                        <p:tgtEl>
                                          <p:spTgt spid="5"/>
                                        </p:tgtEl>
                                      </p:cBhvr>
                                    </p:animEffect>
                                    <p:anim calcmode="lin" valueType="num">
                                      <p:cBhvr>
                                        <p:cTn id="27" dur="600" decel="100000" fill="hold"/>
                                        <p:tgtEl>
                                          <p:spTgt spid="5"/>
                                        </p:tgtEl>
                                        <p:attrNameLst>
                                          <p:attrName>ppt_y</p:attrName>
                                        </p:attrNameLst>
                                      </p:cBhvr>
                                      <p:tavLst>
                                        <p:tav tm="0">
                                          <p:val>
                                            <p:strVal val="#ppt_y+0.04"/>
                                          </p:val>
                                        </p:tav>
                                        <p:tav tm="100000">
                                          <p:val>
                                            <p:strVal val="#ppt_y"/>
                                          </p:val>
                                        </p:tav>
                                      </p:tavLst>
                                    </p:anim>
                                  </p:childTnLst>
                                </p:cTn>
                              </p:par>
                            </p:childTnLst>
                          </p:cTn>
                        </p:par>
                        <p:par>
                          <p:cTn id="28" fill="hold">
                            <p:stCondLst>
                              <p:cond delay="0"/>
                            </p:stCondLst>
                            <p:childTnLst>
                              <p:par>
                                <p:cTn id="29" presetID="42" presetClass="entr" presetSubtype="0"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600"/>
                                        <p:tgtEl>
                                          <p:spTgt spid="6"/>
                                        </p:tgtEl>
                                      </p:cBhvr>
                                    </p:animEffect>
                                    <p:anim calcmode="lin" valueType="num">
                                      <p:cBhvr>
                                        <p:cTn id="32" dur="600" decel="100000" fill="hold"/>
                                        <p:tgtEl>
                                          <p:spTgt spid="6"/>
                                        </p:tgtEl>
                                        <p:attrNameLst>
                                          <p:attrName>ppt_y</p:attrName>
                                        </p:attrNameLst>
                                      </p:cBhvr>
                                      <p:tavLst>
                                        <p:tav tm="0">
                                          <p:val>
                                            <p:strVal val="#ppt_y+0.04"/>
                                          </p:val>
                                        </p:tav>
                                        <p:tav tm="100000">
                                          <p:val>
                                            <p:strVal val="#ppt_y"/>
                                          </p:val>
                                        </p:tav>
                                      </p:tavLst>
                                    </p:anim>
                                  </p:childTnLst>
                                </p:cTn>
                              </p:par>
                            </p:childTnLst>
                          </p:cTn>
                        </p:par>
                        <p:par>
                          <p:cTn id="33" fill="hold">
                            <p:stCondLst>
                              <p:cond delay="0"/>
                            </p:stCondLst>
                            <p:childTnLst>
                              <p:par>
                                <p:cTn id="34" presetID="42"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p:cTn id="37" dur="600" decel="100000" fill="hold"/>
                                        <p:tgtEl>
                                          <p:spTgt spid="7"/>
                                        </p:tgtEl>
                                        <p:attrNameLst>
                                          <p:attrName>ppt_y</p:attrName>
                                        </p:attrNameLst>
                                      </p:cBhvr>
                                      <p:tavLst>
                                        <p:tav tm="0">
                                          <p:val>
                                            <p:strVal val="#ppt_y+0.04"/>
                                          </p:val>
                                        </p:tav>
                                        <p:tav tm="100000">
                                          <p:val>
                                            <p:strVal val="#ppt_y"/>
                                          </p:val>
                                        </p:tav>
                                      </p:tavLst>
                                    </p:anim>
                                  </p:childTnLst>
                                </p:cTn>
                              </p:par>
                            </p:childTnLst>
                          </p:cTn>
                        </p:par>
                        <p:par>
                          <p:cTn id="38" fill="hold">
                            <p:stCondLst>
                              <p:cond delay="0"/>
                            </p:stCondLst>
                            <p:childTnLst>
                              <p:par>
                                <p:cTn id="39" presetID="42"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600"/>
                                        <p:tgtEl>
                                          <p:spTgt spid="8"/>
                                        </p:tgtEl>
                                      </p:cBhvr>
                                    </p:animEffect>
                                    <p:anim calcmode="lin" valueType="num">
                                      <p:cBhvr>
                                        <p:cTn id="42" dur="600" decel="100000" fill="hold"/>
                                        <p:tgtEl>
                                          <p:spTgt spid="8"/>
                                        </p:tgtEl>
                                        <p:attrNameLst>
                                          <p:attrName>ppt_y</p:attrName>
                                        </p:attrNameLst>
                                      </p:cBhvr>
                                      <p:tavLst>
                                        <p:tav tm="0">
                                          <p:val>
                                            <p:strVal val="#ppt_y+0.04"/>
                                          </p:val>
                                        </p:tav>
                                        <p:tav tm="100000">
                                          <p:val>
                                            <p:strVal val="#ppt_y"/>
                                          </p:val>
                                        </p:tav>
                                      </p:tavLst>
                                    </p:anim>
                                  </p:childTnLst>
                                </p:cTn>
                              </p:par>
                            </p:childTnLst>
                          </p:cTn>
                        </p:par>
                        <p:par>
                          <p:cTn id="43" fill="hold">
                            <p:stCondLst>
                              <p:cond delay="0"/>
                            </p:stCondLst>
                            <p:childTnLst>
                              <p:par>
                                <p:cTn id="44" presetID="42"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600"/>
                                        <p:tgtEl>
                                          <p:spTgt spid="9"/>
                                        </p:tgtEl>
                                      </p:cBhvr>
                                    </p:animEffect>
                                    <p:anim calcmode="lin" valueType="num">
                                      <p:cBhvr>
                                        <p:cTn id="47" dur="600" decel="100000" fill="hold"/>
                                        <p:tgtEl>
                                          <p:spTgt spid="9"/>
                                        </p:tgtEl>
                                        <p:attrNameLst>
                                          <p:attrName>ppt_y</p:attrName>
                                        </p:attrNameLst>
                                      </p:cBhvr>
                                      <p:tavLst>
                                        <p:tav tm="0">
                                          <p:val>
                                            <p:strVal val="#ppt_y+0.04"/>
                                          </p:val>
                                        </p:tav>
                                        <p:tav tm="100000">
                                          <p:val>
                                            <p:strVal val="#ppt_y"/>
                                          </p:val>
                                        </p:tav>
                                      </p:tavLst>
                                    </p:anim>
                                  </p:childTnLst>
                                </p:cTn>
                              </p:par>
                            </p:childTnLst>
                          </p:cTn>
                        </p:par>
                        <p:par>
                          <p:cTn id="48" fill="hold">
                            <p:stCondLst>
                              <p:cond delay="0"/>
                            </p:stCondLst>
                            <p:childTnLst>
                              <p:par>
                                <p:cTn id="49" presetID="42" presetClass="entr" presetSubtype="0"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600"/>
                                        <p:tgtEl>
                                          <p:spTgt spid="10"/>
                                        </p:tgtEl>
                                      </p:cBhvr>
                                    </p:animEffect>
                                    <p:anim calcmode="lin" valueType="num">
                                      <p:cBhvr>
                                        <p:cTn id="52" dur="600" decel="100000" fill="hold"/>
                                        <p:tgtEl>
                                          <p:spTgt spid="10"/>
                                        </p:tgtEl>
                                        <p:attrNameLst>
                                          <p:attrName>ppt_y</p:attrName>
                                        </p:attrNameLst>
                                      </p:cBhvr>
                                      <p:tavLst>
                                        <p:tav tm="0">
                                          <p:val>
                                            <p:strVal val="#ppt_y+0.04"/>
                                          </p:val>
                                        </p:tav>
                                        <p:tav tm="100000">
                                          <p:val>
                                            <p:strVal val="#ppt_y"/>
                                          </p:val>
                                        </p:tav>
                                      </p:tavLst>
                                    </p:anim>
                                  </p:childTnLst>
                                </p:cTn>
                              </p:par>
                            </p:childTnLst>
                          </p:cTn>
                        </p:par>
                        <p:par>
                          <p:cTn id="53" fill="hold">
                            <p:stCondLst>
                              <p:cond delay="0"/>
                            </p:stCondLst>
                            <p:childTnLst>
                              <p:par>
                                <p:cTn id="54" presetID="42" presetClass="entr" presetSubtype="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600"/>
                                        <p:tgtEl>
                                          <p:spTgt spid="11"/>
                                        </p:tgtEl>
                                      </p:cBhvr>
                                    </p:animEffect>
                                    <p:anim calcmode="lin" valueType="num">
                                      <p:cBhvr>
                                        <p:cTn id="57" dur="600" decel="100000" fill="hold"/>
                                        <p:tgtEl>
                                          <p:spTgt spid="11"/>
                                        </p:tgtEl>
                                        <p:attrNameLst>
                                          <p:attrName>ppt_y</p:attrName>
                                        </p:attrNameLst>
                                      </p:cBhvr>
                                      <p:tavLst>
                                        <p:tav tm="0">
                                          <p:val>
                                            <p:strVal val="#ppt_y+0.04"/>
                                          </p:val>
                                        </p:tav>
                                        <p:tav tm="100000">
                                          <p:val>
                                            <p:strVal val="#ppt_y"/>
                                          </p:val>
                                        </p:tav>
                                      </p:tavLst>
                                    </p:anim>
                                  </p:childTnLst>
                                </p:cTn>
                              </p:par>
                            </p:childTnLst>
                          </p:cTn>
                        </p:par>
                        <p:par>
                          <p:cTn id="58" fill="hold">
                            <p:stCondLst>
                              <p:cond delay="0"/>
                            </p:stCondLst>
                            <p:childTnLst>
                              <p:par>
                                <p:cTn id="59" presetID="42"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600"/>
                                        <p:tgtEl>
                                          <p:spTgt spid="12"/>
                                        </p:tgtEl>
                                      </p:cBhvr>
                                    </p:animEffect>
                                    <p:anim calcmode="lin" valueType="num">
                                      <p:cBhvr>
                                        <p:cTn id="62" dur="600" decel="100000" fill="hold"/>
                                        <p:tgtEl>
                                          <p:spTgt spid="12"/>
                                        </p:tgtEl>
                                        <p:attrNameLst>
                                          <p:attrName>ppt_y</p:attrName>
                                        </p:attrNameLst>
                                      </p:cBhvr>
                                      <p:tavLst>
                                        <p:tav tm="0">
                                          <p:val>
                                            <p:strVal val="#ppt_y+0.04"/>
                                          </p:val>
                                        </p:tav>
                                        <p:tav tm="100000">
                                          <p:val>
                                            <p:strVal val="#ppt_y"/>
                                          </p:val>
                                        </p:tav>
                                      </p:tavLst>
                                    </p:anim>
                                  </p:childTnLst>
                                </p:cTn>
                              </p:par>
                            </p:childTnLst>
                          </p:cTn>
                        </p:par>
                        <p:par>
                          <p:cTn id="63" fill="hold">
                            <p:stCondLst>
                              <p:cond delay="0"/>
                            </p:stCondLst>
                            <p:childTnLst>
                              <p:par>
                                <p:cTn id="64" presetID="42" presetClass="entr" presetSubtype="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600"/>
                                        <p:tgtEl>
                                          <p:spTgt spid="13"/>
                                        </p:tgtEl>
                                      </p:cBhvr>
                                    </p:animEffect>
                                    <p:anim calcmode="lin" valueType="num">
                                      <p:cBhvr>
                                        <p:cTn id="67" dur="600" decel="100000" fill="hold"/>
                                        <p:tgtEl>
                                          <p:spTgt spid="13"/>
                                        </p:tgtEl>
                                        <p:attrNameLst>
                                          <p:attrName>ppt_y</p:attrName>
                                        </p:attrNameLst>
                                      </p:cBhvr>
                                      <p:tavLst>
                                        <p:tav tm="0">
                                          <p:val>
                                            <p:strVal val="#ppt_y+0.04"/>
                                          </p:val>
                                        </p:tav>
                                        <p:tav tm="100000">
                                          <p:val>
                                            <p:strVal val="#ppt_y"/>
                                          </p:val>
                                        </p:tav>
                                      </p:tavLst>
                                    </p:anim>
                                  </p:childTnLst>
                                </p:cTn>
                              </p:par>
                            </p:childTnLst>
                          </p:cTn>
                        </p:par>
                        <p:par>
                          <p:cTn id="68" fill="hold">
                            <p:stCondLst>
                              <p:cond delay="0"/>
                            </p:stCondLst>
                            <p:childTnLst>
                              <p:par>
                                <p:cTn id="69" presetID="42" presetClass="entr" presetSubtype="0" fill="hold" grpId="0"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600"/>
                                        <p:tgtEl>
                                          <p:spTgt spid="14"/>
                                        </p:tgtEl>
                                      </p:cBhvr>
                                    </p:animEffect>
                                    <p:anim calcmode="lin" valueType="num">
                                      <p:cBhvr>
                                        <p:cTn id="72" dur="600" decel="100000" fill="hold"/>
                                        <p:tgtEl>
                                          <p:spTgt spid="14"/>
                                        </p:tgtEl>
                                        <p:attrNameLst>
                                          <p:attrName>ppt_y</p:attrName>
                                        </p:attrNameLst>
                                      </p:cBhvr>
                                      <p:tavLst>
                                        <p:tav tm="0">
                                          <p:val>
                                            <p:strVal val="#ppt_y+0.04"/>
                                          </p:val>
                                        </p:tav>
                                        <p:tav tm="100000">
                                          <p:val>
                                            <p:strVal val="#ppt_y"/>
                                          </p:val>
                                        </p:tav>
                                      </p:tavLst>
                                    </p:anim>
                                  </p:childTnLst>
                                </p:cTn>
                              </p:par>
                            </p:childTnLst>
                          </p:cTn>
                        </p:par>
                        <p:par>
                          <p:cTn id="73" fill="hold">
                            <p:stCondLst>
                              <p:cond delay="0"/>
                            </p:stCondLst>
                            <p:childTnLst>
                              <p:par>
                                <p:cTn id="74" presetID="42" presetClass="entr" presetSubtype="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600"/>
                                        <p:tgtEl>
                                          <p:spTgt spid="15"/>
                                        </p:tgtEl>
                                      </p:cBhvr>
                                    </p:animEffect>
                                    <p:anim calcmode="lin" valueType="num">
                                      <p:cBhvr>
                                        <p:cTn id="77" dur="600" decel="100000" fill="hold"/>
                                        <p:tgtEl>
                                          <p:spTgt spid="15"/>
                                        </p:tgtEl>
                                        <p:attrNameLst>
                                          <p:attrName>ppt_y</p:attrName>
                                        </p:attrNameLst>
                                      </p:cBhvr>
                                      <p:tavLst>
                                        <p:tav tm="0">
                                          <p:val>
                                            <p:strVal val="#ppt_y+0.04"/>
                                          </p:val>
                                        </p:tav>
                                        <p:tav tm="100000">
                                          <p:val>
                                            <p:strVal val="#ppt_y"/>
                                          </p:val>
                                        </p:tav>
                                      </p:tavLst>
                                    </p:anim>
                                  </p:childTnLst>
                                </p:cTn>
                              </p:par>
                            </p:childTnLst>
                          </p:cTn>
                        </p:par>
                        <p:par>
                          <p:cTn id="78" fill="hold">
                            <p:stCondLst>
                              <p:cond delay="0"/>
                            </p:stCondLst>
                            <p:childTnLst>
                              <p:par>
                                <p:cTn id="79" presetID="42" presetClass="entr" presetSubtype="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600"/>
                                        <p:tgtEl>
                                          <p:spTgt spid="16"/>
                                        </p:tgtEl>
                                      </p:cBhvr>
                                    </p:animEffect>
                                    <p:anim calcmode="lin" valueType="num">
                                      <p:cBhvr>
                                        <p:cTn id="82" dur="600" decel="100000" fill="hold"/>
                                        <p:tgtEl>
                                          <p:spTgt spid="16"/>
                                        </p:tgtEl>
                                        <p:attrNameLst>
                                          <p:attrName>ppt_y</p:attrName>
                                        </p:attrNameLst>
                                      </p:cBhvr>
                                      <p:tavLst>
                                        <p:tav tm="0">
                                          <p:val>
                                            <p:strVal val="#ppt_y+0.04"/>
                                          </p:val>
                                        </p:tav>
                                        <p:tav tm="100000">
                                          <p:val>
                                            <p:strVal val="#ppt_y"/>
                                          </p:val>
                                        </p:tav>
                                      </p:tavLst>
                                    </p:anim>
                                  </p:childTnLst>
                                </p:cTn>
                              </p:par>
                            </p:childTnLst>
                          </p:cTn>
                        </p:par>
                        <p:par>
                          <p:cTn id="83" fill="hold">
                            <p:stCondLst>
                              <p:cond delay="0"/>
                            </p:stCondLst>
                            <p:childTnLst>
                              <p:par>
                                <p:cTn id="84" presetID="42" presetClass="entr" presetSubtype="0" fill="hold" grpId="0" nodeType="with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600"/>
                                        <p:tgtEl>
                                          <p:spTgt spid="17"/>
                                        </p:tgtEl>
                                      </p:cBhvr>
                                    </p:animEffect>
                                    <p:anim calcmode="lin" valueType="num">
                                      <p:cBhvr>
                                        <p:cTn id="87" dur="600" decel="100000" fill="hold"/>
                                        <p:tgtEl>
                                          <p:spTgt spid="17"/>
                                        </p:tgtEl>
                                        <p:attrNameLst>
                                          <p:attrName>ppt_y</p:attrName>
                                        </p:attrNameLst>
                                      </p:cBhvr>
                                      <p:tavLst>
                                        <p:tav tm="0">
                                          <p:val>
                                            <p:strVal val="#ppt_y+0.04"/>
                                          </p:val>
                                        </p:tav>
                                        <p:tav tm="100000">
                                          <p:val>
                                            <p:strVal val="#ppt_y"/>
                                          </p:val>
                                        </p:tav>
                                      </p:tavLst>
                                    </p:anim>
                                  </p:childTnLst>
                                </p:cTn>
                              </p:par>
                            </p:childTnLst>
                          </p:cTn>
                        </p:par>
                        <p:par>
                          <p:cTn id="88" fill="hold">
                            <p:stCondLst>
                              <p:cond delay="0"/>
                            </p:stCondLst>
                            <p:childTnLst>
                              <p:par>
                                <p:cTn id="89" presetID="42" presetClass="entr" presetSubtype="0" fill="hold" grpId="0" nodeType="after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600"/>
                                        <p:tgtEl>
                                          <p:spTgt spid="18"/>
                                        </p:tgtEl>
                                      </p:cBhvr>
                                    </p:animEffect>
                                    <p:anim calcmode="lin" valueType="num">
                                      <p:cBhvr>
                                        <p:cTn id="92" dur="600" decel="100000" fill="hold"/>
                                        <p:tgtEl>
                                          <p:spTgt spid="18"/>
                                        </p:tgtEl>
                                        <p:attrNameLst>
                                          <p:attrName>ppt_y</p:attrName>
                                        </p:attrNameLst>
                                      </p:cBhvr>
                                      <p:tavLst>
                                        <p:tav tm="0">
                                          <p:val>
                                            <p:strVal val="#ppt_y+0.04"/>
                                          </p:val>
                                        </p:tav>
                                        <p:tav tm="100000">
                                          <p:val>
                                            <p:strVal val="#ppt_y"/>
                                          </p:val>
                                        </p:tav>
                                      </p:tavLst>
                                    </p:anim>
                                  </p:childTnLst>
                                </p:cTn>
                              </p:par>
                            </p:childTnLst>
                          </p:cTn>
                        </p:par>
                        <p:par>
                          <p:cTn id="93" fill="hold">
                            <p:stCondLst>
                              <p:cond delay="0"/>
                            </p:stCondLst>
                            <p:childTnLst>
                              <p:par>
                                <p:cTn id="94" presetID="42" presetClass="entr" presetSubtype="0" fill="hold" grpId="0" nodeType="with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600"/>
                                        <p:tgtEl>
                                          <p:spTgt spid="19"/>
                                        </p:tgtEl>
                                      </p:cBhvr>
                                    </p:animEffect>
                                    <p:anim calcmode="lin" valueType="num">
                                      <p:cBhvr>
                                        <p:cTn id="97" dur="600" decel="100000" fill="hold"/>
                                        <p:tgtEl>
                                          <p:spTgt spid="19"/>
                                        </p:tgtEl>
                                        <p:attrNameLst>
                                          <p:attrName>ppt_y</p:attrName>
                                        </p:attrNameLst>
                                      </p:cBhvr>
                                      <p:tavLst>
                                        <p:tav tm="0">
                                          <p:val>
                                            <p:strVal val="#ppt_y+0.04"/>
                                          </p:val>
                                        </p:tav>
                                        <p:tav tm="100000">
                                          <p:val>
                                            <p:strVal val="#ppt_y"/>
                                          </p:val>
                                        </p:tav>
                                      </p:tavLst>
                                    </p:anim>
                                  </p:childTnLst>
                                </p:cTn>
                              </p:par>
                            </p:childTnLst>
                          </p:cTn>
                        </p:par>
                        <p:par>
                          <p:cTn id="98" fill="hold">
                            <p:stCondLst>
                              <p:cond delay="0"/>
                            </p:stCondLst>
                            <p:childTnLst>
                              <p:par>
                                <p:cTn id="99" presetID="42" presetClass="entr" presetSubtype="0" fill="hold" grpId="0" nodeType="after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600"/>
                                        <p:tgtEl>
                                          <p:spTgt spid="20"/>
                                        </p:tgtEl>
                                      </p:cBhvr>
                                    </p:animEffect>
                                    <p:anim calcmode="lin" valueType="num">
                                      <p:cBhvr>
                                        <p:cTn id="102" dur="600" decel="100000" fill="hold"/>
                                        <p:tgtEl>
                                          <p:spTgt spid="20"/>
                                        </p:tgtEl>
                                        <p:attrNameLst>
                                          <p:attrName>ppt_y</p:attrName>
                                        </p:attrNameLst>
                                      </p:cBhvr>
                                      <p:tavLst>
                                        <p:tav tm="0">
                                          <p:val>
                                            <p:strVal val="#ppt_y+0.04"/>
                                          </p:val>
                                        </p:tav>
                                        <p:tav tm="100000">
                                          <p:val>
                                            <p:strVal val="#ppt_y"/>
                                          </p:val>
                                        </p:tav>
                                      </p:tavLst>
                                    </p:anim>
                                  </p:childTnLst>
                                </p:cTn>
                              </p:par>
                            </p:childTnLst>
                          </p:cTn>
                        </p:par>
                        <p:par>
                          <p:cTn id="103" fill="hold">
                            <p:stCondLst>
                              <p:cond delay="0"/>
                            </p:stCondLst>
                            <p:childTnLst>
                              <p:par>
                                <p:cTn id="104" presetID="42" presetClass="entr" presetSubtype="0" fill="hold" grpId="0" nodeType="with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600"/>
                                        <p:tgtEl>
                                          <p:spTgt spid="21"/>
                                        </p:tgtEl>
                                      </p:cBhvr>
                                    </p:animEffect>
                                    <p:anim calcmode="lin" valueType="num">
                                      <p:cBhvr>
                                        <p:cTn id="107" dur="600" decel="100000" fill="hold"/>
                                        <p:tgtEl>
                                          <p:spTgt spid="21"/>
                                        </p:tgtEl>
                                        <p:attrNameLst>
                                          <p:attrName>ppt_y</p:attrName>
                                        </p:attrNameLst>
                                      </p:cBhvr>
                                      <p:tavLst>
                                        <p:tav tm="0">
                                          <p:val>
                                            <p:strVal val="#ppt_y+0.04"/>
                                          </p:val>
                                        </p:tav>
                                        <p:tav tm="100000">
                                          <p:val>
                                            <p:strVal val="#ppt_y"/>
                                          </p:val>
                                        </p:tav>
                                      </p:tavLst>
                                    </p:anim>
                                  </p:childTnLst>
                                </p:cTn>
                              </p:par>
                            </p:childTnLst>
                          </p:cTn>
                        </p:par>
                        <p:par>
                          <p:cTn id="108" fill="hold">
                            <p:stCondLst>
                              <p:cond delay="0"/>
                            </p:stCondLst>
                            <p:childTnLst>
                              <p:par>
                                <p:cTn id="109" presetID="42" presetClass="entr" presetSubtype="0" fill="hold" grpId="0" nodeType="with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600"/>
                                        <p:tgtEl>
                                          <p:spTgt spid="22"/>
                                        </p:tgtEl>
                                      </p:cBhvr>
                                    </p:animEffect>
                                    <p:anim calcmode="lin" valueType="num">
                                      <p:cBhvr>
                                        <p:cTn id="112" dur="600" decel="100000" fill="hold"/>
                                        <p:tgtEl>
                                          <p:spTgt spid="22"/>
                                        </p:tgtEl>
                                        <p:attrNameLst>
                                          <p:attrName>ppt_y</p:attrName>
                                        </p:attrNameLst>
                                      </p:cBhvr>
                                      <p:tavLst>
                                        <p:tav tm="0">
                                          <p:val>
                                            <p:strVal val="#ppt_y+0.04"/>
                                          </p:val>
                                        </p:tav>
                                        <p:tav tm="100000">
                                          <p:val>
                                            <p:strVal val="#ppt_y"/>
                                          </p:val>
                                        </p:tav>
                                      </p:tavLst>
                                    </p:anim>
                                  </p:childTnLst>
                                </p:cTn>
                              </p:par>
                            </p:childTnLst>
                          </p:cTn>
                        </p:par>
                        <p:par>
                          <p:cTn id="113" fill="hold">
                            <p:stCondLst>
                              <p:cond delay="0"/>
                            </p:stCondLst>
                            <p:childTnLst>
                              <p:par>
                                <p:cTn id="114" presetID="42" presetClass="entr" presetSubtype="0" fill="hold" grpId="0" nodeType="withEffect">
                                  <p:stCondLst>
                                    <p:cond delay="0"/>
                                  </p:stCondLst>
                                  <p:childTnLst>
                                    <p:set>
                                      <p:cBhvr>
                                        <p:cTn id="115" dur="1" fill="hold">
                                          <p:stCondLst>
                                            <p:cond delay="0"/>
                                          </p:stCondLst>
                                        </p:cTn>
                                        <p:tgtEl>
                                          <p:spTgt spid="23"/>
                                        </p:tgtEl>
                                        <p:attrNameLst>
                                          <p:attrName>style.visibility</p:attrName>
                                        </p:attrNameLst>
                                      </p:cBhvr>
                                      <p:to>
                                        <p:strVal val="visible"/>
                                      </p:to>
                                    </p:set>
                                    <p:animEffect transition="in" filter="fade">
                                      <p:cBhvr>
                                        <p:cTn id="116" dur="600"/>
                                        <p:tgtEl>
                                          <p:spTgt spid="23"/>
                                        </p:tgtEl>
                                      </p:cBhvr>
                                    </p:animEffect>
                                    <p:anim calcmode="lin" valueType="num">
                                      <p:cBhvr>
                                        <p:cTn id="117" dur="600" decel="100000" fill="hold"/>
                                        <p:tgtEl>
                                          <p:spTgt spid="23"/>
                                        </p:tgtEl>
                                        <p:attrNameLst>
                                          <p:attrName>ppt_y</p:attrName>
                                        </p:attrNameLst>
                                      </p:cBhvr>
                                      <p:tavLst>
                                        <p:tav tm="0">
                                          <p:val>
                                            <p:strVal val="#ppt_y+0.04"/>
                                          </p:val>
                                        </p:tav>
                                        <p:tav tm="100000">
                                          <p:val>
                                            <p:strVal val="#ppt_y"/>
                                          </p:val>
                                        </p:tav>
                                      </p:tavLst>
                                    </p:anim>
                                  </p:childTnLst>
                                </p:cTn>
                              </p:par>
                            </p:childTnLst>
                          </p:cTn>
                        </p:par>
                        <p:par>
                          <p:cTn id="118" fill="hold">
                            <p:stCondLst>
                              <p:cond delay="0"/>
                            </p:stCondLst>
                            <p:childTnLst>
                              <p:par>
                                <p:cTn id="119" presetID="42" presetClass="entr" presetSubtype="0" fill="hold" grpId="0" nodeType="after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600"/>
                                        <p:tgtEl>
                                          <p:spTgt spid="24"/>
                                        </p:tgtEl>
                                      </p:cBhvr>
                                    </p:animEffect>
                                    <p:anim calcmode="lin" valueType="num">
                                      <p:cBhvr>
                                        <p:cTn id="122" dur="600" decel="100000" fill="hold"/>
                                        <p:tgtEl>
                                          <p:spTgt spid="24"/>
                                        </p:tgtEl>
                                        <p:attrNameLst>
                                          <p:attrName>ppt_y</p:attrName>
                                        </p:attrNameLst>
                                      </p:cBhvr>
                                      <p:tavLst>
                                        <p:tav tm="0">
                                          <p:val>
                                            <p:strVal val="#ppt_y+0.04"/>
                                          </p:val>
                                        </p:tav>
                                        <p:tav tm="100000">
                                          <p:val>
                                            <p:strVal val="#ppt_y"/>
                                          </p:val>
                                        </p:tav>
                                      </p:tavLst>
                                    </p:anim>
                                  </p:childTnLst>
                                </p:cTn>
                              </p:par>
                            </p:childTnLst>
                          </p:cTn>
                        </p:par>
                        <p:par>
                          <p:cTn id="123" fill="hold">
                            <p:stCondLst>
                              <p:cond delay="0"/>
                            </p:stCondLst>
                            <p:childTnLst>
                              <p:par>
                                <p:cTn id="124" presetID="42" presetClass="entr" presetSubtype="0" fill="hold" grpId="0" nodeType="withEffect">
                                  <p:stCondLst>
                                    <p:cond delay="0"/>
                                  </p:stCondLst>
                                  <p:childTnLst>
                                    <p:set>
                                      <p:cBhvr>
                                        <p:cTn id="125" dur="1" fill="hold">
                                          <p:stCondLst>
                                            <p:cond delay="0"/>
                                          </p:stCondLst>
                                        </p:cTn>
                                        <p:tgtEl>
                                          <p:spTgt spid="25"/>
                                        </p:tgtEl>
                                        <p:attrNameLst>
                                          <p:attrName>style.visibility</p:attrName>
                                        </p:attrNameLst>
                                      </p:cBhvr>
                                      <p:to>
                                        <p:strVal val="visible"/>
                                      </p:to>
                                    </p:set>
                                    <p:animEffect transition="in" filter="fade">
                                      <p:cBhvr>
                                        <p:cTn id="126" dur="600"/>
                                        <p:tgtEl>
                                          <p:spTgt spid="25"/>
                                        </p:tgtEl>
                                      </p:cBhvr>
                                    </p:animEffect>
                                    <p:anim calcmode="lin" valueType="num">
                                      <p:cBhvr>
                                        <p:cTn id="127" dur="600" decel="100000" fill="hold"/>
                                        <p:tgtEl>
                                          <p:spTgt spid="25"/>
                                        </p:tgtEl>
                                        <p:attrNameLst>
                                          <p:attrName>ppt_y</p:attrName>
                                        </p:attrNameLst>
                                      </p:cBhvr>
                                      <p:tavLst>
                                        <p:tav tm="0">
                                          <p:val>
                                            <p:strVal val="#ppt_y+0.04"/>
                                          </p:val>
                                        </p:tav>
                                        <p:tav tm="100000">
                                          <p:val>
                                            <p:strVal val="#ppt_y"/>
                                          </p:val>
                                        </p:tav>
                                      </p:tavLst>
                                    </p:anim>
                                  </p:childTnLst>
                                </p:cTn>
                              </p:par>
                            </p:childTnLst>
                          </p:cTn>
                        </p:par>
                        <p:par>
                          <p:cTn id="128" fill="hold">
                            <p:stCondLst>
                              <p:cond delay="0"/>
                            </p:stCondLst>
                            <p:childTnLst>
                              <p:par>
                                <p:cTn id="129" presetID="42" presetClass="entr" presetSubtype="0" fill="hold" grpId="0" nodeType="withEffect">
                                  <p:stCondLst>
                                    <p:cond delay="0"/>
                                  </p:stCondLst>
                                  <p:childTnLst>
                                    <p:set>
                                      <p:cBhvr>
                                        <p:cTn id="130" dur="1" fill="hold">
                                          <p:stCondLst>
                                            <p:cond delay="0"/>
                                          </p:stCondLst>
                                        </p:cTn>
                                        <p:tgtEl>
                                          <p:spTgt spid="26"/>
                                        </p:tgtEl>
                                        <p:attrNameLst>
                                          <p:attrName>style.visibility</p:attrName>
                                        </p:attrNameLst>
                                      </p:cBhvr>
                                      <p:to>
                                        <p:strVal val="visible"/>
                                      </p:to>
                                    </p:set>
                                    <p:animEffect transition="in" filter="fade">
                                      <p:cBhvr>
                                        <p:cTn id="131" dur="600"/>
                                        <p:tgtEl>
                                          <p:spTgt spid="26"/>
                                        </p:tgtEl>
                                      </p:cBhvr>
                                    </p:animEffect>
                                    <p:anim calcmode="lin" valueType="num">
                                      <p:cBhvr>
                                        <p:cTn id="132" dur="600" decel="100000" fill="hold"/>
                                        <p:tgtEl>
                                          <p:spTgt spid="26"/>
                                        </p:tgtEl>
                                        <p:attrNameLst>
                                          <p:attrName>ppt_y</p:attrName>
                                        </p:attrNameLst>
                                      </p:cBhvr>
                                      <p:tavLst>
                                        <p:tav tm="0">
                                          <p:val>
                                            <p:strVal val="#ppt_y+0.04"/>
                                          </p:val>
                                        </p:tav>
                                        <p:tav tm="100000">
                                          <p:val>
                                            <p:strVal val="#ppt_y"/>
                                          </p:val>
                                        </p:tav>
                                      </p:tavLst>
                                    </p:anim>
                                  </p:childTnLst>
                                </p:cTn>
                              </p:par>
                            </p:childTnLst>
                          </p:cTn>
                        </p:par>
                        <p:par>
                          <p:cTn id="133" fill="hold">
                            <p:stCondLst>
                              <p:cond delay="0"/>
                            </p:stCondLst>
                            <p:childTnLst>
                              <p:par>
                                <p:cTn id="134" presetID="42" presetClass="entr" presetSubtype="0" fill="hold" grpId="0" nodeType="withEffect">
                                  <p:stCondLst>
                                    <p:cond delay="0"/>
                                  </p:stCondLst>
                                  <p:childTnLst>
                                    <p:set>
                                      <p:cBhvr>
                                        <p:cTn id="135" dur="1" fill="hold">
                                          <p:stCondLst>
                                            <p:cond delay="0"/>
                                          </p:stCondLst>
                                        </p:cTn>
                                        <p:tgtEl>
                                          <p:spTgt spid="27"/>
                                        </p:tgtEl>
                                        <p:attrNameLst>
                                          <p:attrName>style.visibility</p:attrName>
                                        </p:attrNameLst>
                                      </p:cBhvr>
                                      <p:to>
                                        <p:strVal val="visible"/>
                                      </p:to>
                                    </p:set>
                                    <p:animEffect transition="in" filter="fade">
                                      <p:cBhvr>
                                        <p:cTn id="136" dur="600"/>
                                        <p:tgtEl>
                                          <p:spTgt spid="27"/>
                                        </p:tgtEl>
                                      </p:cBhvr>
                                    </p:animEffect>
                                    <p:anim calcmode="lin" valueType="num">
                                      <p:cBhvr>
                                        <p:cTn id="137" dur="600" decel="100000" fill="hold"/>
                                        <p:tgtEl>
                                          <p:spTgt spid="27"/>
                                        </p:tgtEl>
                                        <p:attrNameLst>
                                          <p:attrName>ppt_y</p:attrName>
                                        </p:attrNameLst>
                                      </p:cBhvr>
                                      <p:tavLst>
                                        <p:tav tm="0">
                                          <p:val>
                                            <p:strVal val="#ppt_y+0.04"/>
                                          </p:val>
                                        </p:tav>
                                        <p:tav tm="100000">
                                          <p:val>
                                            <p:strVal val="#ppt_y"/>
                                          </p:val>
                                        </p:tav>
                                      </p:tavLst>
                                    </p:anim>
                                  </p:childTnLst>
                                </p:cTn>
                              </p:par>
                            </p:childTnLst>
                          </p:cTn>
                        </p:par>
                        <p:par>
                          <p:cTn id="138" fill="hold">
                            <p:stCondLst>
                              <p:cond delay="0"/>
                            </p:stCondLst>
                            <p:childTnLst>
                              <p:par>
                                <p:cTn id="139" presetID="42" presetClass="entr" presetSubtype="0" fill="hold" grpId="0" nodeType="afterEffect">
                                  <p:stCondLst>
                                    <p:cond delay="0"/>
                                  </p:stCondLst>
                                  <p:childTnLst>
                                    <p:set>
                                      <p:cBhvr>
                                        <p:cTn id="140" dur="1" fill="hold">
                                          <p:stCondLst>
                                            <p:cond delay="0"/>
                                          </p:stCondLst>
                                        </p:cTn>
                                        <p:tgtEl>
                                          <p:spTgt spid="28"/>
                                        </p:tgtEl>
                                        <p:attrNameLst>
                                          <p:attrName>style.visibility</p:attrName>
                                        </p:attrNameLst>
                                      </p:cBhvr>
                                      <p:to>
                                        <p:strVal val="visible"/>
                                      </p:to>
                                    </p:set>
                                    <p:animEffect transition="in" filter="fade">
                                      <p:cBhvr>
                                        <p:cTn id="141" dur="600"/>
                                        <p:tgtEl>
                                          <p:spTgt spid="28"/>
                                        </p:tgtEl>
                                      </p:cBhvr>
                                    </p:animEffect>
                                    <p:anim calcmode="lin" valueType="num">
                                      <p:cBhvr>
                                        <p:cTn id="142" dur="600" decel="100000" fill="hold"/>
                                        <p:tgtEl>
                                          <p:spTgt spid="28"/>
                                        </p:tgtEl>
                                        <p:attrNameLst>
                                          <p:attrName>ppt_y</p:attrName>
                                        </p:attrNameLst>
                                      </p:cBhvr>
                                      <p:tavLst>
                                        <p:tav tm="0">
                                          <p:val>
                                            <p:strVal val="#ppt_y+0.04"/>
                                          </p:val>
                                        </p:tav>
                                        <p:tav tm="100000">
                                          <p:val>
                                            <p:strVal val="#ppt_y"/>
                                          </p:val>
                                        </p:tav>
                                      </p:tavLst>
                                    </p:anim>
                                  </p:childTnLst>
                                </p:cTn>
                              </p:par>
                            </p:childTnLst>
                          </p:cTn>
                        </p:par>
                        <p:par>
                          <p:cTn id="143" fill="hold">
                            <p:stCondLst>
                              <p:cond delay="0"/>
                            </p:stCondLst>
                            <p:childTnLst>
                              <p:par>
                                <p:cTn id="144" presetID="42" presetClass="entr" presetSubtype="0" fill="hold" grpId="0" nodeType="withEffect">
                                  <p:stCondLst>
                                    <p:cond delay="0"/>
                                  </p:stCondLst>
                                  <p:childTnLst>
                                    <p:set>
                                      <p:cBhvr>
                                        <p:cTn id="145" dur="1" fill="hold">
                                          <p:stCondLst>
                                            <p:cond delay="0"/>
                                          </p:stCondLst>
                                        </p:cTn>
                                        <p:tgtEl>
                                          <p:spTgt spid="29"/>
                                        </p:tgtEl>
                                        <p:attrNameLst>
                                          <p:attrName>style.visibility</p:attrName>
                                        </p:attrNameLst>
                                      </p:cBhvr>
                                      <p:to>
                                        <p:strVal val="visible"/>
                                      </p:to>
                                    </p:set>
                                    <p:animEffect transition="in" filter="fade">
                                      <p:cBhvr>
                                        <p:cTn id="146" dur="600"/>
                                        <p:tgtEl>
                                          <p:spTgt spid="29"/>
                                        </p:tgtEl>
                                      </p:cBhvr>
                                    </p:animEffect>
                                    <p:anim calcmode="lin" valueType="num">
                                      <p:cBhvr>
                                        <p:cTn id="147" dur="600" decel="100000" fill="hold"/>
                                        <p:tgtEl>
                                          <p:spTgt spid="29"/>
                                        </p:tgtEl>
                                        <p:attrNameLst>
                                          <p:attrName>ppt_y</p:attrName>
                                        </p:attrNameLst>
                                      </p:cBhvr>
                                      <p:tavLst>
                                        <p:tav tm="0">
                                          <p:val>
                                            <p:strVal val="#ppt_y+0.04"/>
                                          </p:val>
                                        </p:tav>
                                        <p:tav tm="100000">
                                          <p:val>
                                            <p:strVal val="#ppt_y"/>
                                          </p:val>
                                        </p:tav>
                                      </p:tavLst>
                                    </p:anim>
                                  </p:childTnLst>
                                </p:cTn>
                              </p:par>
                            </p:childTnLst>
                          </p:cTn>
                        </p:par>
                        <p:par>
                          <p:cTn id="148" fill="hold">
                            <p:stCondLst>
                              <p:cond delay="0"/>
                            </p:stCondLst>
                            <p:childTnLst>
                              <p:par>
                                <p:cTn id="149" presetID="42" presetClass="entr" presetSubtype="0" fill="hold" grpId="0" nodeType="withEffect">
                                  <p:stCondLst>
                                    <p:cond delay="0"/>
                                  </p:stCondLst>
                                  <p:childTnLst>
                                    <p:set>
                                      <p:cBhvr>
                                        <p:cTn id="150" dur="1" fill="hold">
                                          <p:stCondLst>
                                            <p:cond delay="0"/>
                                          </p:stCondLst>
                                        </p:cTn>
                                        <p:tgtEl>
                                          <p:spTgt spid="30"/>
                                        </p:tgtEl>
                                        <p:attrNameLst>
                                          <p:attrName>style.visibility</p:attrName>
                                        </p:attrNameLst>
                                      </p:cBhvr>
                                      <p:to>
                                        <p:strVal val="visible"/>
                                      </p:to>
                                    </p:set>
                                    <p:animEffect transition="in" filter="fade">
                                      <p:cBhvr>
                                        <p:cTn id="151" dur="600"/>
                                        <p:tgtEl>
                                          <p:spTgt spid="30"/>
                                        </p:tgtEl>
                                      </p:cBhvr>
                                    </p:animEffect>
                                    <p:anim calcmode="lin" valueType="num">
                                      <p:cBhvr>
                                        <p:cTn id="152" dur="600" decel="100000" fill="hold"/>
                                        <p:tgtEl>
                                          <p:spTgt spid="30"/>
                                        </p:tgtEl>
                                        <p:attrNameLst>
                                          <p:attrName>ppt_y</p:attrName>
                                        </p:attrNameLst>
                                      </p:cBhvr>
                                      <p:tavLst>
                                        <p:tav tm="0">
                                          <p:val>
                                            <p:strVal val="#ppt_y+0.04"/>
                                          </p:val>
                                        </p:tav>
                                        <p:tav tm="100000">
                                          <p:val>
                                            <p:strVal val="#ppt_y"/>
                                          </p:val>
                                        </p:tav>
                                      </p:tavLst>
                                    </p:anim>
                                  </p:childTnLst>
                                </p:cTn>
                              </p:par>
                            </p:childTnLst>
                          </p:cTn>
                        </p:par>
                        <p:par>
                          <p:cTn id="153" fill="hold">
                            <p:stCondLst>
                              <p:cond delay="0"/>
                            </p:stCondLst>
                            <p:childTnLst>
                              <p:par>
                                <p:cTn id="154" presetID="42" presetClass="entr" presetSubtype="0" fill="hold" grpId="0" nodeType="withEffect">
                                  <p:stCondLst>
                                    <p:cond delay="0"/>
                                  </p:stCondLst>
                                  <p:childTnLst>
                                    <p:set>
                                      <p:cBhvr>
                                        <p:cTn id="155" dur="1" fill="hold">
                                          <p:stCondLst>
                                            <p:cond delay="0"/>
                                          </p:stCondLst>
                                        </p:cTn>
                                        <p:tgtEl>
                                          <p:spTgt spid="31"/>
                                        </p:tgtEl>
                                        <p:attrNameLst>
                                          <p:attrName>style.visibility</p:attrName>
                                        </p:attrNameLst>
                                      </p:cBhvr>
                                      <p:to>
                                        <p:strVal val="visible"/>
                                      </p:to>
                                    </p:set>
                                    <p:animEffect transition="in" filter="fade">
                                      <p:cBhvr>
                                        <p:cTn id="156" dur="600"/>
                                        <p:tgtEl>
                                          <p:spTgt spid="31"/>
                                        </p:tgtEl>
                                      </p:cBhvr>
                                    </p:animEffect>
                                    <p:anim calcmode="lin" valueType="num">
                                      <p:cBhvr>
                                        <p:cTn id="157" dur="600" decel="100000" fill="hold"/>
                                        <p:tgtEl>
                                          <p:spTgt spid="31"/>
                                        </p:tgtEl>
                                        <p:attrNameLst>
                                          <p:attrName>ppt_y</p:attrName>
                                        </p:attrNameLst>
                                      </p:cBhvr>
                                      <p:tavLst>
                                        <p:tav tm="0">
                                          <p:val>
                                            <p:strVal val="#ppt_y+0.04"/>
                                          </p:val>
                                        </p:tav>
                                        <p:tav tm="100000">
                                          <p:val>
                                            <p:strVal val="#ppt_y"/>
                                          </p:val>
                                        </p:tav>
                                      </p:tavLst>
                                    </p:anim>
                                  </p:childTnLst>
                                </p:cTn>
                              </p:par>
                            </p:childTnLst>
                          </p:cTn>
                        </p:par>
                        <p:par>
                          <p:cTn id="158" fill="hold">
                            <p:stCondLst>
                              <p:cond delay="0"/>
                            </p:stCondLst>
                            <p:childTnLst>
                              <p:par>
                                <p:cTn id="159" presetID="42" presetClass="entr" presetSubtype="0" fill="hold" grpId="0" nodeType="afterEffect">
                                  <p:stCondLst>
                                    <p:cond delay="0"/>
                                  </p:stCondLst>
                                  <p:childTnLst>
                                    <p:set>
                                      <p:cBhvr>
                                        <p:cTn id="160" dur="1" fill="hold">
                                          <p:stCondLst>
                                            <p:cond delay="0"/>
                                          </p:stCondLst>
                                        </p:cTn>
                                        <p:tgtEl>
                                          <p:spTgt spid="32"/>
                                        </p:tgtEl>
                                        <p:attrNameLst>
                                          <p:attrName>style.visibility</p:attrName>
                                        </p:attrNameLst>
                                      </p:cBhvr>
                                      <p:to>
                                        <p:strVal val="visible"/>
                                      </p:to>
                                    </p:set>
                                    <p:animEffect transition="in" filter="fade">
                                      <p:cBhvr>
                                        <p:cTn id="161" dur="600"/>
                                        <p:tgtEl>
                                          <p:spTgt spid="32"/>
                                        </p:tgtEl>
                                      </p:cBhvr>
                                    </p:animEffect>
                                    <p:anim calcmode="lin" valueType="num">
                                      <p:cBhvr>
                                        <p:cTn id="162" dur="600" decel="100000" fill="hold"/>
                                        <p:tgtEl>
                                          <p:spTgt spid="32"/>
                                        </p:tgtEl>
                                        <p:attrNameLst>
                                          <p:attrName>ppt_y</p:attrName>
                                        </p:attrNameLst>
                                      </p:cBhvr>
                                      <p:tavLst>
                                        <p:tav tm="0">
                                          <p:val>
                                            <p:strVal val="#ppt_y+0.04"/>
                                          </p:val>
                                        </p:tav>
                                        <p:tav tm="100000">
                                          <p:val>
                                            <p:strVal val="#ppt_y"/>
                                          </p:val>
                                        </p:tav>
                                      </p:tavLst>
                                    </p:anim>
                                  </p:childTnLst>
                                </p:cTn>
                              </p:par>
                            </p:childTnLst>
                          </p:cTn>
                        </p:par>
                        <p:par>
                          <p:cTn id="163" fill="hold">
                            <p:stCondLst>
                              <p:cond delay="0"/>
                            </p:stCondLst>
                            <p:childTnLst>
                              <p:par>
                                <p:cTn id="164" presetID="42" presetClass="entr" presetSubtype="0" fill="hold" grpId="0" nodeType="withEffect">
                                  <p:stCondLst>
                                    <p:cond delay="0"/>
                                  </p:stCondLst>
                                  <p:childTnLst>
                                    <p:set>
                                      <p:cBhvr>
                                        <p:cTn id="165" dur="1" fill="hold">
                                          <p:stCondLst>
                                            <p:cond delay="0"/>
                                          </p:stCondLst>
                                        </p:cTn>
                                        <p:tgtEl>
                                          <p:spTgt spid="33"/>
                                        </p:tgtEl>
                                        <p:attrNameLst>
                                          <p:attrName>style.visibility</p:attrName>
                                        </p:attrNameLst>
                                      </p:cBhvr>
                                      <p:to>
                                        <p:strVal val="visible"/>
                                      </p:to>
                                    </p:set>
                                    <p:animEffect transition="in" filter="fade">
                                      <p:cBhvr>
                                        <p:cTn id="166" dur="600"/>
                                        <p:tgtEl>
                                          <p:spTgt spid="33"/>
                                        </p:tgtEl>
                                      </p:cBhvr>
                                    </p:animEffect>
                                    <p:anim calcmode="lin" valueType="num">
                                      <p:cBhvr>
                                        <p:cTn id="167" dur="600" decel="100000" fill="hold"/>
                                        <p:tgtEl>
                                          <p:spTgt spid="33"/>
                                        </p:tgtEl>
                                        <p:attrNameLst>
                                          <p:attrName>ppt_y</p:attrName>
                                        </p:attrNameLst>
                                      </p:cBhvr>
                                      <p:tavLst>
                                        <p:tav tm="0">
                                          <p:val>
                                            <p:strVal val="#ppt_y+0.04"/>
                                          </p:val>
                                        </p:tav>
                                        <p:tav tm="100000">
                                          <p:val>
                                            <p:strVal val="#ppt_y"/>
                                          </p:val>
                                        </p:tav>
                                      </p:tavLst>
                                    </p:anim>
                                  </p:childTnLst>
                                </p:cTn>
                              </p:par>
                            </p:childTnLst>
                          </p:cTn>
                        </p:par>
                        <p:par>
                          <p:cTn id="168" fill="hold">
                            <p:stCondLst>
                              <p:cond delay="0"/>
                            </p:stCondLst>
                            <p:childTnLst>
                              <p:par>
                                <p:cTn id="169" presetID="42" presetClass="entr" presetSubtype="0" fill="hold" grpId="0" nodeType="withEffect">
                                  <p:stCondLst>
                                    <p:cond delay="0"/>
                                  </p:stCondLst>
                                  <p:childTnLst>
                                    <p:set>
                                      <p:cBhvr>
                                        <p:cTn id="170" dur="1" fill="hold">
                                          <p:stCondLst>
                                            <p:cond delay="0"/>
                                          </p:stCondLst>
                                        </p:cTn>
                                        <p:tgtEl>
                                          <p:spTgt spid="34"/>
                                        </p:tgtEl>
                                        <p:attrNameLst>
                                          <p:attrName>style.visibility</p:attrName>
                                        </p:attrNameLst>
                                      </p:cBhvr>
                                      <p:to>
                                        <p:strVal val="visible"/>
                                      </p:to>
                                    </p:set>
                                    <p:animEffect transition="in" filter="fade">
                                      <p:cBhvr>
                                        <p:cTn id="171" dur="600"/>
                                        <p:tgtEl>
                                          <p:spTgt spid="34"/>
                                        </p:tgtEl>
                                      </p:cBhvr>
                                    </p:animEffect>
                                    <p:anim calcmode="lin" valueType="num">
                                      <p:cBhvr>
                                        <p:cTn id="172" dur="600" decel="100000" fill="hold"/>
                                        <p:tgtEl>
                                          <p:spTgt spid="34"/>
                                        </p:tgtEl>
                                        <p:attrNameLst>
                                          <p:attrName>ppt_y</p:attrName>
                                        </p:attrNameLst>
                                      </p:cBhvr>
                                      <p:tavLst>
                                        <p:tav tm="0">
                                          <p:val>
                                            <p:strVal val="#ppt_y+0.04"/>
                                          </p:val>
                                        </p:tav>
                                        <p:tav tm="100000">
                                          <p:val>
                                            <p:strVal val="#ppt_y"/>
                                          </p:val>
                                        </p:tav>
                                      </p:tavLst>
                                    </p:anim>
                                  </p:childTnLst>
                                </p:cTn>
                              </p:par>
                            </p:childTnLst>
                          </p:cTn>
                        </p:par>
                        <p:par>
                          <p:cTn id="173" fill="hold">
                            <p:stCondLst>
                              <p:cond delay="0"/>
                            </p:stCondLst>
                            <p:childTnLst>
                              <p:par>
                                <p:cTn id="174" presetID="42" presetClass="entr" presetSubtype="0" fill="hold" grpId="0" nodeType="withEffect">
                                  <p:stCondLst>
                                    <p:cond delay="0"/>
                                  </p:stCondLst>
                                  <p:childTnLst>
                                    <p:set>
                                      <p:cBhvr>
                                        <p:cTn id="175" dur="1" fill="hold">
                                          <p:stCondLst>
                                            <p:cond delay="0"/>
                                          </p:stCondLst>
                                        </p:cTn>
                                        <p:tgtEl>
                                          <p:spTgt spid="35"/>
                                        </p:tgtEl>
                                        <p:attrNameLst>
                                          <p:attrName>style.visibility</p:attrName>
                                        </p:attrNameLst>
                                      </p:cBhvr>
                                      <p:to>
                                        <p:strVal val="visible"/>
                                      </p:to>
                                    </p:set>
                                    <p:animEffect transition="in" filter="fade">
                                      <p:cBhvr>
                                        <p:cTn id="176" dur="600"/>
                                        <p:tgtEl>
                                          <p:spTgt spid="35"/>
                                        </p:tgtEl>
                                      </p:cBhvr>
                                    </p:animEffect>
                                    <p:anim calcmode="lin" valueType="num">
                                      <p:cBhvr>
                                        <p:cTn id="177" dur="600" decel="100000" fill="hold"/>
                                        <p:tgtEl>
                                          <p:spTgt spid="35"/>
                                        </p:tgtEl>
                                        <p:attrNameLst>
                                          <p:attrName>ppt_y</p:attrName>
                                        </p:attrNameLst>
                                      </p:cBhvr>
                                      <p:tavLst>
                                        <p:tav tm="0">
                                          <p:val>
                                            <p:strVal val="#ppt_y+0.04"/>
                                          </p:val>
                                        </p:tav>
                                        <p:tav tm="100000">
                                          <p:val>
                                            <p:strVal val="#ppt_y"/>
                                          </p:val>
                                        </p:tav>
                                      </p:tavLst>
                                    </p:anim>
                                  </p:childTnLst>
                                </p:cTn>
                              </p:par>
                            </p:childTnLst>
                          </p:cTn>
                        </p:par>
                        <p:par>
                          <p:cTn id="178" fill="hold">
                            <p:stCondLst>
                              <p:cond delay="0"/>
                            </p:stCondLst>
                            <p:childTnLst>
                              <p:par>
                                <p:cTn id="179" presetID="42" presetClass="entr" presetSubtype="0" fill="hold" grpId="0" nodeType="afterEffect">
                                  <p:stCondLst>
                                    <p:cond delay="0"/>
                                  </p:stCondLst>
                                  <p:childTnLst>
                                    <p:set>
                                      <p:cBhvr>
                                        <p:cTn id="180" dur="1" fill="hold">
                                          <p:stCondLst>
                                            <p:cond delay="0"/>
                                          </p:stCondLst>
                                        </p:cTn>
                                        <p:tgtEl>
                                          <p:spTgt spid="36"/>
                                        </p:tgtEl>
                                        <p:attrNameLst>
                                          <p:attrName>style.visibility</p:attrName>
                                        </p:attrNameLst>
                                      </p:cBhvr>
                                      <p:to>
                                        <p:strVal val="visible"/>
                                      </p:to>
                                    </p:set>
                                    <p:animEffect transition="in" filter="fade">
                                      <p:cBhvr>
                                        <p:cTn id="181" dur="600"/>
                                        <p:tgtEl>
                                          <p:spTgt spid="36"/>
                                        </p:tgtEl>
                                      </p:cBhvr>
                                    </p:animEffect>
                                    <p:anim calcmode="lin" valueType="num">
                                      <p:cBhvr>
                                        <p:cTn id="182" dur="600" decel="100000" fill="hold"/>
                                        <p:tgtEl>
                                          <p:spTgt spid="36"/>
                                        </p:tgtEl>
                                        <p:attrNameLst>
                                          <p:attrName>ppt_y</p:attrName>
                                        </p:attrNameLst>
                                      </p:cBhvr>
                                      <p:tavLst>
                                        <p:tav tm="0">
                                          <p:val>
                                            <p:strVal val="#ppt_y+0.04"/>
                                          </p:val>
                                        </p:tav>
                                        <p:tav tm="100000">
                                          <p:val>
                                            <p:strVal val="#ppt_y"/>
                                          </p:val>
                                        </p:tav>
                                      </p:tavLst>
                                    </p:anim>
                                  </p:childTnLst>
                                </p:cTn>
                              </p:par>
                            </p:childTnLst>
                          </p:cTn>
                        </p:par>
                        <p:par>
                          <p:cTn id="183" fill="hold">
                            <p:stCondLst>
                              <p:cond delay="0"/>
                            </p:stCondLst>
                            <p:childTnLst>
                              <p:par>
                                <p:cTn id="184" presetID="42" presetClass="entr" presetSubtype="0" fill="hold" grpId="0" nodeType="afterEffect">
                                  <p:stCondLst>
                                    <p:cond delay="0"/>
                                  </p:stCondLst>
                                  <p:childTnLst>
                                    <p:set>
                                      <p:cBhvr>
                                        <p:cTn id="185" dur="1" fill="hold">
                                          <p:stCondLst>
                                            <p:cond delay="0"/>
                                          </p:stCondLst>
                                        </p:cTn>
                                        <p:tgtEl>
                                          <p:spTgt spid="37"/>
                                        </p:tgtEl>
                                        <p:attrNameLst>
                                          <p:attrName>style.visibility</p:attrName>
                                        </p:attrNameLst>
                                      </p:cBhvr>
                                      <p:to>
                                        <p:strVal val="visible"/>
                                      </p:to>
                                    </p:set>
                                    <p:animEffect transition="in" filter="fade">
                                      <p:cBhvr>
                                        <p:cTn id="186" dur="600"/>
                                        <p:tgtEl>
                                          <p:spTgt spid="37"/>
                                        </p:tgtEl>
                                      </p:cBhvr>
                                    </p:animEffect>
                                    <p:anim calcmode="lin" valueType="num">
                                      <p:cBhvr>
                                        <p:cTn id="187" dur="600" decel="100000" fill="hold"/>
                                        <p:tgtEl>
                                          <p:spTgt spid="37"/>
                                        </p:tgtEl>
                                        <p:attrNameLst>
                                          <p:attrName>ppt_y</p:attrName>
                                        </p:attrNameLst>
                                      </p:cBhvr>
                                      <p:tavLst>
                                        <p:tav tm="0">
                                          <p:val>
                                            <p:strVal val="#ppt_y+0.04"/>
                                          </p:val>
                                        </p:tav>
                                        <p:tav tm="100000">
                                          <p:val>
                                            <p:strVal val="#ppt_y"/>
                                          </p:val>
                                        </p:tav>
                                      </p:tavLst>
                                    </p:anim>
                                  </p:childTnLst>
                                </p:cTn>
                              </p:par>
                            </p:childTnLst>
                          </p:cTn>
                        </p:par>
                        <p:par>
                          <p:cTn id="188" fill="hold">
                            <p:stCondLst>
                              <p:cond delay="0"/>
                            </p:stCondLst>
                            <p:childTnLst>
                              <p:par>
                                <p:cTn id="189" presetID="42" presetClass="entr" presetSubtype="0" fill="hold" grpId="0" nodeType="withEffect">
                                  <p:stCondLst>
                                    <p:cond delay="0"/>
                                  </p:stCondLst>
                                  <p:childTnLst>
                                    <p:set>
                                      <p:cBhvr>
                                        <p:cTn id="190" dur="1" fill="hold">
                                          <p:stCondLst>
                                            <p:cond delay="0"/>
                                          </p:stCondLst>
                                        </p:cTn>
                                        <p:tgtEl>
                                          <p:spTgt spid="38"/>
                                        </p:tgtEl>
                                        <p:attrNameLst>
                                          <p:attrName>style.visibility</p:attrName>
                                        </p:attrNameLst>
                                      </p:cBhvr>
                                      <p:to>
                                        <p:strVal val="visible"/>
                                      </p:to>
                                    </p:set>
                                    <p:animEffect transition="in" filter="fade">
                                      <p:cBhvr>
                                        <p:cTn id="191" dur="600"/>
                                        <p:tgtEl>
                                          <p:spTgt spid="38"/>
                                        </p:tgtEl>
                                      </p:cBhvr>
                                    </p:animEffect>
                                    <p:anim calcmode="lin" valueType="num">
                                      <p:cBhvr>
                                        <p:cTn id="192" dur="600" decel="100000" fill="hold"/>
                                        <p:tgtEl>
                                          <p:spTgt spid="38"/>
                                        </p:tgtEl>
                                        <p:attrNameLst>
                                          <p:attrName>ppt_y</p:attrName>
                                        </p:attrNameLst>
                                      </p:cBhvr>
                                      <p:tavLst>
                                        <p:tav tm="0">
                                          <p:val>
                                            <p:strVal val="#ppt_y+0.04"/>
                                          </p:val>
                                        </p:tav>
                                        <p:tav tm="100000">
                                          <p:val>
                                            <p:strVal val="#ppt_y"/>
                                          </p:val>
                                        </p:tav>
                                      </p:tavLst>
                                    </p:anim>
                                  </p:childTnLst>
                                </p:cTn>
                              </p:par>
                            </p:childTnLst>
                          </p:cTn>
                        </p:par>
                        <p:par>
                          <p:cTn id="193" fill="hold">
                            <p:stCondLst>
                              <p:cond delay="0"/>
                            </p:stCondLst>
                            <p:childTnLst>
                              <p:par>
                                <p:cTn id="194" presetID="42" presetClass="entr" presetSubtype="0" fill="hold" grpId="0" nodeType="withEffect">
                                  <p:stCondLst>
                                    <p:cond delay="0"/>
                                  </p:stCondLst>
                                  <p:childTnLst>
                                    <p:set>
                                      <p:cBhvr>
                                        <p:cTn id="195" dur="1" fill="hold">
                                          <p:stCondLst>
                                            <p:cond delay="0"/>
                                          </p:stCondLst>
                                        </p:cTn>
                                        <p:tgtEl>
                                          <p:spTgt spid="39"/>
                                        </p:tgtEl>
                                        <p:attrNameLst>
                                          <p:attrName>style.visibility</p:attrName>
                                        </p:attrNameLst>
                                      </p:cBhvr>
                                      <p:to>
                                        <p:strVal val="visible"/>
                                      </p:to>
                                    </p:set>
                                    <p:animEffect transition="in" filter="fade">
                                      <p:cBhvr>
                                        <p:cTn id="196" dur="600"/>
                                        <p:tgtEl>
                                          <p:spTgt spid="39"/>
                                        </p:tgtEl>
                                      </p:cBhvr>
                                    </p:animEffect>
                                    <p:anim calcmode="lin" valueType="num">
                                      <p:cBhvr>
                                        <p:cTn id="197" dur="600" decel="100000" fill="hold"/>
                                        <p:tgtEl>
                                          <p:spTgt spid="39"/>
                                        </p:tgtEl>
                                        <p:attrNameLst>
                                          <p:attrName>ppt_y</p:attrName>
                                        </p:attrNameLst>
                                      </p:cBhvr>
                                      <p:tavLst>
                                        <p:tav tm="0">
                                          <p:val>
                                            <p:strVal val="#ppt_y+0.04"/>
                                          </p:val>
                                        </p:tav>
                                        <p:tav tm="100000">
                                          <p:val>
                                            <p:strVal val="#ppt_y"/>
                                          </p:val>
                                        </p:tav>
                                      </p:tavLst>
                                    </p:anim>
                                  </p:childTnLst>
                                </p:cTn>
                              </p:par>
                            </p:childTnLst>
                          </p:cTn>
                        </p:par>
                        <p:par>
                          <p:cTn id="198" fill="hold">
                            <p:stCondLst>
                              <p:cond delay="0"/>
                            </p:stCondLst>
                            <p:childTnLst>
                              <p:par>
                                <p:cTn id="199" presetID="42" presetClass="entr" presetSubtype="0" fill="hold" grpId="0" nodeType="afterEffect">
                                  <p:stCondLst>
                                    <p:cond delay="0"/>
                                  </p:stCondLst>
                                  <p:childTnLst>
                                    <p:set>
                                      <p:cBhvr>
                                        <p:cTn id="200" dur="1" fill="hold">
                                          <p:stCondLst>
                                            <p:cond delay="0"/>
                                          </p:stCondLst>
                                        </p:cTn>
                                        <p:tgtEl>
                                          <p:spTgt spid="40"/>
                                        </p:tgtEl>
                                        <p:attrNameLst>
                                          <p:attrName>style.visibility</p:attrName>
                                        </p:attrNameLst>
                                      </p:cBhvr>
                                      <p:to>
                                        <p:strVal val="visible"/>
                                      </p:to>
                                    </p:set>
                                    <p:animEffect transition="in" filter="fade">
                                      <p:cBhvr>
                                        <p:cTn id="201" dur="600"/>
                                        <p:tgtEl>
                                          <p:spTgt spid="40"/>
                                        </p:tgtEl>
                                      </p:cBhvr>
                                    </p:animEffect>
                                    <p:anim calcmode="lin" valueType="num">
                                      <p:cBhvr>
                                        <p:cTn id="202" dur="600" decel="100000" fill="hold"/>
                                        <p:tgtEl>
                                          <p:spTgt spid="40"/>
                                        </p:tgtEl>
                                        <p:attrNameLst>
                                          <p:attrName>ppt_y</p:attrName>
                                        </p:attrNameLst>
                                      </p:cBhvr>
                                      <p:tavLst>
                                        <p:tav tm="0">
                                          <p:val>
                                            <p:strVal val="#ppt_y+0.04"/>
                                          </p:val>
                                        </p:tav>
                                        <p:tav tm="100000">
                                          <p:val>
                                            <p:strVal val="#ppt_y"/>
                                          </p:val>
                                        </p:tav>
                                      </p:tavLst>
                                    </p:anim>
                                  </p:childTnLst>
                                </p:cTn>
                              </p:par>
                            </p:childTnLst>
                          </p:cTn>
                        </p:par>
                        <p:par>
                          <p:cTn id="203" fill="hold">
                            <p:stCondLst>
                              <p:cond delay="0"/>
                            </p:stCondLst>
                            <p:childTnLst>
                              <p:par>
                                <p:cTn id="204" presetID="42" presetClass="entr" presetSubtype="0" fill="hold" grpId="0" nodeType="withEffect">
                                  <p:stCondLst>
                                    <p:cond delay="0"/>
                                  </p:stCondLst>
                                  <p:childTnLst>
                                    <p:set>
                                      <p:cBhvr>
                                        <p:cTn id="205" dur="1" fill="hold">
                                          <p:stCondLst>
                                            <p:cond delay="0"/>
                                          </p:stCondLst>
                                        </p:cTn>
                                        <p:tgtEl>
                                          <p:spTgt spid="41"/>
                                        </p:tgtEl>
                                        <p:attrNameLst>
                                          <p:attrName>style.visibility</p:attrName>
                                        </p:attrNameLst>
                                      </p:cBhvr>
                                      <p:to>
                                        <p:strVal val="visible"/>
                                      </p:to>
                                    </p:set>
                                    <p:animEffect transition="in" filter="fade">
                                      <p:cBhvr>
                                        <p:cTn id="206" dur="600"/>
                                        <p:tgtEl>
                                          <p:spTgt spid="41"/>
                                        </p:tgtEl>
                                      </p:cBhvr>
                                    </p:animEffect>
                                    <p:anim calcmode="lin" valueType="num">
                                      <p:cBhvr>
                                        <p:cTn id="207" dur="600" decel="100000" fill="hold"/>
                                        <p:tgtEl>
                                          <p:spTgt spid="41"/>
                                        </p:tgtEl>
                                        <p:attrNameLst>
                                          <p:attrName>ppt_y</p:attrName>
                                        </p:attrNameLst>
                                      </p:cBhvr>
                                      <p:tavLst>
                                        <p:tav tm="0">
                                          <p:val>
                                            <p:strVal val="#ppt_y+0.04"/>
                                          </p:val>
                                        </p:tav>
                                        <p:tav tm="100000">
                                          <p:val>
                                            <p:strVal val="#ppt_y"/>
                                          </p:val>
                                        </p:tav>
                                      </p:tavLst>
                                    </p:anim>
                                  </p:childTnLst>
                                </p:cTn>
                              </p:par>
                            </p:childTnLst>
                          </p:cTn>
                        </p:par>
                        <p:par>
                          <p:cTn id="208" fill="hold">
                            <p:stCondLst>
                              <p:cond delay="0"/>
                            </p:stCondLst>
                            <p:childTnLst>
                              <p:par>
                                <p:cTn id="209" presetID="42" presetClass="entr" presetSubtype="0" fill="hold" grpId="0" nodeType="withEffect">
                                  <p:stCondLst>
                                    <p:cond delay="0"/>
                                  </p:stCondLst>
                                  <p:childTnLst>
                                    <p:set>
                                      <p:cBhvr>
                                        <p:cTn id="210" dur="1" fill="hold">
                                          <p:stCondLst>
                                            <p:cond delay="0"/>
                                          </p:stCondLst>
                                        </p:cTn>
                                        <p:tgtEl>
                                          <p:spTgt spid="42"/>
                                        </p:tgtEl>
                                        <p:attrNameLst>
                                          <p:attrName>style.visibility</p:attrName>
                                        </p:attrNameLst>
                                      </p:cBhvr>
                                      <p:to>
                                        <p:strVal val="visible"/>
                                      </p:to>
                                    </p:set>
                                    <p:animEffect transition="in" filter="fade">
                                      <p:cBhvr>
                                        <p:cTn id="211" dur="600"/>
                                        <p:tgtEl>
                                          <p:spTgt spid="42"/>
                                        </p:tgtEl>
                                      </p:cBhvr>
                                    </p:animEffect>
                                    <p:anim calcmode="lin" valueType="num">
                                      <p:cBhvr>
                                        <p:cTn id="212" dur="600" decel="100000" fill="hold"/>
                                        <p:tgtEl>
                                          <p:spTgt spid="42"/>
                                        </p:tgtEl>
                                        <p:attrNameLst>
                                          <p:attrName>ppt_y</p:attrName>
                                        </p:attrNameLst>
                                      </p:cBhvr>
                                      <p:tavLst>
                                        <p:tav tm="0">
                                          <p:val>
                                            <p:strVal val="#ppt_y+0.04"/>
                                          </p:val>
                                        </p:tav>
                                        <p:tav tm="100000">
                                          <p:val>
                                            <p:strVal val="#ppt_y"/>
                                          </p:val>
                                        </p:tav>
                                      </p:tavLst>
                                    </p:anim>
                                  </p:childTnLst>
                                </p:cTn>
                              </p:par>
                            </p:childTnLst>
                          </p:cTn>
                        </p:par>
                        <p:par>
                          <p:cTn id="213" fill="hold">
                            <p:stCondLst>
                              <p:cond delay="0"/>
                            </p:stCondLst>
                            <p:childTnLst>
                              <p:par>
                                <p:cTn id="214" presetID="42" presetClass="entr" presetSubtype="0" fill="hold" grpId="0" nodeType="afterEffect">
                                  <p:stCondLst>
                                    <p:cond delay="0"/>
                                  </p:stCondLst>
                                  <p:childTnLst>
                                    <p:set>
                                      <p:cBhvr>
                                        <p:cTn id="215" dur="1" fill="hold">
                                          <p:stCondLst>
                                            <p:cond delay="0"/>
                                          </p:stCondLst>
                                        </p:cTn>
                                        <p:tgtEl>
                                          <p:spTgt spid="43"/>
                                        </p:tgtEl>
                                        <p:attrNameLst>
                                          <p:attrName>style.visibility</p:attrName>
                                        </p:attrNameLst>
                                      </p:cBhvr>
                                      <p:to>
                                        <p:strVal val="visible"/>
                                      </p:to>
                                    </p:set>
                                    <p:animEffect transition="in" filter="fade">
                                      <p:cBhvr>
                                        <p:cTn id="216" dur="600"/>
                                        <p:tgtEl>
                                          <p:spTgt spid="43"/>
                                        </p:tgtEl>
                                      </p:cBhvr>
                                    </p:animEffect>
                                    <p:anim calcmode="lin" valueType="num">
                                      <p:cBhvr>
                                        <p:cTn id="217" dur="600" decel="100000" fill="hold"/>
                                        <p:tgtEl>
                                          <p:spTgt spid="43"/>
                                        </p:tgtEl>
                                        <p:attrNameLst>
                                          <p:attrName>ppt_y</p:attrName>
                                        </p:attrNameLst>
                                      </p:cBhvr>
                                      <p:tavLst>
                                        <p:tav tm="0">
                                          <p:val>
                                            <p:strVal val="#ppt_y+0.04"/>
                                          </p:val>
                                        </p:tav>
                                        <p:tav tm="100000">
                                          <p:val>
                                            <p:strVal val="#ppt_y"/>
                                          </p:val>
                                        </p:tav>
                                      </p:tavLst>
                                    </p:anim>
                                  </p:childTnLst>
                                </p:cTn>
                              </p:par>
                            </p:childTnLst>
                          </p:cTn>
                        </p:par>
                        <p:par>
                          <p:cTn id="218" fill="hold">
                            <p:stCondLst>
                              <p:cond delay="0"/>
                            </p:stCondLst>
                            <p:childTnLst>
                              <p:par>
                                <p:cTn id="219" presetID="42" presetClass="entr" presetSubtype="0" fill="hold" grpId="0" nodeType="withEffect">
                                  <p:stCondLst>
                                    <p:cond delay="0"/>
                                  </p:stCondLst>
                                  <p:childTnLst>
                                    <p:set>
                                      <p:cBhvr>
                                        <p:cTn id="220" dur="1" fill="hold">
                                          <p:stCondLst>
                                            <p:cond delay="0"/>
                                          </p:stCondLst>
                                        </p:cTn>
                                        <p:tgtEl>
                                          <p:spTgt spid="44"/>
                                        </p:tgtEl>
                                        <p:attrNameLst>
                                          <p:attrName>style.visibility</p:attrName>
                                        </p:attrNameLst>
                                      </p:cBhvr>
                                      <p:to>
                                        <p:strVal val="visible"/>
                                      </p:to>
                                    </p:set>
                                    <p:animEffect transition="in" filter="fade">
                                      <p:cBhvr>
                                        <p:cTn id="221" dur="600"/>
                                        <p:tgtEl>
                                          <p:spTgt spid="44"/>
                                        </p:tgtEl>
                                      </p:cBhvr>
                                    </p:animEffect>
                                    <p:anim calcmode="lin" valueType="num">
                                      <p:cBhvr>
                                        <p:cTn id="222" dur="600" decel="100000" fill="hold"/>
                                        <p:tgtEl>
                                          <p:spTgt spid="44"/>
                                        </p:tgtEl>
                                        <p:attrNameLst>
                                          <p:attrName>ppt_y</p:attrName>
                                        </p:attrNameLst>
                                      </p:cBhvr>
                                      <p:tavLst>
                                        <p:tav tm="0">
                                          <p:val>
                                            <p:strVal val="#ppt_y+0.04"/>
                                          </p:val>
                                        </p:tav>
                                        <p:tav tm="100000">
                                          <p:val>
                                            <p:strVal val="#ppt_y"/>
                                          </p:val>
                                        </p:tav>
                                      </p:tavLst>
                                    </p:anim>
                                  </p:childTnLst>
                                </p:cTn>
                              </p:par>
                            </p:childTnLst>
                          </p:cTn>
                        </p:par>
                        <p:par>
                          <p:cTn id="223" fill="hold">
                            <p:stCondLst>
                              <p:cond delay="0"/>
                            </p:stCondLst>
                            <p:childTnLst>
                              <p:par>
                                <p:cTn id="224" presetID="42" presetClass="entr" presetSubtype="0" fill="hold" grpId="0" nodeType="withEffect">
                                  <p:stCondLst>
                                    <p:cond delay="0"/>
                                  </p:stCondLst>
                                  <p:childTnLst>
                                    <p:set>
                                      <p:cBhvr>
                                        <p:cTn id="225" dur="1" fill="hold">
                                          <p:stCondLst>
                                            <p:cond delay="0"/>
                                          </p:stCondLst>
                                        </p:cTn>
                                        <p:tgtEl>
                                          <p:spTgt spid="45"/>
                                        </p:tgtEl>
                                        <p:attrNameLst>
                                          <p:attrName>style.visibility</p:attrName>
                                        </p:attrNameLst>
                                      </p:cBhvr>
                                      <p:to>
                                        <p:strVal val="visible"/>
                                      </p:to>
                                    </p:set>
                                    <p:animEffect transition="in" filter="fade">
                                      <p:cBhvr>
                                        <p:cTn id="226" dur="600"/>
                                        <p:tgtEl>
                                          <p:spTgt spid="45"/>
                                        </p:tgtEl>
                                      </p:cBhvr>
                                    </p:animEffect>
                                    <p:anim calcmode="lin" valueType="num">
                                      <p:cBhvr>
                                        <p:cTn id="227" dur="600" decel="100000" fill="hold"/>
                                        <p:tgtEl>
                                          <p:spTgt spid="45"/>
                                        </p:tgtEl>
                                        <p:attrNameLst>
                                          <p:attrName>ppt_y</p:attrName>
                                        </p:attrNameLst>
                                      </p:cBhvr>
                                      <p:tavLst>
                                        <p:tav tm="0">
                                          <p:val>
                                            <p:strVal val="#ppt_y+0.04"/>
                                          </p:val>
                                        </p:tav>
                                        <p:tav tm="100000">
                                          <p:val>
                                            <p:strVal val="#ppt_y"/>
                                          </p:val>
                                        </p:tav>
                                      </p:tavLst>
                                    </p:anim>
                                  </p:childTnLst>
                                </p:cTn>
                              </p:par>
                            </p:childTnLst>
                          </p:cTn>
                        </p:par>
                        <p:par>
                          <p:cTn id="228" fill="hold">
                            <p:stCondLst>
                              <p:cond delay="0"/>
                            </p:stCondLst>
                            <p:childTnLst>
                              <p:par>
                                <p:cTn id="229" presetID="42" presetClass="entr" presetSubtype="0" fill="hold" grpId="0" nodeType="afterEffect">
                                  <p:stCondLst>
                                    <p:cond delay="0"/>
                                  </p:stCondLst>
                                  <p:childTnLst>
                                    <p:set>
                                      <p:cBhvr>
                                        <p:cTn id="230" dur="1" fill="hold">
                                          <p:stCondLst>
                                            <p:cond delay="0"/>
                                          </p:stCondLst>
                                        </p:cTn>
                                        <p:tgtEl>
                                          <p:spTgt spid="46"/>
                                        </p:tgtEl>
                                        <p:attrNameLst>
                                          <p:attrName>style.visibility</p:attrName>
                                        </p:attrNameLst>
                                      </p:cBhvr>
                                      <p:to>
                                        <p:strVal val="visible"/>
                                      </p:to>
                                    </p:set>
                                    <p:animEffect transition="in" filter="fade">
                                      <p:cBhvr>
                                        <p:cTn id="231" dur="600"/>
                                        <p:tgtEl>
                                          <p:spTgt spid="46"/>
                                        </p:tgtEl>
                                      </p:cBhvr>
                                    </p:animEffect>
                                    <p:anim calcmode="lin" valueType="num">
                                      <p:cBhvr>
                                        <p:cTn id="232" dur="600" decel="100000" fill="hold"/>
                                        <p:tgtEl>
                                          <p:spTgt spid="46"/>
                                        </p:tgtEl>
                                        <p:attrNameLst>
                                          <p:attrName>ppt_y</p:attrName>
                                        </p:attrNameLst>
                                      </p:cBhvr>
                                      <p:tavLst>
                                        <p:tav tm="0">
                                          <p:val>
                                            <p:strVal val="#ppt_y+0.04"/>
                                          </p:val>
                                        </p:tav>
                                        <p:tav tm="100000">
                                          <p:val>
                                            <p:strVal val="#ppt_y"/>
                                          </p:val>
                                        </p:tav>
                                      </p:tavLst>
                                    </p:anim>
                                  </p:childTnLst>
                                </p:cTn>
                              </p:par>
                            </p:childTnLst>
                          </p:cTn>
                        </p:par>
                        <p:par>
                          <p:cTn id="233" fill="hold">
                            <p:stCondLst>
                              <p:cond delay="0"/>
                            </p:stCondLst>
                            <p:childTnLst>
                              <p:par>
                                <p:cTn id="234" presetID="42" presetClass="entr" presetSubtype="0" fill="hold" grpId="0" nodeType="withEffect">
                                  <p:stCondLst>
                                    <p:cond delay="0"/>
                                  </p:stCondLst>
                                  <p:childTnLst>
                                    <p:set>
                                      <p:cBhvr>
                                        <p:cTn id="235" dur="1" fill="hold">
                                          <p:stCondLst>
                                            <p:cond delay="0"/>
                                          </p:stCondLst>
                                        </p:cTn>
                                        <p:tgtEl>
                                          <p:spTgt spid="47"/>
                                        </p:tgtEl>
                                        <p:attrNameLst>
                                          <p:attrName>style.visibility</p:attrName>
                                        </p:attrNameLst>
                                      </p:cBhvr>
                                      <p:to>
                                        <p:strVal val="visible"/>
                                      </p:to>
                                    </p:set>
                                    <p:animEffect transition="in" filter="fade">
                                      <p:cBhvr>
                                        <p:cTn id="236" dur="600"/>
                                        <p:tgtEl>
                                          <p:spTgt spid="47"/>
                                        </p:tgtEl>
                                      </p:cBhvr>
                                    </p:animEffect>
                                    <p:anim calcmode="lin" valueType="num">
                                      <p:cBhvr>
                                        <p:cTn id="237" dur="600" decel="100000" fill="hold"/>
                                        <p:tgtEl>
                                          <p:spTgt spid="47"/>
                                        </p:tgtEl>
                                        <p:attrNameLst>
                                          <p:attrName>ppt_y</p:attrName>
                                        </p:attrNameLst>
                                      </p:cBhvr>
                                      <p:tavLst>
                                        <p:tav tm="0">
                                          <p:val>
                                            <p:strVal val="#ppt_y+0.04"/>
                                          </p:val>
                                        </p:tav>
                                        <p:tav tm="100000">
                                          <p:val>
                                            <p:strVal val="#ppt_y"/>
                                          </p:val>
                                        </p:tav>
                                      </p:tavLst>
                                    </p:anim>
                                  </p:childTnLst>
                                </p:cTn>
                              </p:par>
                            </p:childTnLst>
                          </p:cTn>
                        </p:par>
                        <p:par>
                          <p:cTn id="238" fill="hold">
                            <p:stCondLst>
                              <p:cond delay="0"/>
                            </p:stCondLst>
                            <p:childTnLst>
                              <p:par>
                                <p:cTn id="239" presetID="42" presetClass="entr" presetSubtype="0" fill="hold" grpId="0" nodeType="withEffect">
                                  <p:stCondLst>
                                    <p:cond delay="0"/>
                                  </p:stCondLst>
                                  <p:childTnLst>
                                    <p:set>
                                      <p:cBhvr>
                                        <p:cTn id="240" dur="1" fill="hold">
                                          <p:stCondLst>
                                            <p:cond delay="0"/>
                                          </p:stCondLst>
                                        </p:cTn>
                                        <p:tgtEl>
                                          <p:spTgt spid="48"/>
                                        </p:tgtEl>
                                        <p:attrNameLst>
                                          <p:attrName>style.visibility</p:attrName>
                                        </p:attrNameLst>
                                      </p:cBhvr>
                                      <p:to>
                                        <p:strVal val="visible"/>
                                      </p:to>
                                    </p:set>
                                    <p:animEffect transition="in" filter="fade">
                                      <p:cBhvr>
                                        <p:cTn id="241" dur="600"/>
                                        <p:tgtEl>
                                          <p:spTgt spid="48"/>
                                        </p:tgtEl>
                                      </p:cBhvr>
                                    </p:animEffect>
                                    <p:anim calcmode="lin" valueType="num">
                                      <p:cBhvr>
                                        <p:cTn id="242" dur="600" decel="100000" fill="hold"/>
                                        <p:tgtEl>
                                          <p:spTgt spid="48"/>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0" grpId="0" animBg="1"/>
      <p:bldP spid="3" grpId="0" animBg="1"/>
      <p:bldP spid="4" grpId="0" animBg="1"/>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P spid="32" grpId="0" animBg="1"/>
      <p:bldP spid="34" grpId="0" animBg="1"/>
      <p:bldP spid="35" grpId="0" animBg="1"/>
      <p:bldP spid="36" grpId="0" animBg="1"/>
      <p:bldP spid="37" grpId="0" animBg="1"/>
      <p:bldP spid="39" grpId="0" animBg="1"/>
      <p:bldP spid="40" grpId="0" animBg="1"/>
      <p:bldP spid="42" grpId="0" animBg="1"/>
      <p:bldP spid="43" grpId="0" animBg="1"/>
      <p:bldP spid="45" grpId="0" animBg="1"/>
      <p:bldP spid="46" grpId="0" animBg="1"/>
      <p:bldP spid="48" grpId="0" animBg="1"/>
    </p:bldLst>
  </p:timing>
</p:sld>
</file>

<file path=ppt/theme/theme1.xml><?xml version="1.0" encoding="utf-8"?>
<a:theme xmlns:a="http://schemas.openxmlformats.org/drawingml/2006/main" name="NutriPill">
  <a:themeElements>
    <a:clrScheme name="NutriPill">
      <a:dk1>
        <a:srgbClr val="0B1F3A"/>
      </a:dk1>
      <a:lt1>
        <a:srgbClr val="FFFFFF"/>
      </a:lt1>
      <a:dk2>
        <a:srgbClr val="123A6B"/>
      </a:dk2>
      <a:lt2>
        <a:srgbClr val="EEF6F9"/>
      </a:lt2>
      <a:accent1>
        <a:srgbClr val="14C9A1"/>
      </a:accent1>
      <a:accent2>
        <a:srgbClr val="FF6B4A"/>
      </a:accent2>
      <a:accent3>
        <a:srgbClr val="2A6BD1"/>
      </a:accent3>
      <a:accent4>
        <a:srgbClr val="0FA888"/>
      </a:accent4>
      <a:accent5>
        <a:srgbClr val="8FA3B8"/>
      </a:accent5>
      <a:accent6>
        <a:srgbClr val="F4B740"/>
      </a:accent6>
      <a:hlink>
        <a:srgbClr val="2A6BD1"/>
      </a:hlink>
      <a:folHlink>
        <a:srgbClr val="123A6B"/>
      </a:folHlink>
    </a:clrScheme>
    <a:fontScheme name="NutriPill">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NutriPill HR slide</dc:title>
  <dc:subject>PptxGenJS Presentation</dc:subject>
  <dc:creator>Dani, Max, William, Miguel</dc:creator>
  <cp:lastModifiedBy>Dani, Max, William, Miguel</cp:lastModifiedBy>
  <cp:revision>1</cp:revision>
  <dcterms:created xsi:type="dcterms:W3CDTF">2026-10-26T23:01:29Z</dcterms:created>
  <dcterms:modified xsi:type="dcterms:W3CDTF">2026-10-26T23:01:29Z</dcterms:modified>
</cp:coreProperties>
</file>